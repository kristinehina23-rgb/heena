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开场：欢迎新生。今天不讲完美经历，只讲三次我真正走进现场的时刻。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告诉同学：这份分享来自真实现场，不是简历清单。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预告三张经历页：学术、志愿、文化交流。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世界汉学大会与博士生论坛让我看到，学术成长不是等准备完美才开始，而是在参会、交流和表达中逐渐形成。</a:t>
            </a:r>
          </a:p>
          <a:p/>
          <a:p>
            <a:r>
              <a:t>[Sources]</a:t>
            </a:r>
          </a:p>
          <a:p>
            <a:r>
              <a:t>- Personal conference photographs and official event-profile screenshot supplied by Heena Rathore.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志愿服务让我学会，在真实现场里观察需要、清楚沟通并承担责任。</a:t>
            </a:r>
          </a:p>
          <a:p/>
          <a:p>
            <a:r>
              <a:t>[Sources]</a:t>
            </a:r>
          </a:p>
          <a:p>
            <a:r>
              <a:t>- Personal original volunteer and teaching photographs supplied by Heena Rathore.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文化交流让我既能自信介绍巴基斯坦，也能更深入理解中国。真正的交流来自好奇、尊重和共同参与。</a:t>
            </a:r>
          </a:p>
          <a:p/>
          <a:p>
            <a:r>
              <a:t>[Sources]</a:t>
            </a:r>
          </a:p>
          <a:p>
            <a:r>
              <a:t>- Personal original SYSU International Culture Festival photographs supplied by Heena Rathore.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收束到新生可以立刻做的三件事，避免空泛鸡汤。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结束：欢迎提问。强调可靠、在场和互相理解。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1.jp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jpg"/><Relationship Id="rId4" Type="http://schemas.openxmlformats.org/officeDocument/2006/relationships/image" Target="../media/image7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jpg"/><Relationship Id="rId4" Type="http://schemas.openxmlformats.org/officeDocument/2006/relationships/image" Target="../media/image8.jp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" descr="g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遮罩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2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校徽" descr="emblem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01168"/>
            <a:ext cx="384048" cy="384048"/>
          </a:xfrm>
          <a:prstGeom prst="rect">
            <a:avLst/>
          </a:prstGeom>
        </p:spPr>
      </p:pic>
      <p:sp>
        <p:nvSpPr>
          <p:cNvPr id="5" name="校名"/>
          <p:cNvSpPr txBox="1"/>
          <p:nvPr/>
        </p:nvSpPr>
        <p:spPr>
          <a:xfrm>
            <a:off x="822960" y="1828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1E4"/>
                </a:solidFill>
                <a:latin typeface="Noto Serif CJK SC"/>
                <a:ea typeface="Noto Serif CJK SC"/>
                <a:cs typeface="Noto Serif CJK SC"/>
              </a:rPr>
              <a:t>中山大学</a:t>
            </a:r>
          </a:p>
        </p:txBody>
      </p:sp>
      <p:sp>
        <p:nvSpPr>
          <p:cNvPr id="6" name="校名英文"/>
          <p:cNvSpPr txBox="1"/>
          <p:nvPr/>
        </p:nvSpPr>
        <p:spPr>
          <a:xfrm>
            <a:off x="822960" y="402336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DCD6C6"/>
                </a:solidFill>
                <a:latin typeface="Microsoft YaHei"/>
                <a:ea typeface="Microsoft YaHei"/>
                <a:cs typeface="Microsoft YaHei"/>
              </a:rPr>
              <a:t>SUN YAT-SEN UNIVERSITY</a:t>
            </a:r>
          </a:p>
        </p:txBody>
      </p:sp>
      <p:sp>
        <p:nvSpPr>
          <p:cNvPr id="7" name="页眉"/>
          <p:cNvSpPr txBox="1"/>
          <p:nvPr/>
        </p:nvSpPr>
        <p:spPr>
          <a:xfrm>
            <a:off x="7498079" y="2560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中山大学 · 本科新生分享 · 2026</a:t>
            </a:r>
          </a:p>
        </p:txBody>
      </p:sp>
      <p:sp>
        <p:nvSpPr>
          <p:cNvPr id="8" name="校训"/>
          <p:cNvSpPr txBox="1"/>
          <p:nvPr/>
        </p:nvSpPr>
        <p:spPr>
          <a:xfrm>
            <a:off x="347472" y="6510528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CD6C6"/>
                </a:solidFill>
                <a:latin typeface="Microsoft YaHei"/>
                <a:ea typeface="Microsoft YaHei"/>
                <a:cs typeface="Microsoft YaHei"/>
              </a:rPr>
              <a:t>博学　审问　慎思　明辨　笃行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CD6C6"/>
                </a:solidFill>
                <a:latin typeface="Microsoft YaHei"/>
                <a:ea typeface="Microsoft YaHei"/>
                <a:cs typeface="Microsoft YaHei"/>
              </a:rPr>
              <a:t>01 / 08</a:t>
            </a:r>
          </a:p>
        </p:txBody>
      </p:sp>
      <p:sp>
        <p:nvSpPr>
          <p:cNvPr id="10" name="金线"/>
          <p:cNvSpPr/>
          <p:nvPr/>
        </p:nvSpPr>
        <p:spPr>
          <a:xfrm>
            <a:off x="548640" y="4343400"/>
            <a:ext cx="777240" cy="32004"/>
          </a:xfrm>
          <a:prstGeom prst="rect">
            <a:avLst/>
          </a:prstGeom>
          <a:solidFill>
            <a:srgbClr val="D29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标题 1"/>
          <p:cNvSpPr txBox="1"/>
          <p:nvPr/>
        </p:nvSpPr>
        <p:spPr>
          <a:xfrm>
            <a:off x="502920" y="448056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6F1E4"/>
                </a:solidFill>
                <a:latin typeface="Noto Serif CJK SC"/>
                <a:ea typeface="Noto Serif CJK SC"/>
                <a:cs typeface="Noto Serif CJK SC"/>
              </a:rPr>
              <a:t>先去现场，才知道自己能走多远</a:t>
            </a:r>
          </a:p>
        </p:txBody>
      </p:sp>
      <p:sp>
        <p:nvSpPr>
          <p:cNvPr id="12" name="副标题"/>
          <p:cNvSpPr txBox="1"/>
          <p:nvPr/>
        </p:nvSpPr>
        <p:spPr>
          <a:xfrm>
            <a:off x="502920" y="5715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学术、志愿、文化：我走过的三条路</a:t>
            </a:r>
          </a:p>
        </p:txBody>
      </p:sp>
      <p:sp>
        <p:nvSpPr>
          <p:cNvPr id="13" name="讲者"/>
          <p:cNvSpPr txBox="1"/>
          <p:nvPr/>
        </p:nvSpPr>
        <p:spPr>
          <a:xfrm>
            <a:off x="502920" y="60807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6F1E4"/>
                </a:solidFill>
                <a:latin typeface="Microsoft YaHei"/>
                <a:ea typeface="Microsoft YaHei"/>
                <a:cs typeface="Microsoft YaHei"/>
              </a:rPr>
              <a:t>喜娜 Heena Rathore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底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校徽" descr="emblem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384048" cy="384048"/>
          </a:xfrm>
          <a:prstGeom prst="rect">
            <a:avLst/>
          </a:prstGeom>
        </p:spPr>
      </p:pic>
      <p:sp>
        <p:nvSpPr>
          <p:cNvPr id="4" name="校名"/>
          <p:cNvSpPr txBox="1"/>
          <p:nvPr/>
        </p:nvSpPr>
        <p:spPr>
          <a:xfrm>
            <a:off x="822960" y="1828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中山大学</a:t>
            </a:r>
          </a:p>
        </p:txBody>
      </p:sp>
      <p:sp>
        <p:nvSpPr>
          <p:cNvPr id="5" name="校名英文"/>
          <p:cNvSpPr txBox="1"/>
          <p:nvPr/>
        </p:nvSpPr>
        <p:spPr>
          <a:xfrm>
            <a:off x="822960" y="402336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SUN YAT-SEN UNIVERSITY</a:t>
            </a:r>
          </a:p>
        </p:txBody>
      </p:sp>
      <p:sp>
        <p:nvSpPr>
          <p:cNvPr id="6" name="页眉"/>
          <p:cNvSpPr txBox="1"/>
          <p:nvPr/>
        </p:nvSpPr>
        <p:spPr>
          <a:xfrm>
            <a:off x="7498079" y="2560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7" name="校训"/>
          <p:cNvSpPr txBox="1"/>
          <p:nvPr/>
        </p:nvSpPr>
        <p:spPr>
          <a:xfrm>
            <a:off x="347472" y="6510528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博学　审问　慎思　明辨　笃行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9" name="标题 1"/>
          <p:cNvSpPr txBox="1"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第一次不必像专家</a:t>
            </a:r>
          </a:p>
        </p:txBody>
      </p:sp>
      <p:sp>
        <p:nvSpPr>
          <p:cNvPr id="10" name="导语"/>
          <p:cNvSpPr txBox="1"/>
          <p:nvPr/>
        </p:nvSpPr>
        <p:spPr>
          <a:xfrm>
            <a:off x="548640" y="192024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21F1B"/>
                </a:solidFill>
                <a:latin typeface="Microsoft YaHei"/>
                <a:ea typeface="Microsoft YaHei"/>
                <a:cs typeface="Microsoft YaHei"/>
              </a:rPr>
              <a:t>参会、做志愿、介绍自己的文化，看起来是三件不同的事。对我来说，它们是同一件事：先走进现场，再慢慢找到自己的声音。</a:t>
            </a:r>
          </a:p>
        </p:txBody>
      </p:sp>
      <p:sp>
        <p:nvSpPr>
          <p:cNvPr id="11" name="要点底1"/>
          <p:cNvSpPr/>
          <p:nvPr/>
        </p:nvSpPr>
        <p:spPr>
          <a:xfrm>
            <a:off x="548640" y="3520440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要点金1"/>
          <p:cNvSpPr/>
          <p:nvPr/>
        </p:nvSpPr>
        <p:spPr>
          <a:xfrm>
            <a:off x="548640" y="3520440"/>
            <a:ext cx="64008" cy="2331720"/>
          </a:xfrm>
          <a:prstGeom prst="rect">
            <a:avLst/>
          </a:prstGeom>
          <a:solidFill>
            <a:srgbClr val="D29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要点号1"/>
          <p:cNvSpPr txBox="1"/>
          <p:nvPr/>
        </p:nvSpPr>
        <p:spPr>
          <a:xfrm>
            <a:off x="777240" y="3703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要点1"/>
          <p:cNvSpPr txBox="1"/>
          <p:nvPr/>
        </p:nvSpPr>
        <p:spPr>
          <a:xfrm>
            <a:off x="777240" y="411480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21F1B"/>
                </a:solidFill>
                <a:latin typeface="Microsoft YaHei"/>
                <a:ea typeface="Microsoft YaHei"/>
                <a:cs typeface="Microsoft YaHei"/>
              </a:rPr>
              <a:t>先观察，再提问</a:t>
            </a:r>
          </a:p>
        </p:txBody>
      </p:sp>
      <p:sp>
        <p:nvSpPr>
          <p:cNvPr id="15" name="要点底2"/>
          <p:cNvSpPr/>
          <p:nvPr/>
        </p:nvSpPr>
        <p:spPr>
          <a:xfrm>
            <a:off x="4389120" y="3520440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要点金2"/>
          <p:cNvSpPr/>
          <p:nvPr/>
        </p:nvSpPr>
        <p:spPr>
          <a:xfrm>
            <a:off x="4389120" y="3520440"/>
            <a:ext cx="64008" cy="2331720"/>
          </a:xfrm>
          <a:prstGeom prst="rect">
            <a:avLst/>
          </a:prstGeom>
          <a:solidFill>
            <a:srgbClr val="D29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要点号2"/>
          <p:cNvSpPr txBox="1"/>
          <p:nvPr/>
        </p:nvSpPr>
        <p:spPr>
          <a:xfrm>
            <a:off x="4617720" y="3703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要点2"/>
          <p:cNvSpPr txBox="1"/>
          <p:nvPr/>
        </p:nvSpPr>
        <p:spPr>
          <a:xfrm>
            <a:off x="4617720" y="411480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21F1B"/>
                </a:solidFill>
                <a:latin typeface="Microsoft YaHei"/>
                <a:ea typeface="Microsoft YaHei"/>
                <a:cs typeface="Microsoft YaHei"/>
              </a:rPr>
              <a:t>先帮忙，再被看见</a:t>
            </a:r>
          </a:p>
        </p:txBody>
      </p:sp>
      <p:sp>
        <p:nvSpPr>
          <p:cNvPr id="19" name="要点底3"/>
          <p:cNvSpPr/>
          <p:nvPr/>
        </p:nvSpPr>
        <p:spPr>
          <a:xfrm>
            <a:off x="8229600" y="3520440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要点金3"/>
          <p:cNvSpPr/>
          <p:nvPr/>
        </p:nvSpPr>
        <p:spPr>
          <a:xfrm>
            <a:off x="8229600" y="3520440"/>
            <a:ext cx="64008" cy="2331720"/>
          </a:xfrm>
          <a:prstGeom prst="rect">
            <a:avLst/>
          </a:prstGeom>
          <a:solidFill>
            <a:srgbClr val="D29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要点号3"/>
          <p:cNvSpPr txBox="1"/>
          <p:nvPr/>
        </p:nvSpPr>
        <p:spPr>
          <a:xfrm>
            <a:off x="8458200" y="3703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要点3"/>
          <p:cNvSpPr txBox="1"/>
          <p:nvPr/>
        </p:nvSpPr>
        <p:spPr>
          <a:xfrm>
            <a:off x="8458200" y="411480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21F1B"/>
                </a:solidFill>
                <a:latin typeface="Microsoft YaHei"/>
                <a:ea typeface="Microsoft YaHei"/>
                <a:cs typeface="Microsoft YaHei"/>
              </a:rPr>
              <a:t>先介绍自己，也认真理解别人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底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校徽" descr="emblem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384048" cy="384048"/>
          </a:xfrm>
          <a:prstGeom prst="rect">
            <a:avLst/>
          </a:prstGeom>
        </p:spPr>
      </p:pic>
      <p:sp>
        <p:nvSpPr>
          <p:cNvPr id="4" name="校名"/>
          <p:cNvSpPr txBox="1"/>
          <p:nvPr/>
        </p:nvSpPr>
        <p:spPr>
          <a:xfrm>
            <a:off x="822960" y="1828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中山大学</a:t>
            </a:r>
          </a:p>
        </p:txBody>
      </p:sp>
      <p:sp>
        <p:nvSpPr>
          <p:cNvPr id="5" name="校名英文"/>
          <p:cNvSpPr txBox="1"/>
          <p:nvPr/>
        </p:nvSpPr>
        <p:spPr>
          <a:xfrm>
            <a:off x="822960" y="402336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SUN YAT-SEN UNIVERSITY</a:t>
            </a:r>
          </a:p>
        </p:txBody>
      </p:sp>
      <p:sp>
        <p:nvSpPr>
          <p:cNvPr id="6" name="页眉"/>
          <p:cNvSpPr txBox="1"/>
          <p:nvPr/>
        </p:nvSpPr>
        <p:spPr>
          <a:xfrm>
            <a:off x="7498079" y="2560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rPr>
              <a:t>今天的路线</a:t>
            </a:r>
          </a:p>
        </p:txBody>
      </p:sp>
      <p:sp>
        <p:nvSpPr>
          <p:cNvPr id="7" name="校训"/>
          <p:cNvSpPr txBox="1"/>
          <p:nvPr/>
        </p:nvSpPr>
        <p:spPr>
          <a:xfrm>
            <a:off x="347472" y="6510528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博学　审问　慎思　明辨　笃行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03 / 08</a:t>
            </a:r>
          </a:p>
        </p:txBody>
      </p:sp>
      <p:sp>
        <p:nvSpPr>
          <p:cNvPr id="9" name="标题 1"/>
          <p:cNvSpPr txBox="1"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三条现场，一个习惯</a:t>
            </a:r>
          </a:p>
        </p:txBody>
      </p:sp>
      <p:pic>
        <p:nvPicPr>
          <p:cNvPr id="10" name="路线图1" descr="libra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20240"/>
            <a:ext cx="3703320" cy="4297680"/>
          </a:xfrm>
          <a:prstGeom prst="rect">
            <a:avLst/>
          </a:prstGeom>
        </p:spPr>
      </p:pic>
      <p:sp>
        <p:nvSpPr>
          <p:cNvPr id="11" name="路线遮罩1"/>
          <p:cNvSpPr/>
          <p:nvPr/>
        </p:nvSpPr>
        <p:spPr>
          <a:xfrm>
            <a:off x="502920" y="4937760"/>
            <a:ext cx="3703320" cy="1280160"/>
          </a:xfrm>
          <a:prstGeom prst="rect">
            <a:avLst/>
          </a:prstGeom>
          <a:solidFill>
            <a:srgbClr val="002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路线号1"/>
          <p:cNvSpPr txBox="1"/>
          <p:nvPr/>
        </p:nvSpPr>
        <p:spPr>
          <a:xfrm>
            <a:off x="685800" y="502920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路线标题1"/>
          <p:cNvSpPr txBox="1"/>
          <p:nvPr/>
        </p:nvSpPr>
        <p:spPr>
          <a:xfrm>
            <a:off x="685800" y="53035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6F1E4"/>
                </a:solidFill>
                <a:latin typeface="Noto Serif CJK SC"/>
                <a:ea typeface="Noto Serif CJK SC"/>
                <a:cs typeface="Noto Serif CJK SC"/>
              </a:rPr>
              <a:t>学术现场</a:t>
            </a:r>
          </a:p>
        </p:txBody>
      </p:sp>
      <p:sp>
        <p:nvSpPr>
          <p:cNvPr id="14" name="路线说明1"/>
          <p:cNvSpPr txBox="1"/>
          <p:nvPr/>
        </p:nvSpPr>
        <p:spPr>
          <a:xfrm>
            <a:off x="685800" y="57150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6F1E4"/>
                </a:solidFill>
                <a:latin typeface="Microsoft YaHei"/>
                <a:ea typeface="Microsoft YaHei"/>
                <a:cs typeface="Microsoft YaHei"/>
              </a:rPr>
              <a:t>会场、讲台和论文</a:t>
            </a:r>
          </a:p>
        </p:txBody>
      </p:sp>
      <p:pic>
        <p:nvPicPr>
          <p:cNvPr id="15" name="路线图2" descr="gat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920240"/>
            <a:ext cx="3703320" cy="4297680"/>
          </a:xfrm>
          <a:prstGeom prst="rect">
            <a:avLst/>
          </a:prstGeom>
        </p:spPr>
      </p:pic>
      <p:sp>
        <p:nvSpPr>
          <p:cNvPr id="16" name="路线遮罩2"/>
          <p:cNvSpPr/>
          <p:nvPr/>
        </p:nvSpPr>
        <p:spPr>
          <a:xfrm>
            <a:off x="4389120" y="4937760"/>
            <a:ext cx="3703320" cy="1280160"/>
          </a:xfrm>
          <a:prstGeom prst="rect">
            <a:avLst/>
          </a:prstGeom>
          <a:solidFill>
            <a:srgbClr val="002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路线号2"/>
          <p:cNvSpPr txBox="1"/>
          <p:nvPr/>
        </p:nvSpPr>
        <p:spPr>
          <a:xfrm>
            <a:off x="4572000" y="502920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路线标题2"/>
          <p:cNvSpPr txBox="1"/>
          <p:nvPr/>
        </p:nvSpPr>
        <p:spPr>
          <a:xfrm>
            <a:off x="4572000" y="53035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6F1E4"/>
                </a:solidFill>
                <a:latin typeface="Noto Serif CJK SC"/>
                <a:ea typeface="Noto Serif CJK SC"/>
                <a:cs typeface="Noto Serif CJK SC"/>
              </a:rPr>
              <a:t>志愿现场</a:t>
            </a:r>
          </a:p>
        </p:txBody>
      </p:sp>
      <p:sp>
        <p:nvSpPr>
          <p:cNvPr id="19" name="路线说明2"/>
          <p:cNvSpPr txBox="1"/>
          <p:nvPr/>
        </p:nvSpPr>
        <p:spPr>
          <a:xfrm>
            <a:off x="4572000" y="57150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6F1E4"/>
                </a:solidFill>
                <a:latin typeface="Microsoft YaHei"/>
                <a:ea typeface="Microsoft YaHei"/>
                <a:cs typeface="Microsoft YaHei"/>
              </a:rPr>
              <a:t>在现场解决问题</a:t>
            </a:r>
          </a:p>
        </p:txBody>
      </p:sp>
      <p:pic>
        <p:nvPicPr>
          <p:cNvPr id="20" name="路线图3" descr="blossom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920240"/>
            <a:ext cx="3703320" cy="4297680"/>
          </a:xfrm>
          <a:prstGeom prst="rect">
            <a:avLst/>
          </a:prstGeom>
        </p:spPr>
      </p:pic>
      <p:sp>
        <p:nvSpPr>
          <p:cNvPr id="21" name="路线遮罩3"/>
          <p:cNvSpPr/>
          <p:nvPr/>
        </p:nvSpPr>
        <p:spPr>
          <a:xfrm>
            <a:off x="8275320" y="4937760"/>
            <a:ext cx="3703320" cy="1280160"/>
          </a:xfrm>
          <a:prstGeom prst="rect">
            <a:avLst/>
          </a:prstGeom>
          <a:solidFill>
            <a:srgbClr val="002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路线号3"/>
          <p:cNvSpPr txBox="1"/>
          <p:nvPr/>
        </p:nvSpPr>
        <p:spPr>
          <a:xfrm>
            <a:off x="8458200" y="502920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路线标题3"/>
          <p:cNvSpPr txBox="1"/>
          <p:nvPr/>
        </p:nvSpPr>
        <p:spPr>
          <a:xfrm>
            <a:off x="8458200" y="53035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6F1E4"/>
                </a:solidFill>
                <a:latin typeface="Noto Serif CJK SC"/>
                <a:ea typeface="Noto Serif CJK SC"/>
                <a:cs typeface="Noto Serif CJK SC"/>
              </a:rPr>
              <a:t>文化现场</a:t>
            </a:r>
          </a:p>
        </p:txBody>
      </p:sp>
      <p:sp>
        <p:nvSpPr>
          <p:cNvPr id="24" name="路线说明3"/>
          <p:cNvSpPr txBox="1"/>
          <p:nvPr/>
        </p:nvSpPr>
        <p:spPr>
          <a:xfrm>
            <a:off x="8458200" y="57150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6F1E4"/>
                </a:solidFill>
                <a:latin typeface="Microsoft YaHei"/>
                <a:ea typeface="Microsoft YaHei"/>
                <a:cs typeface="Microsoft YaHei"/>
              </a:rPr>
              <a:t>展示自己，连接彼此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底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校徽" descr="emblem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384048" cy="384048"/>
          </a:xfrm>
          <a:prstGeom prst="rect">
            <a:avLst/>
          </a:prstGeom>
        </p:spPr>
      </p:pic>
      <p:sp>
        <p:nvSpPr>
          <p:cNvPr id="4" name="校名"/>
          <p:cNvSpPr txBox="1"/>
          <p:nvPr/>
        </p:nvSpPr>
        <p:spPr>
          <a:xfrm>
            <a:off x="822960" y="1828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中山大学</a:t>
            </a:r>
          </a:p>
        </p:txBody>
      </p:sp>
      <p:sp>
        <p:nvSpPr>
          <p:cNvPr id="5" name="校名英文"/>
          <p:cNvSpPr txBox="1"/>
          <p:nvPr/>
        </p:nvSpPr>
        <p:spPr>
          <a:xfrm>
            <a:off x="822960" y="402336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SUN YAT-SEN UNIVERSITY</a:t>
            </a:r>
          </a:p>
        </p:txBody>
      </p:sp>
      <p:sp>
        <p:nvSpPr>
          <p:cNvPr id="6" name="页眉"/>
          <p:cNvSpPr txBox="1"/>
          <p:nvPr/>
        </p:nvSpPr>
        <p:spPr>
          <a:xfrm>
            <a:off x="7498079" y="2560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rPr>
              <a:t>本科新生分享 · 2026</a:t>
            </a:r>
          </a:p>
        </p:txBody>
      </p:sp>
      <p:sp>
        <p:nvSpPr>
          <p:cNvPr id="7" name="校训"/>
          <p:cNvSpPr txBox="1"/>
          <p:nvPr/>
        </p:nvSpPr>
        <p:spPr>
          <a:xfrm>
            <a:off x="347472" y="6510528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博学　审问　慎思　明辨　笃行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9" name="标题 1"/>
          <p:cNvSpPr txBox="1"/>
          <p:nvPr/>
        </p:nvSpPr>
        <p:spPr>
          <a:xfrm>
            <a:off x="365760" y="822960"/>
            <a:ext cx="5303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会场、讲台和论文：学术能力靠练习</a:t>
            </a:r>
          </a:p>
        </p:txBody>
      </p:sp>
      <p:sp>
        <p:nvSpPr>
          <p:cNvPr id="10" name="文本框 25"/>
          <p:cNvSpPr txBox="1"/>
          <p:nvPr/>
        </p:nvSpPr>
        <p:spPr>
          <a:xfrm>
            <a:off x="365760" y="19202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rPr>
              <a:t>把兴趣变成学术行动</a:t>
            </a:r>
          </a:p>
        </p:txBody>
      </p:sp>
      <p:sp>
        <p:nvSpPr>
          <p:cNvPr id="11" name="统计1底"/>
          <p:cNvSpPr/>
          <p:nvPr/>
        </p:nvSpPr>
        <p:spPr>
          <a:xfrm>
            <a:off x="365760" y="2331720"/>
            <a:ext cx="24688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统计2底"/>
          <p:cNvSpPr/>
          <p:nvPr/>
        </p:nvSpPr>
        <p:spPr>
          <a:xfrm>
            <a:off x="2971800" y="2331720"/>
            <a:ext cx="24688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本框 7"/>
          <p:cNvSpPr txBox="1"/>
          <p:nvPr/>
        </p:nvSpPr>
        <p:spPr>
          <a:xfrm>
            <a:off x="502920" y="235915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2</a:t>
            </a:r>
          </a:p>
        </p:txBody>
      </p:sp>
      <p:sp>
        <p:nvSpPr>
          <p:cNvPr id="14" name="文本框 10"/>
          <p:cNvSpPr txBox="1"/>
          <p:nvPr/>
        </p:nvSpPr>
        <p:spPr>
          <a:xfrm>
            <a:off x="502920" y="288036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个学术现场</a:t>
            </a:r>
          </a:p>
        </p:txBody>
      </p:sp>
      <p:sp>
        <p:nvSpPr>
          <p:cNvPr id="15" name="文本框 12"/>
          <p:cNvSpPr txBox="1"/>
          <p:nvPr/>
        </p:nvSpPr>
        <p:spPr>
          <a:xfrm>
            <a:off x="3108960" y="235915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N</a:t>
            </a:r>
          </a:p>
        </p:txBody>
      </p:sp>
      <p:sp>
        <p:nvSpPr>
          <p:cNvPr id="16" name="文本框 13"/>
          <p:cNvSpPr txBox="1"/>
          <p:nvPr/>
        </p:nvSpPr>
        <p:spPr>
          <a:xfrm>
            <a:off x="3108960" y="288036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次表达练习</a:t>
            </a:r>
          </a:p>
        </p:txBody>
      </p:sp>
      <p:sp>
        <p:nvSpPr>
          <p:cNvPr id="17" name="引言底"/>
          <p:cNvSpPr/>
          <p:nvPr/>
        </p:nvSpPr>
        <p:spPr>
          <a:xfrm>
            <a:off x="365760" y="3474720"/>
            <a:ext cx="5074920" cy="260604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文本框 22"/>
          <p:cNvSpPr txBox="1"/>
          <p:nvPr/>
        </p:nvSpPr>
        <p:spPr>
          <a:xfrm>
            <a:off x="548640" y="3657600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6F1E4"/>
                </a:solidFill>
                <a:latin typeface="Noto Serif CJK SC"/>
                <a:ea typeface="Noto Serif CJK SC"/>
                <a:cs typeface="Noto Serif CJK SC"/>
              </a:rPr>
              <a:t>先去现场，才知道自己能走多远</a:t>
            </a:r>
          </a:p>
        </p:txBody>
      </p:sp>
      <p:sp>
        <p:nvSpPr>
          <p:cNvPr id="19" name="文本框 21"/>
          <p:cNvSpPr txBox="1"/>
          <p:nvPr/>
        </p:nvSpPr>
        <p:spPr>
          <a:xfrm>
            <a:off x="548640" y="4480560"/>
            <a:ext cx="47548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6F1E4"/>
                </a:solidFill>
                <a:latin typeface="Microsoft YaHei"/>
                <a:ea typeface="Microsoft YaHei"/>
                <a:cs typeface="Microsoft YaHei"/>
              </a:rPr>
              <a:t>参会 → 观察 → 提问 → 表达。第一次不必像专家；先走进学术现场，再慢慢找到自己的研究声音。</a:t>
            </a:r>
          </a:p>
        </p:txBody>
      </p:sp>
      <p:pic>
        <p:nvPicPr>
          <p:cNvPr id="20" name="图片 29" descr="libra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777240"/>
            <a:ext cx="3063240" cy="5440680"/>
          </a:xfrm>
          <a:prstGeom prst="rect">
            <a:avLst/>
          </a:prstGeom>
        </p:spPr>
      </p:pic>
      <p:pic>
        <p:nvPicPr>
          <p:cNvPr id="21" name="图片 23" descr="clocktow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777240"/>
            <a:ext cx="2971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底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校徽" descr="emblem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384048" cy="384048"/>
          </a:xfrm>
          <a:prstGeom prst="rect">
            <a:avLst/>
          </a:prstGeom>
        </p:spPr>
      </p:pic>
      <p:sp>
        <p:nvSpPr>
          <p:cNvPr id="4" name="校名"/>
          <p:cNvSpPr txBox="1"/>
          <p:nvPr/>
        </p:nvSpPr>
        <p:spPr>
          <a:xfrm>
            <a:off x="822960" y="1828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中山大学</a:t>
            </a:r>
          </a:p>
        </p:txBody>
      </p:sp>
      <p:sp>
        <p:nvSpPr>
          <p:cNvPr id="5" name="校名英文"/>
          <p:cNvSpPr txBox="1"/>
          <p:nvPr/>
        </p:nvSpPr>
        <p:spPr>
          <a:xfrm>
            <a:off x="822960" y="402336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SUN YAT-SEN UNIVERSITY</a:t>
            </a:r>
          </a:p>
        </p:txBody>
      </p:sp>
      <p:sp>
        <p:nvSpPr>
          <p:cNvPr id="6" name="页眉"/>
          <p:cNvSpPr txBox="1"/>
          <p:nvPr/>
        </p:nvSpPr>
        <p:spPr>
          <a:xfrm>
            <a:off x="7498079" y="2560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rPr>
              <a:t>本科新生分享 · 2026</a:t>
            </a:r>
          </a:p>
        </p:txBody>
      </p:sp>
      <p:sp>
        <p:nvSpPr>
          <p:cNvPr id="7" name="校训"/>
          <p:cNvSpPr txBox="1"/>
          <p:nvPr/>
        </p:nvSpPr>
        <p:spPr>
          <a:xfrm>
            <a:off x="347472" y="6510528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博学　审问　慎思　明辨　笃行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9" name="标题 1"/>
          <p:cNvSpPr txBox="1"/>
          <p:nvPr/>
        </p:nvSpPr>
        <p:spPr>
          <a:xfrm>
            <a:off x="365760" y="822960"/>
            <a:ext cx="5303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志愿不是简历装饰：是在现场解决问题</a:t>
            </a:r>
          </a:p>
        </p:txBody>
      </p:sp>
      <p:sp>
        <p:nvSpPr>
          <p:cNvPr id="10" name="文本框 25"/>
          <p:cNvSpPr txBox="1"/>
          <p:nvPr/>
        </p:nvSpPr>
        <p:spPr>
          <a:xfrm>
            <a:off x="365760" y="19202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rPr>
              <a:t>把“我愿意”变成行动</a:t>
            </a:r>
          </a:p>
        </p:txBody>
      </p:sp>
      <p:sp>
        <p:nvSpPr>
          <p:cNvPr id="11" name="统计1底"/>
          <p:cNvSpPr/>
          <p:nvPr/>
        </p:nvSpPr>
        <p:spPr>
          <a:xfrm>
            <a:off x="365760" y="2331720"/>
            <a:ext cx="24688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统计2底"/>
          <p:cNvSpPr/>
          <p:nvPr/>
        </p:nvSpPr>
        <p:spPr>
          <a:xfrm>
            <a:off x="2971800" y="2331720"/>
            <a:ext cx="24688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本框 7"/>
          <p:cNvSpPr txBox="1"/>
          <p:nvPr/>
        </p:nvSpPr>
        <p:spPr>
          <a:xfrm>
            <a:off x="502920" y="235915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2</a:t>
            </a:r>
          </a:p>
        </p:txBody>
      </p:sp>
      <p:sp>
        <p:nvSpPr>
          <p:cNvPr id="14" name="文本框 10"/>
          <p:cNvSpPr txBox="1"/>
          <p:nvPr/>
        </p:nvSpPr>
        <p:spPr>
          <a:xfrm>
            <a:off x="502920" y="288036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类志愿服务</a:t>
            </a:r>
          </a:p>
        </p:txBody>
      </p:sp>
      <p:sp>
        <p:nvSpPr>
          <p:cNvPr id="15" name="文本框 12"/>
          <p:cNvSpPr txBox="1"/>
          <p:nvPr/>
        </p:nvSpPr>
        <p:spPr>
          <a:xfrm>
            <a:off x="3108960" y="235915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1</a:t>
            </a:r>
          </a:p>
        </p:txBody>
      </p:sp>
      <p:sp>
        <p:nvSpPr>
          <p:cNvPr id="16" name="文本框 13"/>
          <p:cNvSpPr txBox="1"/>
          <p:nvPr/>
        </p:nvSpPr>
        <p:spPr>
          <a:xfrm>
            <a:off x="3108960" y="288036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个共同目标</a:t>
            </a:r>
          </a:p>
        </p:txBody>
      </p:sp>
      <p:sp>
        <p:nvSpPr>
          <p:cNvPr id="17" name="引言底"/>
          <p:cNvSpPr/>
          <p:nvPr/>
        </p:nvSpPr>
        <p:spPr>
          <a:xfrm>
            <a:off x="365760" y="3474720"/>
            <a:ext cx="5074920" cy="260604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文本框 22"/>
          <p:cNvSpPr txBox="1"/>
          <p:nvPr/>
        </p:nvSpPr>
        <p:spPr>
          <a:xfrm>
            <a:off x="548640" y="3657600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6F1E4"/>
                </a:solidFill>
                <a:latin typeface="Noto Serif CJK SC"/>
                <a:ea typeface="Noto Serif CJK SC"/>
                <a:cs typeface="Noto Serif CJK SC"/>
              </a:rPr>
              <a:t>帮助别人，也训练自己</a:t>
            </a:r>
          </a:p>
        </p:txBody>
      </p:sp>
      <p:sp>
        <p:nvSpPr>
          <p:cNvPr id="19" name="文本框 21"/>
          <p:cNvSpPr txBox="1"/>
          <p:nvPr/>
        </p:nvSpPr>
        <p:spPr>
          <a:xfrm>
            <a:off x="548640" y="4480560"/>
            <a:ext cx="47548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6F1E4"/>
                </a:solidFill>
                <a:latin typeface="Microsoft YaHei"/>
                <a:ea typeface="Microsoft YaHei"/>
                <a:cs typeface="Microsoft YaHei"/>
              </a:rPr>
              <a:t>地铁引导、儿童英语活动，看起来是小事，却训练沟通、耐心和责任感。可靠，是最容易被低估的能力。</a:t>
            </a:r>
          </a:p>
        </p:txBody>
      </p:sp>
      <p:pic>
        <p:nvPicPr>
          <p:cNvPr id="20" name="图片 29" descr="ga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777240"/>
            <a:ext cx="3063240" cy="5440680"/>
          </a:xfrm>
          <a:prstGeom prst="rect">
            <a:avLst/>
          </a:prstGeom>
        </p:spPr>
      </p:pic>
      <p:pic>
        <p:nvPicPr>
          <p:cNvPr id="21" name="图片 23" descr="lamp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777240"/>
            <a:ext cx="2971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底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校徽" descr="emblem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384048" cy="384048"/>
          </a:xfrm>
          <a:prstGeom prst="rect">
            <a:avLst/>
          </a:prstGeom>
        </p:spPr>
      </p:pic>
      <p:sp>
        <p:nvSpPr>
          <p:cNvPr id="4" name="校名"/>
          <p:cNvSpPr txBox="1"/>
          <p:nvPr/>
        </p:nvSpPr>
        <p:spPr>
          <a:xfrm>
            <a:off x="822960" y="1828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中山大学</a:t>
            </a:r>
          </a:p>
        </p:txBody>
      </p:sp>
      <p:sp>
        <p:nvSpPr>
          <p:cNvPr id="5" name="校名英文"/>
          <p:cNvSpPr txBox="1"/>
          <p:nvPr/>
        </p:nvSpPr>
        <p:spPr>
          <a:xfrm>
            <a:off x="822960" y="402336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SUN YAT-SEN UNIVERSITY</a:t>
            </a:r>
          </a:p>
        </p:txBody>
      </p:sp>
      <p:sp>
        <p:nvSpPr>
          <p:cNvPr id="6" name="页眉"/>
          <p:cNvSpPr txBox="1"/>
          <p:nvPr/>
        </p:nvSpPr>
        <p:spPr>
          <a:xfrm>
            <a:off x="7498079" y="2560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rPr>
              <a:t>本科新生分享 · 2026</a:t>
            </a:r>
          </a:p>
        </p:txBody>
      </p:sp>
      <p:sp>
        <p:nvSpPr>
          <p:cNvPr id="7" name="校训"/>
          <p:cNvSpPr txBox="1"/>
          <p:nvPr/>
        </p:nvSpPr>
        <p:spPr>
          <a:xfrm>
            <a:off x="347472" y="6510528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博学　审问　慎思　明辨　笃行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9" name="标题 1"/>
          <p:cNvSpPr txBox="1"/>
          <p:nvPr/>
        </p:nvSpPr>
        <p:spPr>
          <a:xfrm>
            <a:off x="365760" y="822960"/>
            <a:ext cx="5303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穿越文化，也连接彼此</a:t>
            </a:r>
          </a:p>
        </p:txBody>
      </p:sp>
      <p:sp>
        <p:nvSpPr>
          <p:cNvPr id="10" name="文本框 25"/>
          <p:cNvSpPr txBox="1"/>
          <p:nvPr/>
        </p:nvSpPr>
        <p:spPr>
          <a:xfrm>
            <a:off x="365760" y="19202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rPr>
              <a:t>文化交流不是“拍照打卡”</a:t>
            </a:r>
          </a:p>
        </p:txBody>
      </p:sp>
      <p:sp>
        <p:nvSpPr>
          <p:cNvPr id="11" name="统计1底"/>
          <p:cNvSpPr/>
          <p:nvPr/>
        </p:nvSpPr>
        <p:spPr>
          <a:xfrm>
            <a:off x="365760" y="2331720"/>
            <a:ext cx="24688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统计2底"/>
          <p:cNvSpPr/>
          <p:nvPr/>
        </p:nvSpPr>
        <p:spPr>
          <a:xfrm>
            <a:off x="2971800" y="2331720"/>
            <a:ext cx="24688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本框 7"/>
          <p:cNvSpPr txBox="1"/>
          <p:nvPr/>
        </p:nvSpPr>
        <p:spPr>
          <a:xfrm>
            <a:off x="502920" y="235915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3</a:t>
            </a:r>
          </a:p>
        </p:txBody>
      </p:sp>
      <p:sp>
        <p:nvSpPr>
          <p:cNvPr id="14" name="文本框 10"/>
          <p:cNvSpPr txBox="1"/>
          <p:nvPr/>
        </p:nvSpPr>
        <p:spPr>
          <a:xfrm>
            <a:off x="502920" y="288036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种文化角色</a:t>
            </a:r>
          </a:p>
        </p:txBody>
      </p:sp>
      <p:sp>
        <p:nvSpPr>
          <p:cNvPr id="15" name="文本框 12"/>
          <p:cNvSpPr txBox="1"/>
          <p:nvPr/>
        </p:nvSpPr>
        <p:spPr>
          <a:xfrm>
            <a:off x="3108960" y="235915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1</a:t>
            </a:r>
          </a:p>
        </p:txBody>
      </p:sp>
      <p:sp>
        <p:nvSpPr>
          <p:cNvPr id="16" name="文本框 13"/>
          <p:cNvSpPr txBox="1"/>
          <p:nvPr/>
        </p:nvSpPr>
        <p:spPr>
          <a:xfrm>
            <a:off x="3108960" y="288036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座沟通桥梁</a:t>
            </a:r>
          </a:p>
        </p:txBody>
      </p:sp>
      <p:sp>
        <p:nvSpPr>
          <p:cNvPr id="17" name="引言底"/>
          <p:cNvSpPr/>
          <p:nvPr/>
        </p:nvSpPr>
        <p:spPr>
          <a:xfrm>
            <a:off x="365760" y="3474720"/>
            <a:ext cx="5074920" cy="260604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文本框 22"/>
          <p:cNvSpPr txBox="1"/>
          <p:nvPr/>
        </p:nvSpPr>
        <p:spPr>
          <a:xfrm>
            <a:off x="548640" y="3657600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6F1E4"/>
                </a:solidFill>
                <a:latin typeface="Noto Serif CJK SC"/>
                <a:ea typeface="Noto Serif CJK SC"/>
                <a:cs typeface="Noto Serif CJK SC"/>
              </a:rPr>
              <a:t>展示自己，也认真理解别人</a:t>
            </a:r>
          </a:p>
        </p:txBody>
      </p:sp>
      <p:sp>
        <p:nvSpPr>
          <p:cNvPr id="19" name="文本框 21"/>
          <p:cNvSpPr txBox="1"/>
          <p:nvPr/>
        </p:nvSpPr>
        <p:spPr>
          <a:xfrm>
            <a:off x="548640" y="4480560"/>
            <a:ext cx="47548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6F1E4"/>
                </a:solidFill>
                <a:latin typeface="Microsoft YaHei"/>
                <a:ea typeface="Microsoft YaHei"/>
                <a:cs typeface="Microsoft YaHei"/>
              </a:rPr>
              <a:t>参加国际文化节、介绍巴基斯坦文化、体验中国文化。交流不是谁说服谁，而是彼此多理解一步。</a:t>
            </a:r>
          </a:p>
        </p:txBody>
      </p:sp>
      <p:pic>
        <p:nvPicPr>
          <p:cNvPr id="20" name="图片 29" descr="blossom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777240"/>
            <a:ext cx="3063240" cy="5440680"/>
          </a:xfrm>
          <a:prstGeom prst="rect">
            <a:avLst/>
          </a:prstGeom>
        </p:spPr>
      </p:pic>
      <p:pic>
        <p:nvPicPr>
          <p:cNvPr id="21" name="图片 23" descr="campu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777240"/>
            <a:ext cx="2971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底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校徽" descr="emblem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384048" cy="384048"/>
          </a:xfrm>
          <a:prstGeom prst="rect">
            <a:avLst/>
          </a:prstGeom>
        </p:spPr>
      </p:pic>
      <p:sp>
        <p:nvSpPr>
          <p:cNvPr id="4" name="校名"/>
          <p:cNvSpPr txBox="1"/>
          <p:nvPr/>
        </p:nvSpPr>
        <p:spPr>
          <a:xfrm>
            <a:off x="822960" y="1828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中山大学</a:t>
            </a:r>
          </a:p>
        </p:txBody>
      </p:sp>
      <p:sp>
        <p:nvSpPr>
          <p:cNvPr id="5" name="校名英文"/>
          <p:cNvSpPr txBox="1"/>
          <p:nvPr/>
        </p:nvSpPr>
        <p:spPr>
          <a:xfrm>
            <a:off x="822960" y="402336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SUN YAT-SEN UNIVERSITY</a:t>
            </a:r>
          </a:p>
        </p:txBody>
      </p:sp>
      <p:sp>
        <p:nvSpPr>
          <p:cNvPr id="6" name="页眉"/>
          <p:cNvSpPr txBox="1"/>
          <p:nvPr/>
        </p:nvSpPr>
        <p:spPr>
          <a:xfrm>
            <a:off x="7498079" y="2560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rPr>
              <a:t>可以马上开始</a:t>
            </a:r>
          </a:p>
        </p:txBody>
      </p:sp>
      <p:sp>
        <p:nvSpPr>
          <p:cNvPr id="7" name="校训"/>
          <p:cNvSpPr txBox="1"/>
          <p:nvPr/>
        </p:nvSpPr>
        <p:spPr>
          <a:xfrm>
            <a:off x="347472" y="6510528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博学　审问　慎思　明辨　笃行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9" name="标题 1"/>
          <p:cNvSpPr txBox="1"/>
          <p:nvPr/>
        </p:nvSpPr>
        <p:spPr>
          <a:xfrm>
            <a:off x="502920" y="105156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三件小事，比一份完美计划更有用</a:t>
            </a:r>
          </a:p>
        </p:txBody>
      </p:sp>
      <p:sp>
        <p:nvSpPr>
          <p:cNvPr id="10" name="建议底1"/>
          <p:cNvSpPr/>
          <p:nvPr/>
        </p:nvSpPr>
        <p:spPr>
          <a:xfrm>
            <a:off x="502920" y="2194560"/>
            <a:ext cx="370332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建议号1"/>
          <p:cNvSpPr txBox="1"/>
          <p:nvPr/>
        </p:nvSpPr>
        <p:spPr>
          <a:xfrm>
            <a:off x="731520" y="23317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建议标题1"/>
          <p:cNvSpPr txBox="1"/>
          <p:nvPr/>
        </p:nvSpPr>
        <p:spPr>
          <a:xfrm>
            <a:off x="731520" y="2743200"/>
            <a:ext cx="3246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走进一个学术现场</a:t>
            </a:r>
          </a:p>
        </p:txBody>
      </p:sp>
      <p:sp>
        <p:nvSpPr>
          <p:cNvPr id="13" name="建议正文1"/>
          <p:cNvSpPr txBox="1"/>
          <p:nvPr/>
        </p:nvSpPr>
        <p:spPr>
          <a:xfrm>
            <a:off x="731520" y="3840480"/>
            <a:ext cx="3246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1F1B"/>
                </a:solidFill>
                <a:latin typeface="Microsoft YaHei"/>
                <a:ea typeface="Microsoft YaHei"/>
                <a:cs typeface="Microsoft YaHei"/>
              </a:rPr>
              <a:t>讲座、论坛、读书会都可以。先坐在后排听，再试着问一个问题。</a:t>
            </a:r>
          </a:p>
        </p:txBody>
      </p:sp>
      <p:sp>
        <p:nvSpPr>
          <p:cNvPr id="14" name="建议底2"/>
          <p:cNvSpPr/>
          <p:nvPr/>
        </p:nvSpPr>
        <p:spPr>
          <a:xfrm>
            <a:off x="4389120" y="2194560"/>
            <a:ext cx="370332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建议号2"/>
          <p:cNvSpPr txBox="1"/>
          <p:nvPr/>
        </p:nvSpPr>
        <p:spPr>
          <a:xfrm>
            <a:off x="4617720" y="23317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建议标题2"/>
          <p:cNvSpPr txBox="1"/>
          <p:nvPr/>
        </p:nvSpPr>
        <p:spPr>
          <a:xfrm>
            <a:off x="4617720" y="2743200"/>
            <a:ext cx="3246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做一件对别人有用的小事</a:t>
            </a:r>
          </a:p>
        </p:txBody>
      </p:sp>
      <p:sp>
        <p:nvSpPr>
          <p:cNvPr id="17" name="建议正文2"/>
          <p:cNvSpPr txBox="1"/>
          <p:nvPr/>
        </p:nvSpPr>
        <p:spPr>
          <a:xfrm>
            <a:off x="4617720" y="3840480"/>
            <a:ext cx="3246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1F1B"/>
                </a:solidFill>
                <a:latin typeface="Microsoft YaHei"/>
                <a:ea typeface="Microsoft YaHei"/>
                <a:cs typeface="Microsoft YaHei"/>
              </a:rPr>
              <a:t>志愿不是装饰简历。在真实现场里沟通、等待、负责，本身就是训练。</a:t>
            </a:r>
          </a:p>
        </p:txBody>
      </p:sp>
      <p:sp>
        <p:nvSpPr>
          <p:cNvPr id="18" name="建议底3"/>
          <p:cNvSpPr/>
          <p:nvPr/>
        </p:nvSpPr>
        <p:spPr>
          <a:xfrm>
            <a:off x="8275320" y="2194560"/>
            <a:ext cx="370332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建议号3"/>
          <p:cNvSpPr txBox="1"/>
          <p:nvPr/>
        </p:nvSpPr>
        <p:spPr>
          <a:xfrm>
            <a:off x="8503920" y="23317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建议标题3"/>
          <p:cNvSpPr txBox="1"/>
          <p:nvPr/>
        </p:nvSpPr>
        <p:spPr>
          <a:xfrm>
            <a:off x="8503920" y="2743200"/>
            <a:ext cx="3246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介绍一次自己的来处</a:t>
            </a:r>
          </a:p>
        </p:txBody>
      </p:sp>
      <p:sp>
        <p:nvSpPr>
          <p:cNvPr id="21" name="建议正文3"/>
          <p:cNvSpPr txBox="1"/>
          <p:nvPr/>
        </p:nvSpPr>
        <p:spPr>
          <a:xfrm>
            <a:off x="8503920" y="3840480"/>
            <a:ext cx="3246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1F1B"/>
                </a:solidFill>
                <a:latin typeface="Microsoft YaHei"/>
                <a:ea typeface="Microsoft YaHei"/>
                <a:cs typeface="Microsoft YaHei"/>
              </a:rPr>
              <a:t>也认真听别人的来处。交流不是说服，是彼此多理解一步。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" descr="blosso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遮罩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2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校徽" descr="emblem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01168"/>
            <a:ext cx="384048" cy="384048"/>
          </a:xfrm>
          <a:prstGeom prst="rect">
            <a:avLst/>
          </a:prstGeom>
        </p:spPr>
      </p:pic>
      <p:sp>
        <p:nvSpPr>
          <p:cNvPr id="5" name="校名"/>
          <p:cNvSpPr txBox="1"/>
          <p:nvPr/>
        </p:nvSpPr>
        <p:spPr>
          <a:xfrm>
            <a:off x="822960" y="1828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1E4"/>
                </a:solidFill>
                <a:latin typeface="Noto Serif CJK SC"/>
                <a:ea typeface="Noto Serif CJK SC"/>
                <a:cs typeface="Noto Serif CJK SC"/>
              </a:rPr>
              <a:t>中山大学</a:t>
            </a:r>
          </a:p>
        </p:txBody>
      </p:sp>
      <p:sp>
        <p:nvSpPr>
          <p:cNvPr id="6" name="校名英文"/>
          <p:cNvSpPr txBox="1"/>
          <p:nvPr/>
        </p:nvSpPr>
        <p:spPr>
          <a:xfrm>
            <a:off x="822960" y="402336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DCD6C6"/>
                </a:solidFill>
                <a:latin typeface="Microsoft YaHei"/>
                <a:ea typeface="Microsoft YaHei"/>
                <a:cs typeface="Microsoft YaHei"/>
              </a:rPr>
              <a:t>SUN YAT-SEN UNIVERSITY</a:t>
            </a:r>
          </a:p>
        </p:txBody>
      </p:sp>
      <p:sp>
        <p:nvSpPr>
          <p:cNvPr id="7" name="页眉"/>
          <p:cNvSpPr txBox="1"/>
          <p:nvPr/>
        </p:nvSpPr>
        <p:spPr>
          <a:xfrm>
            <a:off x="7498079" y="2560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8" name="校训"/>
          <p:cNvSpPr txBox="1"/>
          <p:nvPr/>
        </p:nvSpPr>
        <p:spPr>
          <a:xfrm>
            <a:off x="347472" y="6510528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CD6C6"/>
                </a:solidFill>
                <a:latin typeface="Microsoft YaHei"/>
                <a:ea typeface="Microsoft YaHei"/>
                <a:cs typeface="Microsoft YaHei"/>
              </a:rPr>
              <a:t>博学　审问　慎思　明辨　笃行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CD6C6"/>
                </a:solidFill>
                <a:latin typeface="Microsoft YaHei"/>
                <a:ea typeface="Microsoft YaHei"/>
                <a:cs typeface="Microsoft YaHei"/>
              </a:rPr>
              <a:t>08 / 08</a:t>
            </a:r>
          </a:p>
        </p:txBody>
      </p:sp>
      <p:sp>
        <p:nvSpPr>
          <p:cNvPr id="10" name="金线"/>
          <p:cNvSpPr/>
          <p:nvPr/>
        </p:nvSpPr>
        <p:spPr>
          <a:xfrm>
            <a:off x="548640" y="4343400"/>
            <a:ext cx="777240" cy="32004"/>
          </a:xfrm>
          <a:prstGeom prst="rect">
            <a:avLst/>
          </a:prstGeom>
          <a:solidFill>
            <a:srgbClr val="D29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标题 1"/>
          <p:cNvSpPr txBox="1"/>
          <p:nvPr/>
        </p:nvSpPr>
        <p:spPr>
          <a:xfrm>
            <a:off x="502920" y="448056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6F1E4"/>
                </a:solidFill>
                <a:latin typeface="Noto Serif CJK SC"/>
                <a:ea typeface="Noto Serif CJK SC"/>
                <a:cs typeface="Noto Serif CJK SC"/>
              </a:rPr>
              <a:t>可靠，是最容易被低估的能力</a:t>
            </a:r>
          </a:p>
        </p:txBody>
      </p:sp>
      <p:sp>
        <p:nvSpPr>
          <p:cNvPr id="12" name="副标题"/>
          <p:cNvSpPr txBox="1"/>
          <p:nvPr/>
        </p:nvSpPr>
        <p:spPr>
          <a:xfrm>
            <a:off x="502920" y="5715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先去现场。第一次不必像专家。</a:t>
            </a:r>
          </a:p>
        </p:txBody>
      </p:sp>
      <p:sp>
        <p:nvSpPr>
          <p:cNvPr id="13" name="讲者"/>
          <p:cNvSpPr txBox="1"/>
          <p:nvPr/>
        </p:nvSpPr>
        <p:spPr>
          <a:xfrm>
            <a:off x="502920" y="60807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6F1E4"/>
                </a:solidFill>
                <a:latin typeface="Microsoft YaHei"/>
                <a:ea typeface="Microsoft YaHei"/>
                <a:cs typeface="Microsoft YaHei"/>
              </a:rPr>
              <a:t>喜娜 Heena Rathore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