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theme" Target="theme/theme2.xml"/><Relationship Id="rId8" Type="http://schemas.openxmlformats.org/officeDocument/2006/relationships/slideMaster" Target="slideMasters/slideMaster2.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notesSlide" Target="notesSlides/notesSlide1.xml"/><Relationship Id="rId28" Type="http://schemas.openxmlformats.org/officeDocument/2006/relationships/notesSlide" Target="notesSlides/notesSlide2.xml"/><Relationship Id="rId29" Type="http://schemas.openxmlformats.org/officeDocument/2006/relationships/notesSlide" Target="notesSlides/notesSlide3.xml"/><Relationship Id="rId30" Type="http://schemas.openxmlformats.org/officeDocument/2006/relationships/notesSlide" Target="notesSlides/notesSlide4.xml"/><Relationship Id="rId31" Type="http://schemas.openxmlformats.org/officeDocument/2006/relationships/notesSlide" Target="notesSlides/notesSlide5.xml"/><Relationship Id="rId32" Type="http://schemas.openxmlformats.org/officeDocument/2006/relationships/notesSlide" Target="notesSlides/notesSlide6.xml"/><Relationship Id="rId33" Type="http://schemas.openxmlformats.org/officeDocument/2006/relationships/notesSlide" Target="notesSlides/notesSlide7.xml"/><Relationship Id="rId34" Type="http://schemas.openxmlformats.org/officeDocument/2006/relationships/notesSlide" Target="notesSlides/notesSlide8.xml"/><Relationship Id="rId35" Type="http://schemas.openxmlformats.org/officeDocument/2006/relationships/notesSlide" Target="notesSlides/notesSlide9.xml"/><Relationship Id="rId36" Type="http://schemas.openxmlformats.org/officeDocument/2006/relationships/notesSlide" Target="notesSlides/notesSlide10.xml"/><Relationship Id="rId37" Type="http://schemas.openxmlformats.org/officeDocument/2006/relationships/notesSlide" Target="notesSlides/notesSlide11.xml"/><Relationship Id="rId38" Type="http://schemas.openxmlformats.org/officeDocument/2006/relationships/notesSlide" Target="notesSlides/notesSlide12.xml"/><Relationship Id="rId39" Type="http://schemas.openxmlformats.org/officeDocument/2006/relationships/notesSlide" Target="notesSlides/notesSlide13.xml"/><Relationship Id="rId40" Type="http://schemas.openxmlformats.org/officeDocument/2006/relationships/notesSlide" Target="notesSlides/notesSlide14.xml"/><Relationship Id="rId41" Type="http://schemas.openxmlformats.org/officeDocument/2006/relationships/notesSlide" Target="notesSlides/notesSlide15.xml"/><Relationship Id="rId42" Type="http://schemas.openxmlformats.org/officeDocument/2006/relationships/notesSlide" Target="notesSlides/notesSlide16.xml"/><Relationship Id="rId43" Type="http://schemas.openxmlformats.org/officeDocument/2006/relationships/notesSlide" Target="notesSlides/notesSlide17.xml"/><Relationship Id="rId44" Type="http://schemas.openxmlformats.org/officeDocument/2006/relationships/notesSlide" Target="notesSlides/not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Good morning, committee members. Thank you for the opportunity to present my PhD research proposal.</a:t>
            </a:r>
          </a:p>
          <a:p>
            <a:pPr algn="l" marL="0" indent="0">
              <a:lnSpc>
                <a:spcPct val="100000"/>
              </a:lnSpc>
            </a:pPr>
            <a:r>
              <a:rPr lang="en-US" b="false" i="false" strike="noStrike" u="none" sz="1400">
                <a:solidFill>
                  <a:srgbClr val="000000"/>
                </a:solidFill>
              </a:rPr>
              <a:t>The study examines how Pakistani teachers of Chinese actually rework published teaching materials in their classrooms, and how their professional agency is enabled or constrained by the conditions of their work.</a:t>
            </a:r>
          </a:p>
          <a:p>
            <a:pPr algn="l" marL="0" indent="0">
              <a:lnSpc>
                <a:spcPct val="100000"/>
              </a:lnSpc>
            </a:pPr>
            <a:r>
              <a:rPr lang="en-US" b="false" i="false" strike="noStrike" u="none" sz="1400">
                <a:solidFill>
                  <a:srgbClr val="000000"/>
                </a:solidFill>
              </a:rPr>
              <a:t>It is a qualitative, ecological study. I will walk you through the background, the gap, the questions, the design, and the anticipated contribution.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The talk follows the logic of a proposal: context, gap, questions, design, and contribution.</a:t>
            </a:r>
          </a:p>
          <a:p>
            <a:pPr algn="l" marL="0" indent="0">
              <a:lnSpc>
                <a:spcPct val="100000"/>
              </a:lnSpc>
            </a:pPr>
            <a:r>
              <a:rPr lang="en-US" b="false" i="false" strike="noStrike" u="none" sz="1400">
                <a:solidFill>
                  <a:srgbClr val="000000"/>
                </a:solidFill>
              </a:rPr>
              <a:t>I will spend most time on the gap, the research questions, and why a qualitative case design is the right way to answer them.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Chinese language education in Pakistan grew from a single institute in 2005 into a nationwide system driven by Pakistan-China relations and the CPEC.</a:t>
            </a:r>
          </a:p>
          <a:p>
            <a:pPr algn="l" marL="0" indent="0">
              <a:lnSpc>
                <a:spcPct val="100000"/>
              </a:lnSpc>
            </a:pPr>
            <a:r>
              <a:rPr lang="en-US" b="false" i="false" strike="noStrike" u="none" sz="1400">
                <a:solidFill>
                  <a:srgbClr val="000000"/>
                </a:solidFill>
              </a:rPr>
              <a:t>But scale did not produce a uniform classroom. Existing studies already show that policy on paper and the lived classroom diverge, and that learners struggle.</a:t>
            </a:r>
          </a:p>
          <a:p>
            <a:pPr algn="l" marL="0" indent="0">
              <a:lnSpc>
                <a:spcPct val="100000"/>
              </a:lnSpc>
            </a:pPr>
            <a:r>
              <a:rPr lang="en-US" b="false" i="false" strike="noStrike" u="none" sz="1400">
                <a:solidFill>
                  <a:srgbClr val="000000"/>
                </a:solidFill>
              </a:rPr>
              <a:t>The question is no longer whether learners struggle, but exactly what they are struggling through.</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Pakistani research has already documented that imported, HSK-oriented textbooks do not fit local learners well.</a:t>
            </a:r>
          </a:p>
          <a:p>
            <a:pPr algn="l" marL="0" indent="0">
              <a:lnSpc>
                <a:spcPct val="100000"/>
              </a:lnSpc>
            </a:pPr>
            <a:r>
              <a:rPr lang="en-US" b="false" i="false" strike="noStrike" u="none" sz="1400">
                <a:solidFill>
                  <a:srgbClr val="000000"/>
                </a:solidFill>
              </a:rPr>
              <a:t>The recommended fixes are all to build something new: a localized textbook, revised modules, better training.</a:t>
            </a:r>
          </a:p>
          <a:p>
            <a:pPr algn="l" marL="0" indent="0">
              <a:lnSpc>
                <a:spcPct val="100000"/>
              </a:lnSpc>
            </a:pPr>
            <a:r>
              <a:rPr lang="en-US" b="false" i="false" strike="noStrike" u="none" sz="1400">
                <a:solidFill>
                  <a:srgbClr val="000000"/>
                </a:solidFill>
              </a:rPr>
              <a:t>But those take years. In the meantime, every teacher in front of a class is already making real-time decisions about that book.</a:t>
            </a:r>
          </a:p>
          <a:p>
            <a:pPr algn="l" marL="0" indent="0">
              <a:lnSpc>
                <a:spcPct val="100000"/>
              </a:lnSpc>
            </a:pPr>
            <a:r>
              <a:rPr lang="en-US" b="false" i="false" strike="noStrike" u="none" sz="1400">
                <a:solidFill>
                  <a:srgbClr val="000000"/>
                </a:solidFill>
              </a:rPr>
              <a:t>My study observes those decisions rather than waiting for a book that does not yet exist.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I use three terms deliberately and keep them distinct.</a:t>
            </a:r>
          </a:p>
          <a:p>
            <a:pPr algn="l" marL="0" indent="0">
              <a:lnSpc>
                <a:spcPct val="100000"/>
              </a:lnSpc>
            </a:pPr>
            <a:r>
              <a:rPr lang="en-US" b="false" i="false" strike="noStrike" u="none" sz="1400">
                <a:solidFill>
                  <a:srgbClr val="000000"/>
                </a:solidFill>
              </a:rPr>
              <a:t>Recontextualization is the mechanism visible when materials are in use. Localization is one possible outcome of that mechanism, the one the local field already names.</a:t>
            </a:r>
          </a:p>
          <a:p>
            <a:pPr algn="l" marL="0" indent="0">
              <a:lnSpc>
                <a:spcPct val="100000"/>
              </a:lnSpc>
            </a:pPr>
            <a:r>
              <a:rPr lang="en-US" b="false" i="false" strike="noStrike" u="none" sz="1400">
                <a:solidFill>
                  <a:srgbClr val="000000"/>
                </a:solidFill>
              </a:rPr>
              <a:t>The critical point is that motive, not surface change, decides whether a move is localization. A teacher who skips a section to meet the exam schedule is still recontextualizing, but not localizing.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The literature is rich, but it fails at the join of object, population and method.</a:t>
            </a:r>
          </a:p>
          <a:p>
            <a:pPr algn="l" marL="0" indent="0">
              <a:lnSpc>
                <a:spcPct val="100000"/>
              </a:lnSpc>
            </a:pPr>
            <a:r>
              <a:rPr lang="en-US" b="false" i="false" strike="noStrike" u="none" sz="1400">
                <a:solidFill>
                  <a:srgbClr val="000000"/>
                </a:solidFill>
              </a:rPr>
              <a:t>Materials-in-use research exists, but not on Pakistani teachers with HSK books. Ecological agency research exists, but mostly with EFL teachers in China and Vietnam. Pakistani CFL research exists, but it relies on surveys and interviews about fit, not on classroom observation.</a:t>
            </a:r>
          </a:p>
          <a:p>
            <a:pPr algn="l" marL="0" indent="0">
              <a:lnSpc>
                <a:spcPct val="100000"/>
              </a:lnSpc>
            </a:pPr>
            <a:r>
              <a:rPr lang="en-US" b="false" i="false" strike="noStrike" u="none" sz="1400">
                <a:solidFill>
                  <a:srgbClr val="000000"/>
                </a:solidFill>
              </a:rPr>
              <a:t>No study has yet combined classroom observation with materials comparison to show how localization is produced in everyday Pakistani teaching.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The core question names the two objects the thesis studies together: materials recontextualization and teacher agency.</a:t>
            </a:r>
          </a:p>
          <a:p>
            <a:pPr algn="l" marL="0" indent="0">
              <a:lnSpc>
                <a:spcPct val="100000"/>
              </a:lnSpc>
            </a:pPr>
            <a:r>
              <a:rPr lang="en-US" b="false" i="false" strike="noStrike" u="none" sz="1400">
                <a:solidFill>
                  <a:srgbClr val="000000"/>
                </a:solidFill>
              </a:rPr>
              <a:t>RQ1 asks what teachers actually do. RQ2 asks how they justify it. RQ3 asks how surrounding conditions open or close space for that work.</a:t>
            </a:r>
          </a:p>
          <a:p>
            <a:pPr algn="l" marL="0" indent="0">
              <a:lnSpc>
                <a:spcPct val="100000"/>
              </a:lnSpc>
            </a:pPr>
            <a:r>
              <a:rPr lang="en-US" b="false" i="false" strike="noStrike" u="none" sz="1400">
                <a:solidFill>
                  <a:srgbClr val="000000"/>
                </a:solidFill>
              </a:rPr>
              <a:t>Faithful transmission is included deliberately — sticking to the book under exam pressure is still a recontextualizing choice, not a failure to make one.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Two theories are joined. Recontextualization names the pedagogic mechanism visible once materials are in use.</a:t>
            </a:r>
          </a:p>
          <a:p>
            <a:pPr algn="l" marL="0" indent="0">
              <a:lnSpc>
                <a:spcPct val="100000"/>
              </a:lnSpc>
            </a:pPr>
            <a:r>
              <a:rPr lang="en-US" b="false" i="false" strike="noStrike" u="none" sz="1400">
                <a:solidFill>
                  <a:srgbClr val="000000"/>
                </a:solidFill>
              </a:rPr>
              <a:t>Ecological agency explains whether, and how much, a teacher can act on that mechanism: agency is not a personal trait but an achievement, sounded together across the teacher's past, future aims, and present judgement.</a:t>
            </a:r>
          </a:p>
          <a:p>
            <a:pPr algn="l" marL="0" indent="0">
              <a:lnSpc>
                <a:spcPct val="100000"/>
              </a:lnSpc>
            </a:pPr>
            <a:r>
              <a:rPr lang="en-US" b="false" i="false" strike="noStrike" u="none" sz="1400">
                <a:solidFill>
                  <a:srgbClr val="000000"/>
                </a:solidFill>
              </a:rPr>
              <a:t>All of this sits inside nested conditions — from the classroom up to HSK policy and the wider society. The same teacher may recontextualize freely in one class and stay textbook-tied in another, because those conditions differ.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The object — meaning made in context — calls for case study work. I follow several teachers rather than one, because agency shifts with institutional conditions.</a:t>
            </a:r>
          </a:p>
          <a:p>
            <a:pPr algn="l" marL="0" indent="0">
              <a:lnSpc>
                <a:spcPct val="100000"/>
              </a:lnSpc>
            </a:pPr>
            <a:r>
              <a:rPr lang="en-US" b="false" i="false" strike="noStrike" u="none" sz="1400">
                <a:solidFill>
                  <a:srgbClr val="000000"/>
                </a:solidFill>
              </a:rPr>
              <a:t>A questionnaire would simply repeat what Lu, Hanif and Naheed already did, and would reproduce the known gap between what teachers report and what they do.</a:t>
            </a:r>
          </a:p>
          <a:p>
            <a:pPr algn="l" marL="0" indent="0">
              <a:lnSpc>
                <a:spcPct val="100000"/>
              </a:lnSpc>
            </a:pPr>
            <a:r>
              <a:rPr lang="en-US" b="false" i="false" strike="noStrike" u="none" sz="1400">
                <a:solidFill>
                  <a:srgbClr val="000000"/>
                </a:solidFill>
              </a:rPr>
              <a:t>The study is therefore explicit about what it is not: it is not scoring the HSK series, and it does not produce a new textbook.</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No single source is trusted alone. Comparing the prescribed page to the teacher's own materials shows the traces of change.</a:t>
            </a:r>
          </a:p>
          <a:p>
            <a:pPr algn="l" marL="0" indent="0">
              <a:lnSpc>
                <a:spcPct val="100000"/>
              </a:lnSpc>
            </a:pPr>
            <a:r>
              <a:rPr lang="en-US" b="false" i="false" strike="noStrike" u="none" sz="1400">
                <a:solidFill>
                  <a:srgbClr val="000000"/>
                </a:solidFill>
              </a:rPr>
              <a:t>Observation shows the change as it happens. Lesson-focused interview and stimulated recall surface the reasoning tied to that actual lesson, not a general belief about localization.</a:t>
            </a:r>
          </a:p>
          <a:p>
            <a:pPr algn="l" marL="0" indent="0">
              <a:lnSpc>
                <a:spcPct val="100000"/>
              </a:lnSpc>
            </a:pPr>
            <a:r>
              <a:rPr lang="en-US" b="false" i="false" strike="noStrike" u="none" sz="1400">
                <a:solidFill>
                  <a:srgbClr val="000000"/>
                </a:solidFill>
              </a:rPr>
              <a:t>Institutional field notes capture the conditions. Each source is mapped to the question it can actually answer.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Analysis moves in three deliberate passes. First, what the teacher actually did, coded against the real page.</a:t>
            </a:r>
          </a:p>
          <a:p>
            <a:pPr algn="l" marL="0" indent="0">
              <a:lnSpc>
                <a:spcPct val="100000"/>
              </a:lnSpc>
            </a:pPr>
            <a:r>
              <a:rPr lang="en-US" b="false" i="false" strike="noStrike" u="none" sz="1400">
                <a:solidFill>
                  <a:srgbClr val="000000"/>
                </a:solidFill>
              </a:rPr>
              <a:t>Second, why, but as a judgement tied to that specific lesson — if a reason is only ever talked about and never observed, it is logged as talk, not as practice.</a:t>
            </a:r>
          </a:p>
          <a:p>
            <a:pPr algn="l" marL="0" indent="0">
              <a:lnSpc>
                <a:spcPct val="100000"/>
              </a:lnSpc>
            </a:pPr>
            <a:r>
              <a:rPr lang="en-US" b="false" i="false" strike="noStrike" u="none" sz="1400">
                <a:solidFill>
                  <a:srgbClr val="000000"/>
                </a:solidFill>
              </a:rPr>
              <a:t>Third, agency across the three temporal dimensions. Restricted or addition-only work is coded as agency, not its absence.</a:t>
            </a:r>
          </a:p>
          <a:p>
            <a:pPr algn="l" marL="0" indent="0">
              <a:lnSpc>
                <a:spcPct val="100000"/>
              </a:lnSpc>
            </a:pPr>
            <a:r>
              <a:rPr lang="en-US" b="false" i="false" strike="noStrike" u="none" sz="1400">
                <a:solidFill>
                  <a:srgbClr val="000000"/>
                </a:solidFill>
              </a:rPr>
              <a:t>Cases are analysed individually before any comparison across them.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The procedure is sequential. Literature and framework come first, then ethics and a small pilot to refine the instruments.</a:t>
            </a:r>
          </a:p>
          <a:p>
            <a:pPr algn="l" marL="0" indent="0">
              <a:lnSpc>
                <a:spcPct val="100000"/>
              </a:lnSpc>
            </a:pPr>
            <a:r>
              <a:rPr lang="en-US" b="false" i="false" strike="noStrike" u="none" sz="1400">
                <a:solidFill>
                  <a:srgbClr val="000000"/>
                </a:solidFill>
              </a:rPr>
              <a:t>Fieldwork moves teacher by teacher. Analysis follows the three passes I described. Writing closes on the title itself.</a:t>
            </a:r>
          </a:p>
          <a:p>
            <a:pPr algn="l" marL="0" indent="0">
              <a:lnSpc>
                <a:spcPct val="100000"/>
              </a:lnSpc>
            </a:pPr>
            <a:r>
              <a:rPr lang="en-US" b="false" i="false" strike="noStrike" u="none" sz="1400">
                <a:solidFill>
                  <a:srgbClr val="000000"/>
                </a:solidFill>
              </a:rPr>
              <a:t>Two guardrails: nothing from the pilot is reported, and a site that will not allow observation is not converted into a survey.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The thesis has seven chapters. The first four set up problem, literature, framework and design.</a:t>
            </a:r>
          </a:p>
          <a:p>
            <a:pPr algn="l" marL="0" indent="0">
              <a:lnSpc>
                <a:spcPct val="100000"/>
              </a:lnSpc>
            </a:pPr>
            <a:r>
              <a:rPr lang="en-US" b="false" i="false" strike="noStrike" u="none" sz="1400">
                <a:solidFill>
                  <a:srgbClr val="000000"/>
                </a:solidFill>
              </a:rPr>
              <a:t>Two separate findings chapters answer RQ1, then RQ2 and RQ3. Keeping them apart mirrors the two objects in the title.</a:t>
            </a:r>
          </a:p>
          <a:p>
            <a:pPr algn="l" marL="0" indent="0">
              <a:lnSpc>
                <a:spcPct val="100000"/>
              </a:lnSpc>
            </a:pPr>
            <a:r>
              <a:rPr lang="en-US" b="false" i="false" strike="noStrike" u="none" sz="1400">
                <a:solidFill>
                  <a:srgbClr val="000000"/>
                </a:solidFill>
              </a:rPr>
              <a:t>The final chapter returns to the title and states implications, limits and further research — without converting into a call for a new textbook.</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The three foci follow directly from the title: the moves, the agency behind them, and localization as a classroom process.</a:t>
            </a:r>
          </a:p>
          <a:p>
            <a:pPr algn="l" marL="0" indent="0">
              <a:lnSpc>
                <a:spcPct val="100000"/>
              </a:lnSpc>
            </a:pPr>
            <a:r>
              <a:rPr lang="en-US" b="false" i="false" strike="noStrike" u="none" sz="1400">
                <a:solidFill>
                  <a:srgbClr val="000000"/>
                </a:solidFill>
              </a:rPr>
              <a:t>The innovations are modest and honest. They are not new theories; they bring existing tools together on a population and a materials object that have not been studied this way.</a:t>
            </a:r>
          </a:p>
          <a:p>
            <a:pPr algn="l" marL="0" indent="0">
              <a:lnSpc>
                <a:spcPct val="100000"/>
              </a:lnSpc>
            </a:pPr>
            <a:r>
              <a:rPr lang="en-US" b="false" i="false" strike="noStrike" u="none" sz="1400">
                <a:solidFill>
                  <a:srgbClr val="000000"/>
                </a:solidFill>
              </a:rPr>
              <a:t>The object, the method, and the analytic cut are the three points of novelty.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Each difficulty is one that similar studies have already met, and the solution is borrowed from those studies.</a:t>
            </a:r>
          </a:p>
          <a:p>
            <a:pPr algn="l" marL="0" indent="0">
              <a:lnSpc>
                <a:spcPct val="100000"/>
              </a:lnSpc>
            </a:pPr>
            <a:r>
              <a:rPr lang="en-US" b="false" i="false" strike="noStrike" u="none" sz="1400">
                <a:solidFill>
                  <a:srgbClr val="000000"/>
                </a:solidFill>
              </a:rPr>
              <a:t>Talk is not trusted as evidence; access risks are planned for; and crucially, conservative practice is treated as a finding about restriction, not as a failed study.</a:t>
            </a:r>
          </a:p>
          <a:p>
            <a:pPr algn="l" marL="0" indent="0">
              <a:lnSpc>
                <a:spcPct val="100000"/>
              </a:lnSpc>
            </a:pPr>
            <a:r>
              <a:rPr lang="en-US" b="false" i="false" strike="noStrike" u="none" sz="1400">
                <a:solidFill>
                  <a:srgbClr val="000000"/>
                </a:solidFill>
              </a:rPr>
              <a:t>The study only fails if it cannot see practice — not if the practice turns out to be cautious.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On the theoretical side, the study brings classroom work into the picture and uses one analytic language for active and faithful teaching alike.</a:t>
            </a:r>
          </a:p>
          <a:p>
            <a:pPr algn="l" marL="0" indent="0">
              <a:lnSpc>
                <a:spcPct val="100000"/>
              </a:lnSpc>
            </a:pPr>
            <a:r>
              <a:rPr lang="en-US" b="false" i="false" strike="noStrike" u="none" sz="1400">
                <a:solidFill>
                  <a:srgbClr val="000000"/>
                </a:solidFill>
              </a:rPr>
              <a:t>On the practical side, it gives teacher education and institutions something concrete to work with, and reminds them that some of the problem is institutional, not individual.</a:t>
            </a:r>
          </a:p>
          <a:p>
            <a:pPr algn="l" marL="0" indent="0">
              <a:lnSpc>
                <a:spcPct val="100000"/>
              </a:lnSpc>
            </a:pPr>
            <a:r>
              <a:rPr lang="en-US" b="false" i="false" strike="noStrike" u="none" sz="1400">
                <a:solidFill>
                  <a:srgbClr val="000000"/>
                </a:solidFill>
              </a:rPr>
              <a:t>It deliberately stops short of recommending a new textbook as the answer.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The whole argument can be stated in one line: localization is not a future textbook, it is teacher-mediated recontextualization under ecological conditions.</a:t>
            </a:r>
          </a:p>
          <a:p>
            <a:pPr algn="l" marL="0" indent="0">
              <a:lnSpc>
                <a:spcPct val="100000"/>
              </a:lnSpc>
            </a:pPr>
            <a:r>
              <a:rPr lang="en-US" b="false" i="false" strike="noStrike" u="none" sz="1400">
                <a:solidFill>
                  <a:srgbClr val="000000"/>
                </a:solidFill>
              </a:rPr>
              <a:t>The study delivers three things: an account of what teachers do, an ecological account of their agency, and a grounded view of how localization is actually produced or held back.</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Thank you for your time and attention.</a:t>
            </a:r>
          </a:p>
          <a:p>
            <a:pPr algn="l" marL="0" indent="0">
              <a:lnSpc>
                <a:spcPct val="100000"/>
              </a:lnSpc>
            </a:pPr>
            <a:r>
              <a:rPr lang="en-US" b="false" i="false" strike="noStrike" u="none" sz="1400">
                <a:solidFill>
                  <a:srgbClr val="000000"/>
                </a:solidFill>
              </a:rPr>
              <a:t>I would particularly value the committee's guidance on the case selection, the line between description and evaluation of HSK materials, and the practicalities of access.</a:t>
            </a:r>
          </a:p>
          <a:p>
            <a:pPr algn="l" marL="0" indent="0">
              <a:lnSpc>
                <a:spcPct val="100000"/>
              </a:lnSpc>
            </a:pPr>
            <a:r>
              <a:rPr lang="en-US" b="false" i="false" strike="noStrike" u="none" sz="1400">
                <a:solidFill>
                  <a:srgbClr val="000000"/>
                </a:solidFill>
              </a:rPr>
              <a:t>I am happy to take questions.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png"/></Relationships>
</file>

<file path=ppt/slides/slide1.xml><?xml version="1.0" encoding="utf-8"?>
<p:sld xmlns:p="http://schemas.openxmlformats.org/presentationml/2006/main" xmlns:a="http://schemas.openxmlformats.org/drawingml/2006/main">
  <p:cSld>
    <p:bg>
      <p:bgPr>
        <a:solidFill>
          <a:srgbClr val="F4EFE4">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143000" y="1092200"/>
            <a:ext cx="7620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8C4A34"/>
                </a:solidFill>
                <a:latin typeface="Lora"/>
                <a:ea typeface="Lora"/>
                <a:cs typeface="Lora"/>
                <a:sym typeface="Lora"/>
              </a:rPr>
              <a:t>PHD RESEARCH PROPOSAL</a:t>
            </a:r>
            <a:endParaRPr lang="en-US" sz="1100"/>
          </a:p>
        </p:txBody>
      </p:sp>
      <p:cxnSp>
        <p:nvCxnSpPr>
          <p:cNvPr name="Connector 3" id="3"/>
          <p:cNvCxnSpPr/>
          <p:nvPr/>
        </p:nvCxnSpPr>
        <p:spPr>
          <a:xfrm rot="-24554" flipH="false" flipV="false">
            <a:off x="1143023" y="1593850"/>
            <a:ext cx="1778000" cy="12700"/>
          </a:xfrm>
          <a:prstGeom prst="straightConnector1">
            <a:avLst/>
          </a:prstGeom>
          <a:solidFill>
            <a:srgbClr val="DEE0E3">
              <a:alpha val="100000"/>
            </a:srgbClr>
          </a:solidFill>
          <a:ln w="25400" cmpd="sng" cap="flat">
            <a:solidFill>
              <a:srgbClr val="8C4A34">
                <a:alpha val="100000"/>
              </a:srgbClr>
            </a:solidFill>
            <a:prstDash val="solid"/>
            <a:round/>
            <a:headEnd type="none" w="lg" len="lg"/>
            <a:tailEnd type="none" w="lg" len="lg"/>
          </a:ln>
        </p:spPr>
      </p:cxnSp>
      <p:sp>
        <p:nvSpPr>
          <p:cNvPr name="AutoShape 4" id="4"/>
          <p:cNvSpPr/>
          <p:nvPr/>
        </p:nvSpPr>
        <p:spPr>
          <a:xfrm rot="0" flipH="false" flipV="false">
            <a:off x="1143000" y="2133600"/>
            <a:ext cx="9906000" cy="254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4166"/>
              </a:lnSpc>
              <a:defRPr/>
            </a:pPr>
            <a:r>
              <a:rPr lang="en-US" b="true" i="false" strike="noStrike" u="none" sz="3100">
                <a:solidFill>
                  <a:srgbClr val="2A2A28"/>
                </a:solidFill>
                <a:latin typeface="Lora"/>
                <a:ea typeface="Lora"/>
                <a:cs typeface="Lora"/>
                <a:sym typeface="Lora"/>
              </a:rPr>
              <a:t>Recontextualization of Chinese-Language</a:t>
            </a:r>
            <a:endParaRPr lang="en-US" sz="1100"/>
          </a:p>
          <a:p>
            <a:pPr algn="l" marL="0" indent="0">
              <a:lnSpc>
                <a:spcPct val="104166"/>
              </a:lnSpc>
            </a:pPr>
            <a:r>
              <a:rPr lang="en-US" b="true" i="false" strike="noStrike" u="none" sz="3100">
                <a:solidFill>
                  <a:srgbClr val="2A2A28"/>
                </a:solidFill>
                <a:latin typeface="Lora"/>
                <a:ea typeface="Lora"/>
                <a:cs typeface="Lora"/>
                <a:sym typeface="Lora"/>
              </a:rPr>
              <a:t>Teaching Materials and Teacher Agency</a:t>
            </a:r>
          </a:p>
          <a:p>
            <a:pPr algn="l" marL="0" indent="0">
              <a:lnSpc>
                <a:spcPct val="104166"/>
              </a:lnSpc>
            </a:pPr>
            <a:r>
              <a:rPr lang="en-US" b="true" i="false" strike="noStrike" u="none" sz="3100">
                <a:solidFill>
                  <a:srgbClr val="2A2A28"/>
                </a:solidFill>
                <a:latin typeface="Lora"/>
                <a:ea typeface="Lora"/>
                <a:cs typeface="Lora"/>
                <a:sym typeface="Lora"/>
              </a:rPr>
              <a:t>among Pakistani Teachers of Chinese</a:t>
            </a:r>
          </a:p>
        </p:txBody>
      </p:sp>
      <p:sp>
        <p:nvSpPr>
          <p:cNvPr name="AutoShape 5" id="5"/>
          <p:cNvSpPr/>
          <p:nvPr/>
        </p:nvSpPr>
        <p:spPr>
          <a:xfrm rot="0" flipH="false" flipV="false">
            <a:off x="1143000" y="4800600"/>
            <a:ext cx="990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true" strike="noStrike" u="none" sz="1800">
                <a:solidFill>
                  <a:srgbClr val="4A4842"/>
                </a:solidFill>
                <a:latin typeface="Lora"/>
                <a:ea typeface="Lora"/>
                <a:cs typeface="Lora"/>
                <a:sym typeface="Lora"/>
              </a:rPr>
              <a:t>A Qualitative Study from an Ecological Perspective</a:t>
            </a:r>
            <a:endParaRPr lang="en-US" sz="1100"/>
          </a:p>
        </p:txBody>
      </p:sp>
      <p:cxnSp>
        <p:nvCxnSpPr>
          <p:cNvPr name="Connector 6" id="6"/>
          <p:cNvCxnSpPr/>
          <p:nvPr/>
        </p:nvCxnSpPr>
        <p:spPr>
          <a:xfrm rot="-4407" flipH="false" flipV="false">
            <a:off x="1143004" y="5734050"/>
            <a:ext cx="9906000" cy="12700"/>
          </a:xfrm>
          <a:prstGeom prst="straightConnector1">
            <a:avLst/>
          </a:prstGeom>
          <a:solidFill>
            <a:srgbClr val="DEE0E3">
              <a:alpha val="100000"/>
            </a:srgbClr>
          </a:solidFill>
          <a:ln w="12700" cmpd="sng" cap="flat">
            <a:solidFill>
              <a:srgbClr val="C9BFAE">
                <a:alpha val="100000"/>
              </a:srgbClr>
            </a:solidFill>
            <a:prstDash val="solid"/>
            <a:round/>
            <a:headEnd type="none" w="med" len="med"/>
            <a:tailEnd type="none" w="med" len="med"/>
          </a:ln>
        </p:spPr>
      </p:cxnSp>
      <p:sp>
        <p:nvSpPr>
          <p:cNvPr name="AutoShape 7" id="7"/>
          <p:cNvSpPr/>
          <p:nvPr/>
        </p:nvSpPr>
        <p:spPr>
          <a:xfrm rot="0" flipH="false" flipV="false">
            <a:off x="1143000" y="5918200"/>
            <a:ext cx="990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8A8578"/>
                </a:solidFill>
                <a:latin typeface="Lora"/>
                <a:ea typeface="Lora"/>
                <a:cs typeface="Lora"/>
                <a:sym typeface="Lora"/>
              </a:rPr>
              <a:t>Candidate  Heena Rathore  ·  Supervisor  [to be confirmed]  ·  [Programme / Department]  ·  2026</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4EFE4">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143000" y="711200"/>
            <a:ext cx="635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8C4A34"/>
                </a:solidFill>
                <a:latin typeface="Lora"/>
                <a:ea typeface="Lora"/>
                <a:cs typeface="Lora"/>
                <a:sym typeface="Lora"/>
              </a:rPr>
              <a:t>ROADMAP</a:t>
            </a:r>
            <a:endParaRPr lang="en-US" sz="1100"/>
          </a:p>
        </p:txBody>
      </p:sp>
      <p:sp>
        <p:nvSpPr>
          <p:cNvPr name="AutoShape 3" id="3"/>
          <p:cNvSpPr/>
          <p:nvPr/>
        </p:nvSpPr>
        <p:spPr>
          <a:xfrm rot="0" flipH="false" flipV="false">
            <a:off x="1143000" y="1016000"/>
            <a:ext cx="9906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000">
                <a:solidFill>
                  <a:srgbClr val="2A2A28"/>
                </a:solidFill>
                <a:latin typeface="Lora"/>
                <a:ea typeface="Lora"/>
                <a:cs typeface="Lora"/>
                <a:sym typeface="Lora"/>
              </a:rPr>
              <a:t>What this proposal will cover</a:t>
            </a:r>
            <a:endParaRPr lang="en-US" sz="1100"/>
          </a:p>
        </p:txBody>
      </p:sp>
      <p:cxnSp>
        <p:nvCxnSpPr>
          <p:cNvPr name="Connector 4" id="4"/>
          <p:cNvCxnSpPr/>
          <p:nvPr/>
        </p:nvCxnSpPr>
        <p:spPr>
          <a:xfrm rot="-4407" flipH="false" flipV="false">
            <a:off x="1143004" y="1847850"/>
            <a:ext cx="9906000" cy="12700"/>
          </a:xfrm>
          <a:prstGeom prst="straightConnector1">
            <a:avLst/>
          </a:prstGeom>
          <a:solidFill>
            <a:srgbClr val="DEE0E3">
              <a:alpha val="100000"/>
            </a:srgbClr>
          </a:solidFill>
          <a:ln w="12700" cmpd="sng" cap="flat">
            <a:solidFill>
              <a:srgbClr val="C9BFAE">
                <a:alpha val="100000"/>
              </a:srgbClr>
            </a:solidFill>
            <a:prstDash val="solid"/>
            <a:round/>
            <a:headEnd type="none" w="med" len="med"/>
            <a:tailEnd type="none" w="med" len="med"/>
          </a:ln>
        </p:spPr>
      </p:cxnSp>
      <p:sp>
        <p:nvSpPr>
          <p:cNvPr name="AutoShape 5" id="5"/>
          <p:cNvSpPr/>
          <p:nvPr/>
        </p:nvSpPr>
        <p:spPr>
          <a:xfrm rot="0" flipH="false" flipV="false">
            <a:off x="1143000" y="2286000"/>
            <a:ext cx="76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8C4A34"/>
                </a:solidFill>
                <a:latin typeface="Lora"/>
                <a:ea typeface="Lora"/>
                <a:cs typeface="Lora"/>
                <a:sym typeface="Lora"/>
              </a:rPr>
              <a:t>01</a:t>
            </a:r>
            <a:endParaRPr lang="en-US" sz="1100"/>
          </a:p>
        </p:txBody>
      </p:sp>
      <p:sp>
        <p:nvSpPr>
          <p:cNvPr name="AutoShape 6" id="6"/>
          <p:cNvSpPr/>
          <p:nvPr/>
        </p:nvSpPr>
        <p:spPr>
          <a:xfrm rot="0" flipH="false" flipV="false">
            <a:off x="1905000" y="2260600"/>
            <a:ext cx="4191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2A2A28"/>
                </a:solidFill>
                <a:latin typeface="Lora"/>
                <a:ea typeface="Lora"/>
                <a:cs typeface="Lora"/>
                <a:sym typeface="Lora"/>
              </a:rPr>
              <a:t>Background &amp; problem</a:t>
            </a:r>
            <a:r>
              <a:rPr lang="en-US" b="false" i="false" strike="noStrike" u="none" sz="1500">
                <a:solidFill>
                  <a:srgbClr val="2A2A28"/>
                </a:solidFill>
                <a:latin typeface="Lora"/>
                <a:ea typeface="Lora"/>
                <a:cs typeface="Lora"/>
                <a:sym typeface="Lora"/>
              </a:rPr>
              <a:t/>
            </a:r>
            <a:endParaRPr lang="en-US" sz="1100"/>
          </a:p>
          <a:p>
            <a:pPr algn="l" marL="0" indent="0">
              <a:lnSpc>
                <a:spcPct val="108333"/>
              </a:lnSpc>
            </a:pPr>
            <a:r>
              <a:rPr lang="en-US" b="false" i="false" strike="noStrike" u="none" sz="1500">
                <a:solidFill>
                  <a:srgbClr val="8A8578"/>
                </a:solidFill>
                <a:latin typeface="Lora"/>
                <a:ea typeface="Lora"/>
                <a:cs typeface="Lora"/>
                <a:sym typeface="Lora"/>
              </a:rPr>
              <a:t>Growth of Chinese in Pakistan; the materials problem</a:t>
            </a:r>
          </a:p>
        </p:txBody>
      </p:sp>
      <p:sp>
        <p:nvSpPr>
          <p:cNvPr name="AutoShape 7" id="7"/>
          <p:cNvSpPr/>
          <p:nvPr/>
        </p:nvSpPr>
        <p:spPr>
          <a:xfrm rot="0" flipH="false" flipV="false">
            <a:off x="1143000" y="3403600"/>
            <a:ext cx="76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8C4A34"/>
                </a:solidFill>
                <a:latin typeface="Lora"/>
                <a:ea typeface="Lora"/>
                <a:cs typeface="Lora"/>
                <a:sym typeface="Lora"/>
              </a:rPr>
              <a:t>02</a:t>
            </a:r>
            <a:endParaRPr lang="en-US" sz="1100"/>
          </a:p>
        </p:txBody>
      </p:sp>
      <p:sp>
        <p:nvSpPr>
          <p:cNvPr name="AutoShape 8" id="8"/>
          <p:cNvSpPr/>
          <p:nvPr/>
        </p:nvSpPr>
        <p:spPr>
          <a:xfrm rot="0" flipH="false" flipV="false">
            <a:off x="1905000" y="3378200"/>
            <a:ext cx="4191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2A2A28"/>
                </a:solidFill>
                <a:latin typeface="Lora"/>
                <a:ea typeface="Lora"/>
                <a:cs typeface="Lora"/>
                <a:sym typeface="Lora"/>
              </a:rPr>
              <a:t>Key concepts &amp; theoretical lens</a:t>
            </a:r>
            <a:r>
              <a:rPr lang="en-US" b="false" i="false" strike="noStrike" u="none" sz="1500">
                <a:solidFill>
                  <a:srgbClr val="2A2A28"/>
                </a:solidFill>
                <a:latin typeface="Lora"/>
                <a:ea typeface="Lora"/>
                <a:cs typeface="Lora"/>
                <a:sym typeface="Lora"/>
              </a:rPr>
              <a:t/>
            </a:r>
            <a:endParaRPr lang="en-US" sz="1100"/>
          </a:p>
          <a:p>
            <a:pPr algn="l" marL="0" indent="0">
              <a:lnSpc>
                <a:spcPct val="108333"/>
              </a:lnSpc>
            </a:pPr>
            <a:r>
              <a:rPr lang="en-US" b="false" i="false" strike="noStrike" u="none" sz="1500">
                <a:solidFill>
                  <a:srgbClr val="8A8578"/>
                </a:solidFill>
                <a:latin typeface="Lora"/>
                <a:ea typeface="Lora"/>
                <a:cs typeface="Lora"/>
                <a:sym typeface="Lora"/>
              </a:rPr>
              <a:t>Recontextualization and ecological agency</a:t>
            </a:r>
          </a:p>
        </p:txBody>
      </p:sp>
      <p:sp>
        <p:nvSpPr>
          <p:cNvPr name="AutoShape 9" id="9"/>
          <p:cNvSpPr/>
          <p:nvPr/>
        </p:nvSpPr>
        <p:spPr>
          <a:xfrm rot="0" flipH="false" flipV="false">
            <a:off x="1143000" y="4521200"/>
            <a:ext cx="76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8C4A34"/>
                </a:solidFill>
                <a:latin typeface="Lora"/>
                <a:ea typeface="Lora"/>
                <a:cs typeface="Lora"/>
                <a:sym typeface="Lora"/>
              </a:rPr>
              <a:t>03</a:t>
            </a:r>
            <a:endParaRPr lang="en-US" sz="1100"/>
          </a:p>
        </p:txBody>
      </p:sp>
      <p:sp>
        <p:nvSpPr>
          <p:cNvPr name="AutoShape 10" id="10"/>
          <p:cNvSpPr/>
          <p:nvPr/>
        </p:nvSpPr>
        <p:spPr>
          <a:xfrm rot="0" flipH="false" flipV="false">
            <a:off x="1905000" y="4495800"/>
            <a:ext cx="4191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2A2A28"/>
                </a:solidFill>
                <a:latin typeface="Lora"/>
                <a:ea typeface="Lora"/>
                <a:cs typeface="Lora"/>
                <a:sym typeface="Lora"/>
              </a:rPr>
              <a:t>Literature map &amp; gap</a:t>
            </a:r>
            <a:r>
              <a:rPr lang="en-US" b="false" i="false" strike="noStrike" u="none" sz="1500">
                <a:solidFill>
                  <a:srgbClr val="2A2A28"/>
                </a:solidFill>
                <a:latin typeface="Lora"/>
                <a:ea typeface="Lora"/>
                <a:cs typeface="Lora"/>
                <a:sym typeface="Lora"/>
              </a:rPr>
              <a:t/>
            </a:r>
            <a:endParaRPr lang="en-US" sz="1100"/>
          </a:p>
          <a:p>
            <a:pPr algn="l" marL="0" indent="0">
              <a:lnSpc>
                <a:spcPct val="108333"/>
              </a:lnSpc>
            </a:pPr>
            <a:r>
              <a:rPr lang="en-US" b="false" i="false" strike="noStrike" u="none" sz="1500">
                <a:solidFill>
                  <a:srgbClr val="8A8578"/>
                </a:solidFill>
                <a:latin typeface="Lora"/>
                <a:ea typeface="Lora"/>
                <a:cs typeface="Lora"/>
                <a:sym typeface="Lora"/>
              </a:rPr>
              <a:t>Four conversations not yet joined</a:t>
            </a:r>
          </a:p>
        </p:txBody>
      </p:sp>
      <p:sp>
        <p:nvSpPr>
          <p:cNvPr name="AutoShape 11" id="11"/>
          <p:cNvSpPr/>
          <p:nvPr/>
        </p:nvSpPr>
        <p:spPr>
          <a:xfrm rot="0" flipH="false" flipV="false">
            <a:off x="1143000" y="5638800"/>
            <a:ext cx="76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8C4A34"/>
                </a:solidFill>
                <a:latin typeface="Lora"/>
                <a:ea typeface="Lora"/>
                <a:cs typeface="Lora"/>
                <a:sym typeface="Lora"/>
              </a:rPr>
              <a:t>04</a:t>
            </a:r>
            <a:endParaRPr lang="en-US" sz="1100"/>
          </a:p>
        </p:txBody>
      </p:sp>
      <p:sp>
        <p:nvSpPr>
          <p:cNvPr name="AutoShape 12" id="12"/>
          <p:cNvSpPr/>
          <p:nvPr/>
        </p:nvSpPr>
        <p:spPr>
          <a:xfrm rot="0" flipH="false" flipV="false">
            <a:off x="1905000" y="5613400"/>
            <a:ext cx="4191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2A2A28"/>
                </a:solidFill>
                <a:latin typeface="Lora"/>
                <a:ea typeface="Lora"/>
                <a:cs typeface="Lora"/>
                <a:sym typeface="Lora"/>
              </a:rPr>
              <a:t>Research questions</a:t>
            </a:r>
            <a:r>
              <a:rPr lang="en-US" b="false" i="false" strike="noStrike" u="none" sz="1500">
                <a:solidFill>
                  <a:srgbClr val="2A2A28"/>
                </a:solidFill>
                <a:latin typeface="Lora"/>
                <a:ea typeface="Lora"/>
                <a:cs typeface="Lora"/>
                <a:sym typeface="Lora"/>
              </a:rPr>
              <a:t/>
            </a:r>
            <a:endParaRPr lang="en-US" sz="1100"/>
          </a:p>
          <a:p>
            <a:pPr algn="l" marL="0" indent="0">
              <a:lnSpc>
                <a:spcPct val="108333"/>
              </a:lnSpc>
            </a:pPr>
            <a:r>
              <a:rPr lang="en-US" b="false" i="false" strike="noStrike" u="none" sz="1500">
                <a:solidFill>
                  <a:srgbClr val="8A8578"/>
                </a:solidFill>
                <a:latin typeface="Lora"/>
                <a:ea typeface="Lora"/>
                <a:cs typeface="Lora"/>
                <a:sym typeface="Lora"/>
              </a:rPr>
              <a:t>One core question, three supporting questions</a:t>
            </a:r>
          </a:p>
        </p:txBody>
      </p:sp>
      <p:sp>
        <p:nvSpPr>
          <p:cNvPr name="AutoShape 13" id="13"/>
          <p:cNvSpPr/>
          <p:nvPr/>
        </p:nvSpPr>
        <p:spPr>
          <a:xfrm rot="0" flipH="false" flipV="false">
            <a:off x="6477000" y="2286000"/>
            <a:ext cx="76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8C4A34"/>
                </a:solidFill>
                <a:latin typeface="Lora"/>
                <a:ea typeface="Lora"/>
                <a:cs typeface="Lora"/>
                <a:sym typeface="Lora"/>
              </a:rPr>
              <a:t>05</a:t>
            </a:r>
            <a:endParaRPr lang="en-US" sz="1100"/>
          </a:p>
        </p:txBody>
      </p:sp>
      <p:sp>
        <p:nvSpPr>
          <p:cNvPr name="AutoShape 14" id="14"/>
          <p:cNvSpPr/>
          <p:nvPr/>
        </p:nvSpPr>
        <p:spPr>
          <a:xfrm rot="0" flipH="false" flipV="false">
            <a:off x="7239000" y="2260600"/>
            <a:ext cx="4191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2A2A28"/>
                </a:solidFill>
                <a:latin typeface="Lora"/>
                <a:ea typeface="Lora"/>
                <a:cs typeface="Lora"/>
                <a:sym typeface="Lora"/>
              </a:rPr>
              <a:t>Methodology &amp; data</a:t>
            </a:r>
            <a:r>
              <a:rPr lang="en-US" b="false" i="false" strike="noStrike" u="none" sz="1500">
                <a:solidFill>
                  <a:srgbClr val="2A2A28"/>
                </a:solidFill>
                <a:latin typeface="Lora"/>
                <a:ea typeface="Lora"/>
                <a:cs typeface="Lora"/>
                <a:sym typeface="Lora"/>
              </a:rPr>
              <a:t/>
            </a:r>
            <a:endParaRPr lang="en-US" sz="1100"/>
          </a:p>
          <a:p>
            <a:pPr algn="l" marL="0" indent="0">
              <a:lnSpc>
                <a:spcPct val="108333"/>
              </a:lnSpc>
            </a:pPr>
            <a:r>
              <a:rPr lang="en-US" b="false" i="false" strike="noStrike" u="none" sz="1500">
                <a:solidFill>
                  <a:srgbClr val="8A8578"/>
                </a:solidFill>
                <a:latin typeface="Lora"/>
                <a:ea typeface="Lora"/>
                <a:cs typeface="Lora"/>
                <a:sym typeface="Lora"/>
              </a:rPr>
              <a:t>Qualitative multiple-case study; sources, analysis</a:t>
            </a:r>
          </a:p>
        </p:txBody>
      </p:sp>
      <p:sp>
        <p:nvSpPr>
          <p:cNvPr name="AutoShape 15" id="15"/>
          <p:cNvSpPr/>
          <p:nvPr/>
        </p:nvSpPr>
        <p:spPr>
          <a:xfrm rot="0" flipH="false" flipV="false">
            <a:off x="6477000" y="3403600"/>
            <a:ext cx="76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8C4A34"/>
                </a:solidFill>
                <a:latin typeface="Lora"/>
                <a:ea typeface="Lora"/>
                <a:cs typeface="Lora"/>
                <a:sym typeface="Lora"/>
              </a:rPr>
              <a:t>06</a:t>
            </a:r>
            <a:endParaRPr lang="en-US" sz="1100"/>
          </a:p>
        </p:txBody>
      </p:sp>
      <p:sp>
        <p:nvSpPr>
          <p:cNvPr name="AutoShape 16" id="16"/>
          <p:cNvSpPr/>
          <p:nvPr/>
        </p:nvSpPr>
        <p:spPr>
          <a:xfrm rot="0" flipH="false" flipV="false">
            <a:off x="7239000" y="3378200"/>
            <a:ext cx="4191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2A2A28"/>
                </a:solidFill>
                <a:latin typeface="Lora"/>
                <a:ea typeface="Lora"/>
                <a:cs typeface="Lora"/>
                <a:sym typeface="Lora"/>
              </a:rPr>
              <a:t>Procedure &amp; thesis structure</a:t>
            </a:r>
            <a:r>
              <a:rPr lang="en-US" b="false" i="false" strike="noStrike" u="none" sz="1500">
                <a:solidFill>
                  <a:srgbClr val="2A2A28"/>
                </a:solidFill>
                <a:latin typeface="Lora"/>
                <a:ea typeface="Lora"/>
                <a:cs typeface="Lora"/>
                <a:sym typeface="Lora"/>
              </a:rPr>
              <a:t/>
            </a:r>
            <a:endParaRPr lang="en-US" sz="1100"/>
          </a:p>
          <a:p>
            <a:pPr algn="l" marL="0" indent="0">
              <a:lnSpc>
                <a:spcPct val="108333"/>
              </a:lnSpc>
            </a:pPr>
            <a:r>
              <a:rPr lang="en-US" b="false" i="false" strike="noStrike" u="none" sz="1500">
                <a:solidFill>
                  <a:srgbClr val="8A8578"/>
                </a:solidFill>
                <a:latin typeface="Lora"/>
                <a:ea typeface="Lora"/>
                <a:cs typeface="Lora"/>
                <a:sym typeface="Lora"/>
              </a:rPr>
              <a:t>Six study stages; seven chapters</a:t>
            </a:r>
          </a:p>
        </p:txBody>
      </p:sp>
      <p:sp>
        <p:nvSpPr>
          <p:cNvPr name="AutoShape 17" id="17"/>
          <p:cNvSpPr/>
          <p:nvPr/>
        </p:nvSpPr>
        <p:spPr>
          <a:xfrm rot="0" flipH="false" flipV="false">
            <a:off x="6477000" y="4521200"/>
            <a:ext cx="76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8C4A34"/>
                </a:solidFill>
                <a:latin typeface="Lora"/>
                <a:ea typeface="Lora"/>
                <a:cs typeface="Lora"/>
                <a:sym typeface="Lora"/>
              </a:rPr>
              <a:t>07</a:t>
            </a:r>
            <a:endParaRPr lang="en-US" sz="1100"/>
          </a:p>
        </p:txBody>
      </p:sp>
      <p:sp>
        <p:nvSpPr>
          <p:cNvPr name="AutoShape 18" id="18"/>
          <p:cNvSpPr/>
          <p:nvPr/>
        </p:nvSpPr>
        <p:spPr>
          <a:xfrm rot="0" flipH="false" flipV="false">
            <a:off x="7239000" y="4495800"/>
            <a:ext cx="4191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2A2A28"/>
                </a:solidFill>
                <a:latin typeface="Lora"/>
                <a:ea typeface="Lora"/>
                <a:cs typeface="Lora"/>
                <a:sym typeface="Lora"/>
              </a:rPr>
              <a:t>Foci, difficulties &amp; innovations</a:t>
            </a:r>
            <a:r>
              <a:rPr lang="en-US" b="false" i="false" strike="noStrike" u="none" sz="1500">
                <a:solidFill>
                  <a:srgbClr val="2A2A28"/>
                </a:solidFill>
                <a:latin typeface="Lora"/>
                <a:ea typeface="Lora"/>
                <a:cs typeface="Lora"/>
                <a:sym typeface="Lora"/>
              </a:rPr>
              <a:t/>
            </a:r>
            <a:endParaRPr lang="en-US" sz="1100"/>
          </a:p>
          <a:p>
            <a:pPr algn="l" marL="0" indent="0">
              <a:lnSpc>
                <a:spcPct val="108333"/>
              </a:lnSpc>
            </a:pPr>
            <a:r>
              <a:rPr lang="en-US" b="false" i="false" strike="noStrike" u="none" sz="1500">
                <a:solidFill>
                  <a:srgbClr val="8A8578"/>
                </a:solidFill>
                <a:latin typeface="Lora"/>
                <a:ea typeface="Lora"/>
                <a:cs typeface="Lora"/>
                <a:sym typeface="Lora"/>
              </a:rPr>
              <a:t>What the study centres; risks and how they are met</a:t>
            </a:r>
          </a:p>
        </p:txBody>
      </p:sp>
      <p:sp>
        <p:nvSpPr>
          <p:cNvPr name="AutoShape 19" id="19"/>
          <p:cNvSpPr/>
          <p:nvPr/>
        </p:nvSpPr>
        <p:spPr>
          <a:xfrm rot="0" flipH="false" flipV="false">
            <a:off x="6477000" y="5638800"/>
            <a:ext cx="76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8C4A34"/>
                </a:solidFill>
                <a:latin typeface="Lora"/>
                <a:ea typeface="Lora"/>
                <a:cs typeface="Lora"/>
                <a:sym typeface="Lora"/>
              </a:rPr>
              <a:t>08</a:t>
            </a:r>
            <a:endParaRPr lang="en-US" sz="1100"/>
          </a:p>
        </p:txBody>
      </p:sp>
      <p:sp>
        <p:nvSpPr>
          <p:cNvPr name="AutoShape 20" id="20"/>
          <p:cNvSpPr/>
          <p:nvPr/>
        </p:nvSpPr>
        <p:spPr>
          <a:xfrm rot="0" flipH="false" flipV="false">
            <a:off x="7239000" y="5613400"/>
            <a:ext cx="4191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500">
                <a:solidFill>
                  <a:srgbClr val="2A2A28"/>
                </a:solidFill>
                <a:latin typeface="Lora"/>
                <a:ea typeface="Lora"/>
                <a:cs typeface="Lora"/>
                <a:sym typeface="Lora"/>
              </a:rPr>
              <a:t>Significance &amp; contribution</a:t>
            </a:r>
            <a:r>
              <a:rPr lang="en-US" b="false" i="false" strike="noStrike" u="none" sz="1500">
                <a:solidFill>
                  <a:srgbClr val="2A2A28"/>
                </a:solidFill>
                <a:latin typeface="Lora"/>
                <a:ea typeface="Lora"/>
                <a:cs typeface="Lora"/>
                <a:sym typeface="Lora"/>
              </a:rPr>
              <a:t/>
            </a:r>
            <a:endParaRPr lang="en-US" sz="1100"/>
          </a:p>
          <a:p>
            <a:pPr algn="l" marL="0" indent="0">
              <a:lnSpc>
                <a:spcPct val="108333"/>
              </a:lnSpc>
            </a:pPr>
            <a:r>
              <a:rPr lang="en-US" b="false" i="false" strike="noStrike" u="none" sz="1500">
                <a:solidFill>
                  <a:srgbClr val="8A8578"/>
                </a:solidFill>
                <a:latin typeface="Lora"/>
                <a:ea typeface="Lora"/>
                <a:cs typeface="Lora"/>
                <a:sym typeface="Lora"/>
              </a:rPr>
              <a:t>Theoretical and practical value</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4EFE4">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143000" y="711200"/>
            <a:ext cx="635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8C4A34"/>
                </a:solidFill>
                <a:latin typeface="Lora"/>
                <a:ea typeface="Lora"/>
                <a:cs typeface="Lora"/>
                <a:sym typeface="Lora"/>
              </a:rPr>
              <a:t>01 · BACKGROUND</a:t>
            </a:r>
            <a:endParaRPr lang="en-US" sz="1100"/>
          </a:p>
        </p:txBody>
      </p:sp>
      <p:sp>
        <p:nvSpPr>
          <p:cNvPr name="AutoShape 3" id="3"/>
          <p:cNvSpPr/>
          <p:nvPr/>
        </p:nvSpPr>
        <p:spPr>
          <a:xfrm rot="0" flipH="false" flipV="false">
            <a:off x="1143000" y="1016000"/>
            <a:ext cx="9906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900">
                <a:solidFill>
                  <a:srgbClr val="2A2A28"/>
                </a:solidFill>
                <a:latin typeface="Lora"/>
                <a:ea typeface="Lora"/>
                <a:cs typeface="Lora"/>
                <a:sym typeface="Lora"/>
              </a:rPr>
              <a:t>Chinese in Pakistan grew fast, but unevenly</a:t>
            </a:r>
            <a:endParaRPr lang="en-US" sz="1100"/>
          </a:p>
        </p:txBody>
      </p:sp>
      <p:cxnSp>
        <p:nvCxnSpPr>
          <p:cNvPr name="Connector 4" id="4"/>
          <p:cNvCxnSpPr/>
          <p:nvPr/>
        </p:nvCxnSpPr>
        <p:spPr>
          <a:xfrm rot="-4407" flipH="false" flipV="false">
            <a:off x="1143004" y="1847850"/>
            <a:ext cx="9906000" cy="12700"/>
          </a:xfrm>
          <a:prstGeom prst="straightConnector1">
            <a:avLst/>
          </a:prstGeom>
          <a:solidFill>
            <a:srgbClr val="DEE0E3">
              <a:alpha val="100000"/>
            </a:srgbClr>
          </a:solidFill>
          <a:ln w="12700" cmpd="sng" cap="flat">
            <a:solidFill>
              <a:srgbClr val="C9BFAE">
                <a:alpha val="100000"/>
              </a:srgbClr>
            </a:solidFill>
            <a:prstDash val="solid"/>
            <a:round/>
            <a:headEnd type="none" w="med" len="med"/>
            <a:tailEnd type="none" w="med" len="med"/>
          </a:ln>
        </p:spPr>
      </p:cxnSp>
      <p:cxnSp>
        <p:nvCxnSpPr>
          <p:cNvPr name="Connector 5" id="5"/>
          <p:cNvCxnSpPr/>
          <p:nvPr/>
        </p:nvCxnSpPr>
        <p:spPr>
          <a:xfrm rot="5385308" flipH="false" flipV="false">
            <a:off x="-165100" y="3968764"/>
            <a:ext cx="2971800" cy="12700"/>
          </a:xfrm>
          <a:prstGeom prst="straightConnector1">
            <a:avLst/>
          </a:prstGeom>
          <a:solidFill>
            <a:srgbClr val="DEE0E3">
              <a:alpha val="100000"/>
            </a:srgbClr>
          </a:solidFill>
          <a:ln w="12700" cmpd="sng" cap="flat">
            <a:solidFill>
              <a:srgbClr val="C9BFAE">
                <a:alpha val="100000"/>
              </a:srgbClr>
            </a:solidFill>
            <a:prstDash val="solid"/>
            <a:round/>
            <a:headEnd type="none" w="med" len="med"/>
            <a:tailEnd type="none" w="med" len="med"/>
          </a:ln>
        </p:spPr>
      </p:cxnSp>
      <p:sp>
        <p:nvSpPr>
          <p:cNvPr name="AutoShape 6" id="6"/>
          <p:cNvSpPr/>
          <p:nvPr/>
        </p:nvSpPr>
        <p:spPr>
          <a:xfrm rot="0" flipH="false" flipV="false">
            <a:off x="1257300" y="2425700"/>
            <a:ext cx="127000" cy="127000"/>
          </a:xfrm>
          <a:prstGeom prst="ellipse">
            <a:avLst/>
          </a:prstGeom>
          <a:solidFill>
            <a:srgbClr val="8C4A3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1625600" y="2286000"/>
            <a:ext cx="3810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true" i="false" strike="noStrike" u="none" sz="1600">
                <a:solidFill>
                  <a:srgbClr val="8C4A34"/>
                </a:solidFill>
                <a:latin typeface="Lora"/>
                <a:ea typeface="Lora"/>
                <a:cs typeface="Lora"/>
                <a:sym typeface="Lora"/>
              </a:rPr>
              <a:t>2005</a:t>
            </a:r>
            <a:r>
              <a:rPr lang="en-US" b="false" i="false" strike="noStrike" u="none" sz="1400">
                <a:solidFill>
                  <a:srgbClr val="4A4842"/>
                </a:solidFill>
                <a:latin typeface="Lora"/>
                <a:ea typeface="Lora"/>
                <a:cs typeface="Lora"/>
                <a:sym typeface="Lora"/>
              </a:rPr>
              <a:t> First Confucius Institute opens at NUML, Islamabad. Chinese is a small, specialist subject tied to diplomacy and trade.</a:t>
            </a:r>
            <a:endParaRPr lang="en-US" sz="1100"/>
          </a:p>
        </p:txBody>
      </p:sp>
      <p:sp>
        <p:nvSpPr>
          <p:cNvPr name="AutoShape 8" id="8"/>
          <p:cNvSpPr/>
          <p:nvPr/>
        </p:nvSpPr>
        <p:spPr>
          <a:xfrm rot="0" flipH="false" flipV="false">
            <a:off x="1257300" y="3695700"/>
            <a:ext cx="127000" cy="127000"/>
          </a:xfrm>
          <a:prstGeom prst="ellipse">
            <a:avLst/>
          </a:prstGeom>
          <a:solidFill>
            <a:srgbClr val="8C4A3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1625600" y="3556000"/>
            <a:ext cx="3810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true" i="false" strike="noStrike" u="none" sz="1600">
                <a:solidFill>
                  <a:srgbClr val="8C4A34"/>
                </a:solidFill>
                <a:latin typeface="Lora"/>
                <a:ea typeface="Lora"/>
                <a:cs typeface="Lora"/>
                <a:sym typeface="Lora"/>
              </a:rPr>
              <a:t>2010s</a:t>
            </a:r>
            <a:r>
              <a:rPr lang="en-US" b="false" i="false" strike="noStrike" u="none" sz="1400">
                <a:solidFill>
                  <a:srgbClr val="4A4842"/>
                </a:solidFill>
                <a:latin typeface="Lora"/>
                <a:ea typeface="Lora"/>
                <a:cs typeface="Lora"/>
                <a:sym typeface="Lora"/>
              </a:rPr>
              <a:t> Four more Institutes follow; CPEC ties Chinese proficiency directly to jobs, scholarships and student mobility.</a:t>
            </a:r>
            <a:endParaRPr lang="en-US" sz="1100"/>
          </a:p>
        </p:txBody>
      </p:sp>
      <p:sp>
        <p:nvSpPr>
          <p:cNvPr name="AutoShape 10" id="10"/>
          <p:cNvSpPr/>
          <p:nvPr/>
        </p:nvSpPr>
        <p:spPr>
          <a:xfrm rot="0" flipH="false" flipV="false">
            <a:off x="1257300" y="4965700"/>
            <a:ext cx="127000" cy="127000"/>
          </a:xfrm>
          <a:prstGeom prst="ellipse">
            <a:avLst/>
          </a:prstGeom>
          <a:solidFill>
            <a:srgbClr val="8C4A34">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1625600" y="4826000"/>
            <a:ext cx="38100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true" i="false" strike="noStrike" u="none" sz="1600">
                <a:solidFill>
                  <a:srgbClr val="8C4A34"/>
                </a:solidFill>
                <a:latin typeface="Lora"/>
                <a:ea typeface="Lora"/>
                <a:cs typeface="Lora"/>
                <a:sym typeface="Lora"/>
              </a:rPr>
              <a:t>Today</a:t>
            </a:r>
            <a:r>
              <a:rPr lang="en-US" b="false" i="false" strike="noStrike" u="none" sz="1400">
                <a:solidFill>
                  <a:srgbClr val="4A4842"/>
                </a:solidFill>
                <a:latin typeface="Lora"/>
                <a:ea typeface="Lora"/>
                <a:cs typeface="Lora"/>
                <a:sym typeface="Lora"/>
              </a:rPr>
              <a:t> Degree, required, elective and short-course programmes nationwide, each with its own learners, goals and support.</a:t>
            </a:r>
            <a:endParaRPr lang="en-US" sz="1100"/>
          </a:p>
        </p:txBody>
      </p:sp>
      <p:cxnSp>
        <p:nvCxnSpPr>
          <p:cNvPr name="Connector 12" id="12"/>
          <p:cNvCxnSpPr/>
          <p:nvPr/>
        </p:nvCxnSpPr>
        <p:spPr>
          <a:xfrm rot="5386777" flipH="false" flipV="false">
            <a:off x="4318000" y="3930662"/>
            <a:ext cx="3302000" cy="12700"/>
          </a:xfrm>
          <a:prstGeom prst="straightConnector1">
            <a:avLst/>
          </a:prstGeom>
          <a:solidFill>
            <a:srgbClr val="DEE0E3">
              <a:alpha val="100000"/>
            </a:srgbClr>
          </a:solidFill>
          <a:ln w="12700" cmpd="sng" cap="flat">
            <a:solidFill>
              <a:srgbClr val="C9BFAE">
                <a:alpha val="100000"/>
              </a:srgbClr>
            </a:solidFill>
            <a:prstDash val="solid"/>
            <a:round/>
            <a:headEnd type="none" w="med" len="med"/>
            <a:tailEnd type="none" w="med" len="med"/>
          </a:ln>
        </p:spPr>
      </p:cxnSp>
      <p:sp>
        <p:nvSpPr>
          <p:cNvPr name="AutoShape 13" id="13"/>
          <p:cNvSpPr/>
          <p:nvPr/>
        </p:nvSpPr>
        <p:spPr>
          <a:xfrm rot="0" flipH="false" flipV="false">
            <a:off x="6350000" y="2286000"/>
            <a:ext cx="4699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2A2A28"/>
                </a:solidFill>
                <a:latin typeface="Lora"/>
                <a:ea typeface="Lora"/>
                <a:cs typeface="Lora"/>
                <a:sym typeface="Lora"/>
              </a:rPr>
              <a:t>Growth did not mean uniformity</a:t>
            </a:r>
            <a:endParaRPr lang="en-US" sz="1100"/>
          </a:p>
        </p:txBody>
      </p:sp>
      <p:sp>
        <p:nvSpPr>
          <p:cNvPr name="AutoShape 14" id="14"/>
          <p:cNvSpPr/>
          <p:nvPr/>
        </p:nvSpPr>
        <p:spPr>
          <a:xfrm rot="0" flipH="false" flipV="false">
            <a:off x="6350000" y="2819400"/>
            <a:ext cx="4699000" cy="317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9166"/>
              </a:lnSpc>
              <a:defRPr/>
            </a:pPr>
            <a:r>
              <a:rPr lang="en-US" b="false" i="false" strike="noStrike" u="none" sz="1400">
                <a:solidFill>
                  <a:srgbClr val="4A4842"/>
                </a:solidFill>
                <a:latin typeface="Lora"/>
                <a:ea typeface="Lora"/>
                <a:cs typeface="Lora"/>
                <a:sym typeface="Lora"/>
              </a:rPr>
              <a:t>· At a public engineering university, policy and classroom reality diverged sharply on class size and medium of instruction once implementation was examined (Khan et al., 2022).</a:t>
            </a:r>
            <a:endParaRPr lang="en-US" sz="1100"/>
          </a:p>
          <a:p>
            <a:pPr algn="l" marL="0" indent="0">
              <a:lnSpc>
                <a:spcPct val="129166"/>
              </a:lnSpc>
            </a:pPr>
            <a:r>
              <a:rPr lang="en-US" b="false" i="false" strike="noStrike" u="none" sz="1400">
                <a:solidFill>
                  <a:srgbClr val="4A4842"/>
                </a:solidFill>
                <a:latin typeface="Lora"/>
                <a:ea typeface="Lora"/>
                <a:cs typeface="Lora"/>
                <a:sym typeface="Lora"/>
              </a:rPr>
              <a:t>· Chinese enters a landscape where English, Urdu and regional languages already carry unequal social and educational weight (Ali &amp; David, 2022).</a:t>
            </a:r>
          </a:p>
          <a:p>
            <a:pPr algn="l" marL="0" indent="0">
              <a:lnSpc>
                <a:spcPct val="129166"/>
              </a:lnSpc>
            </a:pPr>
            <a:r>
              <a:rPr lang="en-US" b="false" i="false" strike="noStrike" u="none" sz="1400">
                <a:solidFill>
                  <a:srgbClr val="4A4842"/>
                </a:solidFill>
                <a:latin typeface="Lora"/>
                <a:ea typeface="Lora"/>
                <a:cs typeface="Lora"/>
                <a:sym typeface="Lora"/>
              </a:rPr>
              <a:t>· Learners report persistent worry about speaking, reading and writing, and doubt over ever reaching a usable level (Aftab &amp; Abbasi, 2024; Iftikhar et al., 2024).</a:t>
            </a:r>
          </a:p>
        </p:txBody>
      </p:sp>
      <p:sp>
        <p:nvSpPr>
          <p:cNvPr name="AutoShape 15" id="15"/>
          <p:cNvSpPr/>
          <p:nvPr/>
        </p:nvSpPr>
        <p:spPr>
          <a:xfrm rot="0" flipH="false" flipV="false">
            <a:off x="1143000" y="6350000"/>
            <a:ext cx="9906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8A8578"/>
                </a:solidFill>
                <a:latin typeface="Lora"/>
                <a:ea typeface="Lora"/>
                <a:cs typeface="Lora"/>
                <a:sym typeface="Lora"/>
              </a:rPr>
              <a:t>Sources: Hanif (2023); Khan, Zaki &amp; Memon (2022); Ali &amp; David (2022); Aftab &amp; Abbasi (2024).</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4EFE4">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143000" y="711200"/>
            <a:ext cx="635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8C4A34"/>
                </a:solidFill>
                <a:latin typeface="Lora"/>
                <a:ea typeface="Lora"/>
                <a:cs typeface="Lora"/>
                <a:sym typeface="Lora"/>
              </a:rPr>
              <a:t>01 · PROBLEM</a:t>
            </a:r>
            <a:endParaRPr lang="en-US" sz="1100"/>
          </a:p>
        </p:txBody>
      </p:sp>
      <p:sp>
        <p:nvSpPr>
          <p:cNvPr name="AutoShape 3" id="3"/>
          <p:cNvSpPr/>
          <p:nvPr/>
        </p:nvSpPr>
        <p:spPr>
          <a:xfrm rot="0" flipH="false" flipV="false">
            <a:off x="1143000" y="1016000"/>
            <a:ext cx="990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2700">
                <a:solidFill>
                  <a:srgbClr val="2A2A28"/>
                </a:solidFill>
                <a:latin typeface="Lora"/>
                <a:ea typeface="Lora"/>
                <a:cs typeface="Lora"/>
                <a:sym typeface="Lora"/>
              </a:rPr>
              <a:t>The gap is today's classroom, not a future textbook</a:t>
            </a:r>
            <a:endParaRPr lang="en-US" sz="1100"/>
          </a:p>
        </p:txBody>
      </p:sp>
      <p:cxnSp>
        <p:nvCxnSpPr>
          <p:cNvPr name="Connector 4" id="4"/>
          <p:cNvCxnSpPr/>
          <p:nvPr/>
        </p:nvCxnSpPr>
        <p:spPr>
          <a:xfrm rot="-4407" flipH="false" flipV="false">
            <a:off x="1143004" y="1898650"/>
            <a:ext cx="9906000" cy="12700"/>
          </a:xfrm>
          <a:prstGeom prst="straightConnector1">
            <a:avLst/>
          </a:prstGeom>
          <a:solidFill>
            <a:srgbClr val="DEE0E3">
              <a:alpha val="100000"/>
            </a:srgbClr>
          </a:solidFill>
          <a:ln w="12700" cmpd="sng" cap="flat">
            <a:solidFill>
              <a:srgbClr val="C9BFAE">
                <a:alpha val="100000"/>
              </a:srgbClr>
            </a:solidFill>
            <a:prstDash val="solid"/>
            <a:round/>
            <a:headEnd type="none" w="med" len="med"/>
            <a:tailEnd type="none" w="med" len="med"/>
          </a:ln>
        </p:spPr>
      </p:cxnSp>
      <p:sp>
        <p:nvSpPr>
          <p:cNvPr name="AutoShape 5" id="5"/>
          <p:cNvSpPr/>
          <p:nvPr/>
        </p:nvSpPr>
        <p:spPr>
          <a:xfrm rot="0" flipH="false" flipV="false">
            <a:off x="1143000" y="2260600"/>
            <a:ext cx="419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8A8578"/>
                </a:solidFill>
                <a:latin typeface="Lora"/>
                <a:ea typeface="Lora"/>
                <a:cs typeface="Lora"/>
                <a:sym typeface="Lora"/>
              </a:rPr>
              <a:t>What existing research proposes</a:t>
            </a:r>
            <a:endParaRPr lang="en-US" sz="1100"/>
          </a:p>
        </p:txBody>
      </p:sp>
      <p:sp>
        <p:nvSpPr>
          <p:cNvPr name="AutoShape 6" id="6"/>
          <p:cNvSpPr/>
          <p:nvPr/>
        </p:nvSpPr>
        <p:spPr>
          <a:xfrm rot="0" flipH="false" flipV="false">
            <a:off x="1143000" y="2768600"/>
            <a:ext cx="4191000" cy="254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500">
                <a:solidFill>
                  <a:srgbClr val="4A4842"/>
                </a:solidFill>
                <a:latin typeface="Lora"/>
                <a:ea typeface="Lora"/>
                <a:cs typeface="Lora"/>
                <a:sym typeface="Lora"/>
              </a:rPr>
              <a:t>· Produce a new </a:t>
            </a:r>
            <a:r>
              <a:rPr lang="en-US" b="true" i="false" strike="noStrike" u="none" sz="1500">
                <a:solidFill>
                  <a:srgbClr val="4A4842"/>
                </a:solidFill>
                <a:latin typeface="Lora"/>
                <a:ea typeface="Lora"/>
                <a:cs typeface="Lora"/>
                <a:sym typeface="Lora"/>
              </a:rPr>
              <a:t>localized textbook</a:t>
            </a:r>
            <a:r>
              <a:rPr lang="en-US" b="false" i="false" strike="noStrike" u="none" sz="1500">
                <a:solidFill>
                  <a:srgbClr val="4A4842"/>
                </a:solidFill>
                <a:latin typeface="Lora"/>
                <a:ea typeface="Lora"/>
                <a:cs typeface="Lora"/>
                <a:sym typeface="Lora"/>
              </a:rPr>
              <a:t/>
            </a:r>
            <a:endParaRPr lang="en-US" sz="1100"/>
          </a:p>
          <a:p>
            <a:pPr algn="l" marL="0" indent="0">
              <a:lnSpc>
                <a:spcPct val="133333"/>
              </a:lnSpc>
            </a:pPr>
            <a:r>
              <a:rPr lang="en-US" b="false" i="false" strike="noStrike" u="none" sz="1500">
                <a:solidFill>
                  <a:srgbClr val="4A4842"/>
                </a:solidFill>
                <a:latin typeface="Lora"/>
                <a:ea typeface="Lora"/>
                <a:cs typeface="Lora"/>
                <a:sym typeface="Lora"/>
              </a:rPr>
              <a:t>· Write revised </a:t>
            </a:r>
            <a:r>
              <a:rPr lang="en-US" b="true" i="false" strike="noStrike" u="none" sz="1500">
                <a:solidFill>
                  <a:srgbClr val="4A4842"/>
                </a:solidFill>
                <a:latin typeface="Lora"/>
                <a:ea typeface="Lora"/>
                <a:cs typeface="Lora"/>
                <a:sym typeface="Lora"/>
              </a:rPr>
              <a:t>modules</a:t>
            </a:r>
            <a:r>
              <a:rPr lang="en-US" b="false" i="false" strike="noStrike" u="none" sz="1500">
                <a:solidFill>
                  <a:srgbClr val="4A4842"/>
                </a:solidFill>
                <a:latin typeface="Lora"/>
                <a:ea typeface="Lora"/>
                <a:cs typeface="Lora"/>
                <a:sym typeface="Lora"/>
              </a:rPr>
              <a:t> with Urdu annotations and local cultural comparisons</a:t>
            </a:r>
          </a:p>
          <a:p>
            <a:pPr algn="l" marL="0" indent="0">
              <a:lnSpc>
                <a:spcPct val="133333"/>
              </a:lnSpc>
            </a:pPr>
            <a:r>
              <a:rPr lang="en-US" b="false" i="false" strike="noStrike" u="none" sz="1500">
                <a:solidFill>
                  <a:srgbClr val="4A4842"/>
                </a:solidFill>
                <a:latin typeface="Lora"/>
                <a:ea typeface="Lora"/>
                <a:cs typeface="Lora"/>
                <a:sym typeface="Lora"/>
              </a:rPr>
              <a:t>· Build stronger </a:t>
            </a:r>
            <a:r>
              <a:rPr lang="en-US" b="true" i="false" strike="noStrike" u="none" sz="1500">
                <a:solidFill>
                  <a:srgbClr val="4A4842"/>
                </a:solidFill>
                <a:latin typeface="Lora"/>
                <a:ea typeface="Lora"/>
                <a:cs typeface="Lora"/>
                <a:sym typeface="Lora"/>
              </a:rPr>
              <a:t>teacher preparation</a:t>
            </a:r>
            <a:r>
              <a:rPr lang="en-US" b="false" i="false" strike="noStrike" u="none" sz="1500">
                <a:solidFill>
                  <a:srgbClr val="4A4842"/>
                </a:solidFill>
                <a:latin typeface="Lora"/>
                <a:ea typeface="Lora"/>
                <a:cs typeface="Lora"/>
                <a:sym typeface="Lora"/>
              </a:rPr>
              <a:t> programmes</a:t>
            </a:r>
          </a:p>
          <a:p>
            <a:pPr algn="l" marL="0" indent="0">
              <a:lnSpc>
                <a:spcPct val="133333"/>
              </a:lnSpc>
            </a:pPr>
            <a:r>
              <a:rPr lang="en-US" b="false" i="false" strike="noStrike" u="none" sz="1500">
                <a:solidFill>
                  <a:srgbClr val="8A8578"/>
                </a:solidFill>
                <a:latin typeface="Lora"/>
                <a:ea typeface="Lora"/>
                <a:cs typeface="Lora"/>
                <a:sym typeface="Lora"/>
              </a:rPr>
              <a:t>These are all product-side fixes, they take years to reach a classroom.</a:t>
            </a:r>
          </a:p>
        </p:txBody>
      </p:sp>
      <p:cxnSp>
        <p:nvCxnSpPr>
          <p:cNvPr name="Connector 7" id="7"/>
          <p:cNvCxnSpPr/>
          <p:nvPr/>
        </p:nvCxnSpPr>
        <p:spPr>
          <a:xfrm rot="-42969" flipH="false" flipV="false">
            <a:off x="5588040" y="4057650"/>
            <a:ext cx="1016000" cy="12700"/>
          </a:xfrm>
          <a:prstGeom prst="straightConnector1">
            <a:avLst/>
          </a:prstGeom>
          <a:solidFill>
            <a:srgbClr val="DEE0E3">
              <a:alpha val="100000"/>
            </a:srgbClr>
          </a:solidFill>
          <a:ln w="25400" cmpd="sng" cap="flat">
            <a:solidFill>
              <a:srgbClr val="8C4A34">
                <a:alpha val="100000"/>
              </a:srgbClr>
            </a:solidFill>
            <a:prstDash val="solid"/>
            <a:round/>
            <a:headEnd type="none" w="lg" len="lg"/>
            <a:tailEnd type="triangle" w="lg" len="lg"/>
          </a:ln>
        </p:spPr>
      </p:cxnSp>
      <p:sp>
        <p:nvSpPr>
          <p:cNvPr name="AutoShape 8" id="8"/>
          <p:cNvSpPr/>
          <p:nvPr/>
        </p:nvSpPr>
        <p:spPr>
          <a:xfrm rot="0" flipH="false" flipV="false">
            <a:off x="6858000" y="2260600"/>
            <a:ext cx="4191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8C4A34"/>
                </a:solidFill>
                <a:latin typeface="Lora"/>
                <a:ea typeface="Lora"/>
                <a:cs typeface="Lora"/>
                <a:sym typeface="Lora"/>
              </a:rPr>
              <a:t>What teachers already do</a:t>
            </a:r>
            <a:endParaRPr lang="en-US" sz="1100"/>
          </a:p>
        </p:txBody>
      </p:sp>
      <p:sp>
        <p:nvSpPr>
          <p:cNvPr name="AutoShape 9" id="9"/>
          <p:cNvSpPr/>
          <p:nvPr/>
        </p:nvSpPr>
        <p:spPr>
          <a:xfrm rot="0" flipH="false" flipV="false">
            <a:off x="6858000" y="2768600"/>
            <a:ext cx="4191000" cy="254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500">
                <a:solidFill>
                  <a:srgbClr val="4A4842"/>
                </a:solidFill>
                <a:latin typeface="Lora"/>
                <a:ea typeface="Lora"/>
                <a:cs typeface="Lora"/>
                <a:sym typeface="Lora"/>
              </a:rPr>
              <a:t>While that book is being written, teachers still walk in and teach.</a:t>
            </a:r>
            <a:endParaRPr lang="en-US" sz="1100"/>
          </a:p>
          <a:p>
            <a:pPr algn="l" marL="0" indent="0">
              <a:lnSpc>
                <a:spcPct val="133333"/>
              </a:lnSpc>
            </a:pPr>
            <a:r>
              <a:rPr lang="en-US" b="false" i="false" strike="noStrike" u="none" sz="1500">
                <a:solidFill>
                  <a:srgbClr val="4A4842"/>
                </a:solidFill>
                <a:latin typeface="Lora"/>
                <a:ea typeface="Lora"/>
                <a:cs typeface="Lora"/>
                <a:sym typeface="Lora"/>
              </a:rPr>
              <a:t>With a page that does not quite fit, they must, in the moment:</a:t>
            </a:r>
          </a:p>
          <a:p>
            <a:pPr algn="l" marL="0" indent="0">
              <a:lnSpc>
                <a:spcPct val="133333"/>
              </a:lnSpc>
            </a:pPr>
            <a:r>
              <a:rPr lang="en-US" b="false" i="false" strike="noStrike" u="none" sz="1500">
                <a:solidFill>
                  <a:srgbClr val="2A2A28"/>
                </a:solidFill>
                <a:latin typeface="Lora"/>
                <a:ea typeface="Lora"/>
                <a:cs typeface="Lora"/>
                <a:sym typeface="Lora"/>
              </a:rPr>
              <a:t>translate to Urdu · add a familiar example · skip a section · or simply teach the page as written.</a:t>
            </a:r>
          </a:p>
        </p:txBody>
      </p:sp>
      <p:cxnSp>
        <p:nvCxnSpPr>
          <p:cNvPr name="Connector 10" id="10"/>
          <p:cNvCxnSpPr/>
          <p:nvPr/>
        </p:nvCxnSpPr>
        <p:spPr>
          <a:xfrm rot="-4407" flipH="false" flipV="false">
            <a:off x="1143004" y="5784850"/>
            <a:ext cx="9906000" cy="12700"/>
          </a:xfrm>
          <a:prstGeom prst="straightConnector1">
            <a:avLst/>
          </a:prstGeom>
          <a:solidFill>
            <a:srgbClr val="DEE0E3">
              <a:alpha val="100000"/>
            </a:srgbClr>
          </a:solidFill>
          <a:ln w="12700" cmpd="sng" cap="flat">
            <a:solidFill>
              <a:srgbClr val="C9BFAE">
                <a:alpha val="100000"/>
              </a:srgbClr>
            </a:solidFill>
            <a:prstDash val="solid"/>
            <a:round/>
            <a:headEnd type="none" w="med" len="med"/>
            <a:tailEnd type="none" w="med" len="med"/>
          </a:ln>
        </p:spPr>
      </p:cxnSp>
      <p:sp>
        <p:nvSpPr>
          <p:cNvPr name="AutoShape 11" id="11"/>
          <p:cNvSpPr/>
          <p:nvPr/>
        </p:nvSpPr>
        <p:spPr>
          <a:xfrm rot="0" flipH="false" flipV="false">
            <a:off x="1143000" y="5943600"/>
            <a:ext cx="990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true" strike="noStrike" u="none" sz="1500">
                <a:solidFill>
                  <a:srgbClr val="2A2A28"/>
                </a:solidFill>
                <a:latin typeface="Lora"/>
                <a:ea typeface="Lora"/>
                <a:cs typeface="Lora"/>
                <a:sym typeface="Lora"/>
              </a:rPr>
              <a:t>The study begins not from the materials that could exist in future, but from what teachers already do with the materials sitting in front of them.</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4EFE4">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143000" y="711200"/>
            <a:ext cx="635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8C4A34"/>
                </a:solidFill>
                <a:latin typeface="Lora"/>
                <a:ea typeface="Lora"/>
                <a:cs typeface="Lora"/>
                <a:sym typeface="Lora"/>
              </a:rPr>
              <a:t>02 · KEY CONCEPTS</a:t>
            </a:r>
            <a:endParaRPr lang="en-US" sz="1100"/>
          </a:p>
        </p:txBody>
      </p:sp>
      <p:sp>
        <p:nvSpPr>
          <p:cNvPr name="AutoShape 3" id="3"/>
          <p:cNvSpPr/>
          <p:nvPr/>
        </p:nvSpPr>
        <p:spPr>
          <a:xfrm rot="0" flipH="false" flipV="false">
            <a:off x="1143000" y="1016000"/>
            <a:ext cx="9906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900">
                <a:solidFill>
                  <a:srgbClr val="2A2A28"/>
                </a:solidFill>
                <a:latin typeface="Lora"/>
                <a:ea typeface="Lora"/>
                <a:cs typeface="Lora"/>
                <a:sym typeface="Lora"/>
              </a:rPr>
              <a:t>Recontextualization is not localization</a:t>
            </a:r>
            <a:endParaRPr lang="en-US" sz="1100"/>
          </a:p>
        </p:txBody>
      </p:sp>
      <p:cxnSp>
        <p:nvCxnSpPr>
          <p:cNvPr name="Connector 4" id="4"/>
          <p:cNvCxnSpPr/>
          <p:nvPr/>
        </p:nvCxnSpPr>
        <p:spPr>
          <a:xfrm rot="-4407" flipH="false" flipV="false">
            <a:off x="1143004" y="1847850"/>
            <a:ext cx="9906000" cy="12700"/>
          </a:xfrm>
          <a:prstGeom prst="straightConnector1">
            <a:avLst/>
          </a:prstGeom>
          <a:solidFill>
            <a:srgbClr val="DEE0E3">
              <a:alpha val="100000"/>
            </a:srgbClr>
          </a:solidFill>
          <a:ln w="12700" cmpd="sng" cap="flat">
            <a:solidFill>
              <a:srgbClr val="C9BFAE">
                <a:alpha val="100000"/>
              </a:srgbClr>
            </a:solidFill>
            <a:prstDash val="solid"/>
            <a:round/>
            <a:headEnd type="none" w="med" len="med"/>
            <a:tailEnd type="none" w="med" len="med"/>
          </a:ln>
        </p:spPr>
      </p:cxnSp>
      <p:sp>
        <p:nvSpPr>
          <p:cNvPr name="AutoShape 5" id="5"/>
          <p:cNvSpPr/>
          <p:nvPr/>
        </p:nvSpPr>
        <p:spPr>
          <a:xfrm rot="0" flipH="false" flipV="false">
            <a:off x="1143000" y="2235200"/>
            <a:ext cx="457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8C4A34"/>
                </a:solidFill>
                <a:latin typeface="Lora"/>
                <a:ea typeface="Lora"/>
                <a:cs typeface="Lora"/>
                <a:sym typeface="Lora"/>
              </a:rPr>
              <a:t>Recontextualization</a:t>
            </a:r>
            <a:endParaRPr lang="en-US" sz="1100"/>
          </a:p>
        </p:txBody>
      </p:sp>
      <p:sp>
        <p:nvSpPr>
          <p:cNvPr name="AutoShape 6" id="6"/>
          <p:cNvSpPr/>
          <p:nvPr/>
        </p:nvSpPr>
        <p:spPr>
          <a:xfrm rot="0" flipH="false" flipV="false">
            <a:off x="1143000" y="2717800"/>
            <a:ext cx="457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8A8578"/>
                </a:solidFill>
                <a:latin typeface="Lora"/>
                <a:ea typeface="Lora"/>
                <a:cs typeface="Lora"/>
                <a:sym typeface="Lora"/>
              </a:rPr>
              <a:t>THE MECHANISM, WHAT TEACHERS DO</a:t>
            </a:r>
            <a:endParaRPr lang="en-US" sz="1100"/>
          </a:p>
        </p:txBody>
      </p:sp>
      <p:sp>
        <p:nvSpPr>
          <p:cNvPr name="AutoShape 7" id="7"/>
          <p:cNvSpPr/>
          <p:nvPr/>
        </p:nvSpPr>
        <p:spPr>
          <a:xfrm rot="0" flipH="false" flipV="false">
            <a:off x="1143000" y="3149600"/>
            <a:ext cx="4572000" cy="254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9166"/>
              </a:lnSpc>
              <a:defRPr/>
            </a:pPr>
            <a:r>
              <a:rPr lang="en-US" b="false" i="false" strike="noStrike" u="none" sz="1400">
                <a:solidFill>
                  <a:srgbClr val="4A4842"/>
                </a:solidFill>
                <a:latin typeface="Lora"/>
                <a:ea typeface="Lora"/>
                <a:cs typeface="Lora"/>
                <a:sym typeface="Lora"/>
              </a:rPr>
              <a:t>The process through which teachers reinterpret and reshape published materials once they reach the classroom.</a:t>
            </a:r>
            <a:endParaRPr lang="en-US" sz="1100"/>
          </a:p>
          <a:p>
            <a:pPr algn="l" marL="0" indent="0">
              <a:lnSpc>
                <a:spcPct val="129166"/>
              </a:lnSpc>
            </a:pPr>
            <a:r>
              <a:rPr lang="en-US" b="false" i="false" strike="noStrike" u="none" sz="1400">
                <a:solidFill>
                  <a:srgbClr val="2A2A28"/>
                </a:solidFill>
                <a:latin typeface="Lora"/>
                <a:ea typeface="Lora"/>
                <a:cs typeface="Lora"/>
                <a:sym typeface="Lora"/>
              </a:rPr>
              <a:t>Visible moves:</a:t>
            </a:r>
            <a:r>
              <a:rPr lang="en-US" b="false" i="false" strike="noStrike" u="none" sz="1400">
                <a:solidFill>
                  <a:srgbClr val="4A4842"/>
                </a:solidFill>
                <a:latin typeface="Lora"/>
                <a:ea typeface="Lora"/>
                <a:cs typeface="Lora"/>
                <a:sym typeface="Lora"/>
              </a:rPr>
              <a:t> translation, added explanation, cutting, substitution, reordering.</a:t>
            </a:r>
          </a:p>
          <a:p>
            <a:pPr algn="l" marL="0" indent="0">
              <a:lnSpc>
                <a:spcPct val="129166"/>
              </a:lnSpc>
            </a:pPr>
            <a:r>
              <a:rPr lang="en-US" b="false" i="false" strike="noStrike" u="none" sz="1400">
                <a:solidFill>
                  <a:srgbClr val="2A2A28"/>
                </a:solidFill>
                <a:latin typeface="Lora"/>
                <a:ea typeface="Lora"/>
                <a:cs typeface="Lora"/>
                <a:sym typeface="Lora"/>
              </a:rPr>
              <a:t>Quieter shifts:</a:t>
            </a:r>
            <a:r>
              <a:rPr lang="en-US" b="false" i="false" strike="noStrike" u="none" sz="1400">
                <a:solidFill>
                  <a:srgbClr val="4A4842"/>
                </a:solidFill>
                <a:latin typeface="Lora"/>
                <a:ea typeface="Lora"/>
                <a:cs typeface="Lora"/>
                <a:sym typeface="Lora"/>
              </a:rPr>
              <a:t> changes in emphasis, purpose, and how much room students get to participate.</a:t>
            </a:r>
          </a:p>
        </p:txBody>
      </p:sp>
      <p:cxnSp>
        <p:nvCxnSpPr>
          <p:cNvPr name="Connector 8" id="8"/>
          <p:cNvCxnSpPr/>
          <p:nvPr/>
        </p:nvCxnSpPr>
        <p:spPr>
          <a:xfrm rot="5386777" flipH="false" flipV="false">
            <a:off x="4445000" y="3930662"/>
            <a:ext cx="3302000" cy="12700"/>
          </a:xfrm>
          <a:prstGeom prst="straightConnector1">
            <a:avLst/>
          </a:prstGeom>
          <a:solidFill>
            <a:srgbClr val="DEE0E3">
              <a:alpha val="100000"/>
            </a:srgbClr>
          </a:solidFill>
          <a:ln w="12700" cmpd="sng" cap="flat">
            <a:solidFill>
              <a:srgbClr val="C9BFAE">
                <a:alpha val="100000"/>
              </a:srgbClr>
            </a:solidFill>
            <a:prstDash val="solid"/>
            <a:round/>
            <a:headEnd type="none" w="med" len="med"/>
            <a:tailEnd type="none" w="med" len="med"/>
          </a:ln>
        </p:spPr>
      </p:cxnSp>
      <p:sp>
        <p:nvSpPr>
          <p:cNvPr name="AutoShape 9" id="9"/>
          <p:cNvSpPr/>
          <p:nvPr/>
        </p:nvSpPr>
        <p:spPr>
          <a:xfrm rot="0" flipH="false" flipV="false">
            <a:off x="6477000" y="2235200"/>
            <a:ext cx="457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2A2A28"/>
                </a:solidFill>
                <a:latin typeface="Lora"/>
                <a:ea typeface="Lora"/>
                <a:cs typeface="Lora"/>
                <a:sym typeface="Lora"/>
              </a:rPr>
              <a:t>Localization</a:t>
            </a:r>
            <a:endParaRPr lang="en-US" sz="1100"/>
          </a:p>
        </p:txBody>
      </p:sp>
      <p:sp>
        <p:nvSpPr>
          <p:cNvPr name="AutoShape 10" id="10"/>
          <p:cNvSpPr/>
          <p:nvPr/>
        </p:nvSpPr>
        <p:spPr>
          <a:xfrm rot="0" flipH="false" flipV="false">
            <a:off x="6477000" y="2717800"/>
            <a:ext cx="4572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8A8578"/>
                </a:solidFill>
                <a:latin typeface="Lora"/>
                <a:ea typeface="Lora"/>
                <a:cs typeface="Lora"/>
                <a:sym typeface="Lora"/>
              </a:rPr>
              <a:t>ONE POSSIBLE OUTCOME</a:t>
            </a:r>
            <a:endParaRPr lang="en-US" sz="1100"/>
          </a:p>
        </p:txBody>
      </p:sp>
      <p:sp>
        <p:nvSpPr>
          <p:cNvPr name="AutoShape 11" id="11"/>
          <p:cNvSpPr/>
          <p:nvPr/>
        </p:nvSpPr>
        <p:spPr>
          <a:xfrm rot="0" flipH="false" flipV="false">
            <a:off x="6477000" y="3149600"/>
            <a:ext cx="4572000" cy="254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9166"/>
              </a:lnSpc>
              <a:defRPr/>
            </a:pPr>
            <a:r>
              <a:rPr lang="en-US" b="false" i="false" strike="noStrike" u="none" sz="1400">
                <a:solidFill>
                  <a:srgbClr val="4A4842"/>
                </a:solidFill>
                <a:latin typeface="Lora"/>
                <a:ea typeface="Lora"/>
                <a:cs typeface="Lora"/>
                <a:sym typeface="Lora"/>
              </a:rPr>
              <a:t>The name the Pakistan conversation already uses. It applies when recontextualization happens to orient the materials toward Pakistani learners and their context.</a:t>
            </a:r>
            <a:endParaRPr lang="en-US" sz="1100"/>
          </a:p>
          <a:p>
            <a:pPr algn="l" marL="0" indent="0">
              <a:lnSpc>
                <a:spcPct val="129166"/>
              </a:lnSpc>
            </a:pPr>
            <a:r>
              <a:rPr lang="en-US" b="false" i="false" strike="noStrike" u="none" sz="1400">
                <a:solidFill>
                  <a:srgbClr val="2A2A28"/>
                </a:solidFill>
                <a:latin typeface="Lora"/>
                <a:ea typeface="Lora"/>
                <a:cs typeface="Lora"/>
                <a:sym typeface="Lora"/>
              </a:rPr>
              <a:t>Not a third theory, not a pre-set goal, not a test of whether a lesson was "better".</a:t>
            </a:r>
          </a:p>
        </p:txBody>
      </p:sp>
      <p:cxnSp>
        <p:nvCxnSpPr>
          <p:cNvPr name="Connector 12" id="12"/>
          <p:cNvCxnSpPr/>
          <p:nvPr/>
        </p:nvCxnSpPr>
        <p:spPr>
          <a:xfrm rot="-4407" flipH="false" flipV="false">
            <a:off x="1143004" y="5911850"/>
            <a:ext cx="9906000" cy="12700"/>
          </a:xfrm>
          <a:prstGeom prst="straightConnector1">
            <a:avLst/>
          </a:prstGeom>
          <a:solidFill>
            <a:srgbClr val="DEE0E3">
              <a:alpha val="100000"/>
            </a:srgbClr>
          </a:solidFill>
          <a:ln w="12700" cmpd="sng" cap="flat">
            <a:solidFill>
              <a:srgbClr val="8C4A34">
                <a:alpha val="100000"/>
              </a:srgbClr>
            </a:solidFill>
            <a:prstDash val="solid"/>
            <a:round/>
            <a:headEnd type="none" w="med" len="med"/>
            <a:tailEnd type="none" w="med" len="med"/>
          </a:ln>
        </p:spPr>
      </p:cxnSp>
      <p:sp>
        <p:nvSpPr>
          <p:cNvPr name="AutoShape 13" id="13"/>
          <p:cNvSpPr/>
          <p:nvPr/>
        </p:nvSpPr>
        <p:spPr>
          <a:xfrm rot="0" flipH="false" flipV="false">
            <a:off x="1143000" y="6070600"/>
            <a:ext cx="990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true" strike="noStrike" u="none" sz="1400">
                <a:solidFill>
                  <a:srgbClr val="2A2A28"/>
                </a:solidFill>
                <a:latin typeface="Lora"/>
                <a:ea typeface="Lora"/>
                <a:cs typeface="Lora"/>
                <a:sym typeface="Lora"/>
              </a:rPr>
              <a:t>They are related but not identical. A teacher may recontextualize only to finish a syllabus on time. Localization names the process or outcome when that work orients materials toward a Pakistani classroom.</a:t>
            </a:r>
            <a:r>
              <a:rPr lang="en-US" b="true" i="true" strike="noStrike" u="none" sz="1400">
                <a:solidFill>
                  <a:srgbClr val="2A2A28"/>
                </a:solidFill>
                <a:latin typeface="Lora"/>
                <a:ea typeface="Lora"/>
                <a:cs typeface="Lora"/>
                <a:sym typeface="Lora"/>
              </a:rPr>
              <a:t/>
            </a:r>
            <a:r>
              <a:rPr lang="en-US" b="false" i="true" strike="noStrike" u="none" sz="1400">
                <a:solidFill>
                  <a:srgbClr val="2A2A28"/>
                </a:solidFill>
                <a:latin typeface="Lora"/>
                <a:ea typeface="Lora"/>
                <a:cs typeface="Lora"/>
                <a:sym typeface="Lora"/>
              </a:rPr>
              <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4EFE4">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143000" y="711200"/>
            <a:ext cx="635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8C4A34"/>
                </a:solidFill>
                <a:latin typeface="Lora"/>
                <a:ea typeface="Lora"/>
                <a:cs typeface="Lora"/>
                <a:sym typeface="Lora"/>
              </a:rPr>
              <a:t>03 · LITERATURE &amp; GAP</a:t>
            </a:r>
            <a:endParaRPr lang="en-US" sz="1100"/>
          </a:p>
        </p:txBody>
      </p:sp>
      <p:sp>
        <p:nvSpPr>
          <p:cNvPr name="AutoShape 3" id="3"/>
          <p:cNvSpPr/>
          <p:nvPr/>
        </p:nvSpPr>
        <p:spPr>
          <a:xfrm rot="0" flipH="false" flipV="false">
            <a:off x="1143000" y="1016000"/>
            <a:ext cx="9906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2A2A28"/>
                </a:solidFill>
                <a:latin typeface="Lora"/>
                <a:ea typeface="Lora"/>
                <a:cs typeface="Lora"/>
                <a:sym typeface="Lora"/>
              </a:rPr>
              <a:t>What each conversation can and cannot show</a:t>
            </a:r>
            <a:endParaRPr lang="en-US" sz="1100"/>
          </a:p>
        </p:txBody>
      </p:sp>
      <p:cxnSp>
        <p:nvCxnSpPr>
          <p:cNvPr name="Connector 4" id="4"/>
          <p:cNvCxnSpPr/>
          <p:nvPr/>
        </p:nvCxnSpPr>
        <p:spPr>
          <a:xfrm rot="-4407" flipH="false" flipV="false">
            <a:off x="1143004" y="1847850"/>
            <a:ext cx="9906000" cy="12700"/>
          </a:xfrm>
          <a:prstGeom prst="straightConnector1">
            <a:avLst/>
          </a:prstGeom>
          <a:solidFill>
            <a:srgbClr val="DEE0E3">
              <a:alpha val="100000"/>
            </a:srgbClr>
          </a:solidFill>
          <a:ln w="12700" cmpd="sng" cap="flat">
            <a:solidFill>
              <a:srgbClr val="C9BFAE">
                <a:alpha val="100000"/>
              </a:srgbClr>
            </a:solidFill>
            <a:prstDash val="solid"/>
            <a:round/>
            <a:headEnd type="none" w="med" len="med"/>
            <a:tailEnd type="none" w="med" len="med"/>
          </a:ln>
        </p:spPr>
      </p:cxnSp>
      <p:graphicFrame>
        <p:nvGraphicFramePr>
          <p:cNvPr name="Table 5" id="5"/>
          <p:cNvGraphicFramePr>
            <a:graphicFrameLocks noGrp="true"/>
          </p:cNvGraphicFramePr>
          <p:nvPr/>
        </p:nvGraphicFramePr>
        <p:xfrm>
          <a:off x="1143000" y="2133600"/>
          <a:ext cx="9906000" cy="4013200"/>
        </p:xfrm>
        <a:graphic>
          <a:graphicData uri="http://schemas.openxmlformats.org/drawingml/2006/table">
            <a:tbl>
              <a:tblPr>
                <a:effectLst/>
              </a:tblPr>
              <a:tblGrid>
                <a:gridCol w="2286000"/>
                <a:gridCol w="3810000"/>
                <a:gridCol w="3810000"/>
              </a:tblGrid>
              <a:tr h="482600">
                <a:tc>
                  <a:txBody>
                    <a:bodyPr anchor="t" rtlCol="false"/>
                    <a:lstStyle/>
                    <a:p>
                      <a:pPr algn="l" marL="0" indent="0">
                        <a:lnSpc>
                          <a:spcPct val="100000"/>
                        </a:lnSpc>
                        <a:defRPr/>
                      </a:pPr>
                      <a:r>
                        <a:rPr lang="en-US" b="true" i="false" strike="noStrike" u="none" sz="1200">
                          <a:solidFill>
                            <a:srgbClr val="F4EFE4"/>
                          </a:solidFill>
                          <a:latin typeface="Noto Sans SC"/>
                          <a:ea typeface="Noto Sans SC"/>
                          <a:cs typeface="Noto Sans SC"/>
                          <a:sym typeface="Noto Sans SC"/>
                        </a:rPr>
                        <a:t>Conversation</a:t>
                      </a:r>
                      <a:endParaRPr lang="en-US" sz="1100"/>
                    </a:p>
                  </a:txBody>
                  <a:tcPr anchor="ctr" anchorCtr="false" marL="101600" marR="101600" marT="101600" marB="101600">
                    <a:lnL>
                      <a:noFill/>
                    </a:lnL>
                    <a:lnR>
                      <a:noFill/>
                    </a:lnR>
                    <a:lnT>
                      <a:noFill/>
                    </a:lnT>
                    <a:lnB>
                      <a:noFill/>
                    </a:lnB>
                    <a:solidFill>
                      <a:srgbClr val="2A2A28">
                        <a:alpha val="100000"/>
                      </a:srgbClr>
                    </a:solidFill>
                  </a:tcPr>
                </a:tc>
                <a:tc>
                  <a:txBody>
                    <a:bodyPr anchor="t" rtlCol="false"/>
                    <a:lstStyle/>
                    <a:p>
                      <a:pPr algn="l" marL="0" indent="0">
                        <a:lnSpc>
                          <a:spcPct val="100000"/>
                        </a:lnSpc>
                        <a:defRPr/>
                      </a:pPr>
                      <a:r>
                        <a:rPr lang="en-US" b="true" i="false" strike="noStrike" u="none" sz="1200">
                          <a:solidFill>
                            <a:srgbClr val="F4EFE4"/>
                          </a:solidFill>
                          <a:latin typeface="Noto Sans SC"/>
                          <a:ea typeface="Noto Sans SC"/>
                          <a:cs typeface="Noto Sans SC"/>
                          <a:sym typeface="Noto Sans SC"/>
                        </a:rPr>
                        <a:t>What it can show</a:t>
                      </a:r>
                      <a:endParaRPr lang="en-US" sz="1100"/>
                    </a:p>
                  </a:txBody>
                  <a:tcPr anchor="ctr" anchorCtr="false" marL="101600" marR="101600" marT="101600" marB="101600">
                    <a:lnL>
                      <a:noFill/>
                    </a:lnL>
                    <a:lnR>
                      <a:noFill/>
                    </a:lnR>
                    <a:lnT>
                      <a:noFill/>
                    </a:lnT>
                    <a:lnB>
                      <a:noFill/>
                    </a:lnB>
                    <a:solidFill>
                      <a:srgbClr val="2A2A28">
                        <a:alpha val="100000"/>
                      </a:srgbClr>
                    </a:solidFill>
                  </a:tcPr>
                </a:tc>
                <a:tc>
                  <a:txBody>
                    <a:bodyPr anchor="t" rtlCol="false"/>
                    <a:lstStyle/>
                    <a:p>
                      <a:pPr algn="l" marL="0" indent="0">
                        <a:lnSpc>
                          <a:spcPct val="100000"/>
                        </a:lnSpc>
                        <a:defRPr/>
                      </a:pPr>
                      <a:r>
                        <a:rPr lang="en-US" b="true" i="false" strike="noStrike" u="none" sz="1200">
                          <a:solidFill>
                            <a:srgbClr val="F4EFE4"/>
                          </a:solidFill>
                          <a:latin typeface="Noto Sans SC"/>
                          <a:ea typeface="Noto Sans SC"/>
                          <a:cs typeface="Noto Sans SC"/>
                          <a:sym typeface="Noto Sans SC"/>
                        </a:rPr>
                        <a:t>What it cannot show here</a:t>
                      </a:r>
                      <a:endParaRPr lang="en-US" sz="1100"/>
                    </a:p>
                  </a:txBody>
                  <a:tcPr anchor="ctr" anchorCtr="false" marL="101600" marR="101600" marT="101600" marB="101600">
                    <a:lnL>
                      <a:noFill/>
                    </a:lnL>
                    <a:lnR>
                      <a:noFill/>
                    </a:lnR>
                    <a:lnT>
                      <a:noFill/>
                    </a:lnT>
                    <a:lnB>
                      <a:noFill/>
                    </a:lnB>
                    <a:solidFill>
                      <a:srgbClr val="2A2A28">
                        <a:alpha val="100000"/>
                      </a:srgbClr>
                    </a:solidFill>
                  </a:tcPr>
                </a:tc>
              </a:tr>
              <a:tr h="711200">
                <a:tc>
                  <a:txBody>
                    <a:bodyPr anchor="t" rtlCol="false"/>
                    <a:lstStyle/>
                    <a:p>
                      <a:pPr algn="l" marL="0" indent="0">
                        <a:lnSpc>
                          <a:spcPct val="100000"/>
                        </a:lnSpc>
                        <a:defRPr/>
                      </a:pPr>
                      <a:r>
                        <a:rPr lang="en-US" b="true" i="false" strike="noStrike" u="none" sz="1150">
                          <a:solidFill>
                            <a:srgbClr val="2A2A28"/>
                          </a:solidFill>
                          <a:latin typeface="Noto Sans SC"/>
                          <a:ea typeface="Noto Sans SC"/>
                          <a:cs typeface="Noto Sans SC"/>
                          <a:sym typeface="Noto Sans SC"/>
                        </a:rPr>
                        <a:t>Materials-in-use</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150">
                          <a:solidFill>
                            <a:srgbClr val="4A4842"/>
                          </a:solidFill>
                          <a:latin typeface="Noto Sans SC"/>
                          <a:ea typeface="Noto Sans SC"/>
                          <a:cs typeface="Noto Sans SC"/>
                          <a:sym typeface="Noto Sans SC"/>
                        </a:rPr>
                        <a:t>The coursebook as the de facto curriculum, organizing turns and topics</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150">
                          <a:solidFill>
                            <a:srgbClr val="4A4842"/>
                          </a:solidFill>
                          <a:latin typeface="Noto Sans SC"/>
                          <a:ea typeface="Noto Sans SC"/>
                          <a:cs typeface="Noto Sans SC"/>
                          <a:sym typeface="Noto Sans SC"/>
                        </a:rPr>
                        <a:t>Pakistani teachers of Chinese with the materials actually in use</a:t>
                      </a:r>
                      <a:endParaRPr lang="en-US" sz="1100"/>
                    </a:p>
                  </a:txBody>
                  <a:tcPr anchor="ctr" anchorCtr="false" marL="101600" marR="101600" marT="101600" marB="101600">
                    <a:lnL>
                      <a:noFill/>
                    </a:lnL>
                    <a:lnR>
                      <a:noFill/>
                    </a:lnR>
                    <a:lnT>
                      <a:noFill/>
                    </a:lnT>
                    <a:lnB>
                      <a:noFill/>
                    </a:lnB>
                    <a:noFill/>
                  </a:tcPr>
                </a:tc>
              </a:tr>
              <a:tr h="711200">
                <a:tc>
                  <a:txBody>
                    <a:bodyPr anchor="t" rtlCol="false"/>
                    <a:lstStyle/>
                    <a:p>
                      <a:pPr algn="l" marL="0" indent="0">
                        <a:lnSpc>
                          <a:spcPct val="100000"/>
                        </a:lnSpc>
                        <a:defRPr/>
                      </a:pPr>
                      <a:r>
                        <a:rPr lang="en-US" b="true" i="false" strike="noStrike" u="none" sz="1150">
                          <a:solidFill>
                            <a:srgbClr val="2A2A28"/>
                          </a:solidFill>
                          <a:latin typeface="Noto Sans SC"/>
                          <a:ea typeface="Noto Sans SC"/>
                          <a:cs typeface="Noto Sans SC"/>
                          <a:sym typeface="Noto Sans SC"/>
                        </a:rPr>
                        <a:t>Materials adaptation</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150">
                          <a:solidFill>
                            <a:srgbClr val="4A4842"/>
                          </a:solidFill>
                          <a:latin typeface="Noto Sans SC"/>
                          <a:ea typeface="Noto Sans SC"/>
                          <a:cs typeface="Noto Sans SC"/>
                          <a:sym typeface="Noto Sans SC"/>
                        </a:rPr>
                        <a:t>Moves, workload, and coursebook-led use under constraint</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150">
                          <a:solidFill>
                            <a:srgbClr val="4A4842"/>
                          </a:solidFill>
                          <a:latin typeface="Noto Sans SC"/>
                          <a:ea typeface="Noto Sans SC"/>
                          <a:cs typeface="Noto Sans SC"/>
                          <a:sym typeface="Noto Sans SC"/>
                        </a:rPr>
                        <a:t>Whether a busy move-count actually transformed the knowledge taught</a:t>
                      </a:r>
                      <a:endParaRPr lang="en-US" sz="1100"/>
                    </a:p>
                  </a:txBody>
                  <a:tcPr anchor="ctr" anchorCtr="false" marL="101600" marR="101600" marT="101600" marB="101600">
                    <a:lnL>
                      <a:noFill/>
                    </a:lnL>
                    <a:lnR>
                      <a:noFill/>
                    </a:lnR>
                    <a:lnT>
                      <a:noFill/>
                    </a:lnT>
                    <a:lnB>
                      <a:noFill/>
                    </a:lnB>
                    <a:noFill/>
                  </a:tcPr>
                </a:tc>
              </a:tr>
              <a:tr h="711200">
                <a:tc>
                  <a:txBody>
                    <a:bodyPr anchor="t" rtlCol="false"/>
                    <a:lstStyle/>
                    <a:p>
                      <a:pPr algn="l" marL="0" indent="0">
                        <a:lnSpc>
                          <a:spcPct val="100000"/>
                        </a:lnSpc>
                        <a:defRPr/>
                      </a:pPr>
                      <a:r>
                        <a:rPr lang="en-US" b="true" i="false" strike="noStrike" u="none" sz="1150">
                          <a:solidFill>
                            <a:srgbClr val="2A2A28"/>
                          </a:solidFill>
                          <a:latin typeface="Noto Sans SC"/>
                          <a:ea typeface="Noto Sans SC"/>
                          <a:cs typeface="Noto Sans SC"/>
                          <a:sym typeface="Noto Sans SC"/>
                        </a:rPr>
                        <a:t>CFL product studies</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150">
                          <a:solidFill>
                            <a:srgbClr val="4A4842"/>
                          </a:solidFill>
                          <a:latin typeface="Noto Sans SC"/>
                          <a:ea typeface="Noto Sans SC"/>
                          <a:cs typeface="Noto Sans SC"/>
                          <a:sym typeface="Noto Sans SC"/>
                        </a:rPr>
                        <a:t>Official selection already inscribed in global textbooks (e.g. Sri Lanka)</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150">
                          <a:solidFill>
                            <a:srgbClr val="4A4842"/>
                          </a:solidFill>
                          <a:latin typeface="Noto Sans SC"/>
                          <a:ea typeface="Noto Sans SC"/>
                          <a:cs typeface="Noto Sans SC"/>
                          <a:sym typeface="Noto Sans SC"/>
                        </a:rPr>
                        <a:t>What was actually taught in a given Pakistani classroom</a:t>
                      </a:r>
                      <a:endParaRPr lang="en-US" sz="1100"/>
                    </a:p>
                  </a:txBody>
                  <a:tcPr anchor="ctr" anchorCtr="false" marL="101600" marR="101600" marT="101600" marB="101600">
                    <a:lnL>
                      <a:noFill/>
                    </a:lnL>
                    <a:lnR>
                      <a:noFill/>
                    </a:lnR>
                    <a:lnT>
                      <a:noFill/>
                    </a:lnT>
                    <a:lnB>
                      <a:noFill/>
                    </a:lnB>
                    <a:noFill/>
                  </a:tcPr>
                </a:tc>
              </a:tr>
              <a:tr h="711200">
                <a:tc>
                  <a:txBody>
                    <a:bodyPr anchor="t" rtlCol="false"/>
                    <a:lstStyle/>
                    <a:p>
                      <a:pPr algn="l" marL="0" indent="0">
                        <a:lnSpc>
                          <a:spcPct val="100000"/>
                        </a:lnSpc>
                        <a:defRPr/>
                      </a:pPr>
                      <a:r>
                        <a:rPr lang="en-US" b="true" i="false" strike="noStrike" u="none" sz="1150">
                          <a:solidFill>
                            <a:srgbClr val="2A2A28"/>
                          </a:solidFill>
                          <a:latin typeface="Noto Sans SC"/>
                          <a:ea typeface="Noto Sans SC"/>
                          <a:cs typeface="Noto Sans SC"/>
                          <a:sym typeface="Noto Sans SC"/>
                        </a:rPr>
                        <a:t>Ecological agency</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150">
                          <a:solidFill>
                            <a:srgbClr val="4A4842"/>
                          </a:solidFill>
                          <a:latin typeface="Noto Sans SC"/>
                          <a:ea typeface="Noto Sans SC"/>
                          <a:cs typeface="Noto Sans SC"/>
                          <a:sym typeface="Noto Sans SC"/>
                        </a:rPr>
                        <a:t>Restricted, addition-only and compliant forms (EFL in China, Vietnam; Belarus CFL)</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150">
                          <a:solidFill>
                            <a:srgbClr val="4A4842"/>
                          </a:solidFill>
                          <a:latin typeface="Noto Sans SC"/>
                          <a:ea typeface="Noto Sans SC"/>
                          <a:cs typeface="Noto Sans SC"/>
                          <a:sym typeface="Noto Sans SC"/>
                        </a:rPr>
                        <a:t>This population and this materials object, studied together</a:t>
                      </a:r>
                      <a:endParaRPr lang="en-US" sz="1100"/>
                    </a:p>
                  </a:txBody>
                  <a:tcPr anchor="ctr" anchorCtr="false" marL="101600" marR="101600" marT="101600" marB="101600">
                    <a:lnL>
                      <a:noFill/>
                    </a:lnL>
                    <a:lnR>
                      <a:noFill/>
                    </a:lnR>
                    <a:lnT>
                      <a:noFill/>
                    </a:lnT>
                    <a:lnB>
                      <a:noFill/>
                    </a:lnB>
                    <a:noFill/>
                  </a:tcPr>
                </a:tc>
              </a:tr>
              <a:tr h="685800">
                <a:tc>
                  <a:txBody>
                    <a:bodyPr anchor="t" rtlCol="false"/>
                    <a:lstStyle/>
                    <a:p>
                      <a:pPr algn="l" marL="0" indent="0">
                        <a:lnSpc>
                          <a:spcPct val="100000"/>
                        </a:lnSpc>
                        <a:defRPr/>
                      </a:pPr>
                      <a:r>
                        <a:rPr lang="en-US" b="true" i="false" strike="noStrike" u="none" sz="1150">
                          <a:solidFill>
                            <a:srgbClr val="8C4A34"/>
                          </a:solidFill>
                          <a:latin typeface="Noto Sans SC"/>
                          <a:ea typeface="Noto Sans SC"/>
                          <a:cs typeface="Noto Sans SC"/>
                          <a:sym typeface="Noto Sans SC"/>
                        </a:rPr>
                        <a:t>Pakistan CFL</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150">
                          <a:solidFill>
                            <a:srgbClr val="4A4842"/>
                          </a:solidFill>
                          <a:latin typeface="Noto Sans SC"/>
                          <a:ea typeface="Noto Sans SC"/>
                          <a:cs typeface="Noto Sans SC"/>
                          <a:sym typeface="Noto Sans SC"/>
                        </a:rPr>
                        <a:t>Programme expansion, perceived misfit; HSK Standard Course widely used</a:t>
                      </a:r>
                      <a:endParaRPr lang="en-US" sz="1100"/>
                    </a:p>
                  </a:txBody>
                  <a:tcPr anchor="ctr" anchorCtr="false" marL="101600" marR="101600" marT="101600" marB="101600">
                    <a:lnL>
                      <a:noFill/>
                    </a:lnL>
                    <a:lnR>
                      <a:noFill/>
                    </a:lnR>
                    <a:lnT>
                      <a:noFill/>
                    </a:lnT>
                    <a:lnB>
                      <a:noFill/>
                    </a:lnB>
                    <a:noFill/>
                  </a:tcPr>
                </a:tc>
                <a:tc>
                  <a:txBody>
                    <a:bodyPr anchor="t" rtlCol="false"/>
                    <a:lstStyle/>
                    <a:p>
                      <a:pPr algn="l" marL="0" indent="0">
                        <a:lnSpc>
                          <a:spcPct val="100000"/>
                        </a:lnSpc>
                        <a:defRPr/>
                      </a:pPr>
                      <a:r>
                        <a:rPr lang="en-US" b="false" i="false" strike="noStrike" u="none" sz="1150">
                          <a:solidFill>
                            <a:srgbClr val="8C4A34"/>
                          </a:solidFill>
                          <a:latin typeface="Noto Sans SC"/>
                          <a:ea typeface="Noto Sans SC"/>
                          <a:cs typeface="Noto Sans SC"/>
                          <a:sym typeface="Noto Sans SC"/>
                        </a:rPr>
                        <a:t>Observation plus a comparison of the prescribed page with what was taught</a:t>
                      </a:r>
                      <a:endParaRPr lang="en-US" sz="1100"/>
                    </a:p>
                  </a:txBody>
                  <a:tcPr anchor="ctr" anchorCtr="false" marL="101600" marR="101600" marT="101600" marB="101600">
                    <a:lnL>
                      <a:noFill/>
                    </a:lnL>
                    <a:lnR>
                      <a:noFill/>
                    </a:lnR>
                    <a:lnT>
                      <a:noFill/>
                    </a:lnT>
                    <a:lnB>
                      <a:noFill/>
                    </a:lnB>
                    <a:noFill/>
                  </a:tcPr>
                </a:tc>
              </a:tr>
            </a:tbl>
          </a:graphicData>
        </a:graphic>
      </p:graphicFrame>
      <p:sp>
        <p:nvSpPr>
          <p:cNvPr name="AutoShape 6" id="6"/>
          <p:cNvSpPr/>
          <p:nvPr/>
        </p:nvSpPr>
        <p:spPr>
          <a:xfrm rot="0" flipH="false" flipV="false">
            <a:off x="1143000" y="6299200"/>
            <a:ext cx="9906000" cy="431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8A8578"/>
                </a:solidFill>
                <a:latin typeface="Lora"/>
                <a:ea typeface="Lora"/>
                <a:cs typeface="Lora"/>
                <a:sym typeface="Lora"/>
              </a:rPr>
              <a:t>Interview-reported willingness is not enacted practice (Criado, 2023; Neupane, 2025), a Pakistan survey of beliefs would reproduce that gap as if it were the finding.</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4EFE4">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143000" y="711200"/>
            <a:ext cx="635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8C4A34"/>
                </a:solidFill>
                <a:latin typeface="Lora"/>
                <a:ea typeface="Lora"/>
                <a:cs typeface="Lora"/>
                <a:sym typeface="Lora"/>
              </a:rPr>
              <a:t>04 · RESEARCH QUESTIONS</a:t>
            </a:r>
            <a:endParaRPr lang="en-US" sz="1100"/>
          </a:p>
        </p:txBody>
      </p:sp>
      <p:sp>
        <p:nvSpPr>
          <p:cNvPr name="AutoShape 3" id="3"/>
          <p:cNvSpPr/>
          <p:nvPr/>
        </p:nvSpPr>
        <p:spPr>
          <a:xfrm rot="0" flipH="false" flipV="false">
            <a:off x="1143000" y="1016000"/>
            <a:ext cx="9906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900">
                <a:solidFill>
                  <a:srgbClr val="2A2A28"/>
                </a:solidFill>
                <a:latin typeface="Lora"/>
                <a:ea typeface="Lora"/>
                <a:cs typeface="Lora"/>
                <a:sym typeface="Lora"/>
              </a:rPr>
              <a:t>One core question, three supporting questions</a:t>
            </a:r>
            <a:endParaRPr lang="en-US" sz="1100"/>
          </a:p>
        </p:txBody>
      </p:sp>
      <p:cxnSp>
        <p:nvCxnSpPr>
          <p:cNvPr name="Connector 4" id="4"/>
          <p:cNvCxnSpPr/>
          <p:nvPr/>
        </p:nvCxnSpPr>
        <p:spPr>
          <a:xfrm rot="-4407" flipH="false" flipV="false">
            <a:off x="1143004" y="1847850"/>
            <a:ext cx="9906000" cy="12700"/>
          </a:xfrm>
          <a:prstGeom prst="straightConnector1">
            <a:avLst/>
          </a:prstGeom>
          <a:solidFill>
            <a:srgbClr val="DEE0E3">
              <a:alpha val="100000"/>
            </a:srgbClr>
          </a:solidFill>
          <a:ln w="12700" cmpd="sng" cap="flat">
            <a:solidFill>
              <a:srgbClr val="C9BFAE">
                <a:alpha val="100000"/>
              </a:srgbClr>
            </a:solidFill>
            <a:prstDash val="solid"/>
            <a:round/>
            <a:headEnd type="none" w="med" len="med"/>
            <a:tailEnd type="none" w="med" len="med"/>
          </a:ln>
        </p:spPr>
      </p:cxnSp>
      <p:cxnSp>
        <p:nvCxnSpPr>
          <p:cNvPr name="Connector 5" id="5"/>
          <p:cNvCxnSpPr/>
          <p:nvPr/>
        </p:nvCxnSpPr>
        <p:spPr>
          <a:xfrm rot="5372276" flipH="false" flipV="false">
            <a:off x="355600" y="2965476"/>
            <a:ext cx="1574800" cy="12700"/>
          </a:xfrm>
          <a:prstGeom prst="straightConnector1">
            <a:avLst/>
          </a:prstGeom>
          <a:solidFill>
            <a:srgbClr val="DEE0E3">
              <a:alpha val="100000"/>
            </a:srgbClr>
          </a:solidFill>
          <a:ln w="38100" cmpd="sng" cap="flat">
            <a:solidFill>
              <a:srgbClr val="8C4A34">
                <a:alpha val="100000"/>
              </a:srgbClr>
            </a:solidFill>
            <a:prstDash val="solid"/>
            <a:round/>
            <a:headEnd type="none" w="lg" len="lg"/>
            <a:tailEnd type="none" w="lg" len="lg"/>
          </a:ln>
        </p:spPr>
      </p:cxnSp>
      <p:sp>
        <p:nvSpPr>
          <p:cNvPr name="AutoShape 6" id="6"/>
          <p:cNvSpPr/>
          <p:nvPr/>
        </p:nvSpPr>
        <p:spPr>
          <a:xfrm rot="0" flipH="false" flipV="false">
            <a:off x="1447800" y="2184400"/>
            <a:ext cx="96012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8C4A34"/>
                </a:solidFill>
                <a:latin typeface="Lora"/>
                <a:ea typeface="Lora"/>
                <a:cs typeface="Lora"/>
                <a:sym typeface="Lora"/>
              </a:rPr>
              <a:t>CORE QUESTION</a:t>
            </a:r>
            <a:endParaRPr lang="en-US" sz="1100"/>
          </a:p>
        </p:txBody>
      </p:sp>
      <p:sp>
        <p:nvSpPr>
          <p:cNvPr name="AutoShape 7" id="7"/>
          <p:cNvSpPr/>
          <p:nvPr/>
        </p:nvSpPr>
        <p:spPr>
          <a:xfrm rot="0" flipH="false" flipV="false">
            <a:off x="1447800" y="2514600"/>
            <a:ext cx="96012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800">
                <a:solidFill>
                  <a:srgbClr val="2A2A28"/>
                </a:solidFill>
                <a:latin typeface="Lora"/>
                <a:ea typeface="Lora"/>
                <a:cs typeface="Lora"/>
                <a:sym typeface="Lora"/>
              </a:rPr>
              <a:t>How do Pakistani teachers of Chinese recontextualize Chinese-language teaching materials in classroom practice, and how is their agency achieved or constrained within the ecological conditions of their work?</a:t>
            </a:r>
            <a:endParaRPr lang="en-US" sz="1100"/>
          </a:p>
        </p:txBody>
      </p:sp>
      <p:sp>
        <p:nvSpPr>
          <p:cNvPr name="AutoShape 8" id="8"/>
          <p:cNvSpPr/>
          <p:nvPr/>
        </p:nvSpPr>
        <p:spPr>
          <a:xfrm rot="0" flipH="false" flipV="false">
            <a:off x="1143000" y="4165600"/>
            <a:ext cx="3048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8C4A34"/>
                </a:solidFill>
                <a:latin typeface="Lora"/>
                <a:ea typeface="Lora"/>
                <a:cs typeface="Lora"/>
                <a:sym typeface="Lora"/>
              </a:rPr>
              <a:t>RQ1 · What do teachers do</a:t>
            </a:r>
            <a:endParaRPr lang="en-US" sz="1100"/>
          </a:p>
        </p:txBody>
      </p:sp>
      <p:sp>
        <p:nvSpPr>
          <p:cNvPr name="AutoShape 9" id="9"/>
          <p:cNvSpPr/>
          <p:nvPr/>
        </p:nvSpPr>
        <p:spPr>
          <a:xfrm rot="0" flipH="false" flipV="false">
            <a:off x="1143000" y="4597400"/>
            <a:ext cx="3048000" cy="190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0833"/>
              </a:lnSpc>
              <a:defRPr/>
            </a:pPr>
            <a:r>
              <a:rPr lang="en-US" b="false" i="false" strike="noStrike" u="none" sz="1300">
                <a:solidFill>
                  <a:srgbClr val="4A4842"/>
                </a:solidFill>
                <a:latin typeface="Lora"/>
                <a:ea typeface="Lora"/>
                <a:cs typeface="Lora"/>
                <a:sym typeface="Lora"/>
              </a:rPr>
              <a:t>Which recontextualization practices are enacted, addition, omission, substitution, reordering, translanguaging, cultural filtering, or faithful transmission?</a:t>
            </a:r>
            <a:endParaRPr lang="en-US" sz="1100"/>
          </a:p>
        </p:txBody>
      </p:sp>
      <p:cxnSp>
        <p:nvCxnSpPr>
          <p:cNvPr name="Connector 10" id="10"/>
          <p:cNvCxnSpPr/>
          <p:nvPr/>
        </p:nvCxnSpPr>
        <p:spPr>
          <a:xfrm rot="5379537" flipH="false" flipV="false">
            <a:off x="3314700" y="5276869"/>
            <a:ext cx="2133600" cy="12700"/>
          </a:xfrm>
          <a:prstGeom prst="straightConnector1">
            <a:avLst/>
          </a:prstGeom>
          <a:solidFill>
            <a:srgbClr val="DEE0E3">
              <a:alpha val="100000"/>
            </a:srgbClr>
          </a:solidFill>
          <a:ln w="12700" cmpd="sng" cap="flat">
            <a:solidFill>
              <a:srgbClr val="C9BFAE">
                <a:alpha val="100000"/>
              </a:srgbClr>
            </a:solidFill>
            <a:prstDash val="solid"/>
            <a:round/>
            <a:headEnd type="none" w="med" len="med"/>
            <a:tailEnd type="none" w="med" len="med"/>
          </a:ln>
        </p:spPr>
      </p:cxnSp>
      <p:sp>
        <p:nvSpPr>
          <p:cNvPr name="AutoShape 11" id="11"/>
          <p:cNvSpPr/>
          <p:nvPr/>
        </p:nvSpPr>
        <p:spPr>
          <a:xfrm rot="0" flipH="false" flipV="false">
            <a:off x="4673600" y="4165600"/>
            <a:ext cx="3048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8C4A34"/>
                </a:solidFill>
                <a:latin typeface="Lora"/>
                <a:ea typeface="Lora"/>
                <a:cs typeface="Lora"/>
                <a:sym typeface="Lora"/>
              </a:rPr>
              <a:t>RQ2 · Why do they do it</a:t>
            </a:r>
            <a:endParaRPr lang="en-US" sz="1100"/>
          </a:p>
        </p:txBody>
      </p:sp>
      <p:sp>
        <p:nvSpPr>
          <p:cNvPr name="AutoShape 12" id="12"/>
          <p:cNvSpPr/>
          <p:nvPr/>
        </p:nvSpPr>
        <p:spPr>
          <a:xfrm rot="0" flipH="false" flipV="false">
            <a:off x="4673600" y="4597400"/>
            <a:ext cx="3048000" cy="190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0833"/>
              </a:lnSpc>
              <a:defRPr/>
            </a:pPr>
            <a:r>
              <a:rPr lang="en-US" b="false" i="false" strike="noStrike" u="none" sz="1300">
                <a:solidFill>
                  <a:srgbClr val="4A4842"/>
                </a:solidFill>
                <a:latin typeface="Lora"/>
                <a:ea typeface="Lora"/>
                <a:cs typeface="Lora"/>
                <a:sym typeface="Lora"/>
              </a:rPr>
              <a:t>How do teachers justify decisions in relation to learners, pedagogy, culture, language resources (Chinese / Urdu / English), assessment, time and professional identity?</a:t>
            </a:r>
            <a:endParaRPr lang="en-US" sz="1100"/>
          </a:p>
        </p:txBody>
      </p:sp>
      <p:cxnSp>
        <p:nvCxnSpPr>
          <p:cNvPr name="Connector 13" id="13"/>
          <p:cNvCxnSpPr/>
          <p:nvPr/>
        </p:nvCxnSpPr>
        <p:spPr>
          <a:xfrm rot="5379537" flipH="false" flipV="false">
            <a:off x="6845300" y="5276869"/>
            <a:ext cx="2133600" cy="12700"/>
          </a:xfrm>
          <a:prstGeom prst="straightConnector1">
            <a:avLst/>
          </a:prstGeom>
          <a:solidFill>
            <a:srgbClr val="DEE0E3">
              <a:alpha val="100000"/>
            </a:srgbClr>
          </a:solidFill>
          <a:ln w="12700" cmpd="sng" cap="flat">
            <a:solidFill>
              <a:srgbClr val="C9BFAE">
                <a:alpha val="100000"/>
              </a:srgbClr>
            </a:solidFill>
            <a:prstDash val="solid"/>
            <a:round/>
            <a:headEnd type="none" w="med" len="med"/>
            <a:tailEnd type="none" w="med" len="med"/>
          </a:ln>
        </p:spPr>
      </p:cxnSp>
      <p:sp>
        <p:nvSpPr>
          <p:cNvPr name="AutoShape 14" id="14"/>
          <p:cNvSpPr/>
          <p:nvPr/>
        </p:nvSpPr>
        <p:spPr>
          <a:xfrm rot="0" flipH="false" flipV="false">
            <a:off x="8204200" y="4165600"/>
            <a:ext cx="28448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8C4A34"/>
                </a:solidFill>
                <a:latin typeface="Lora"/>
                <a:ea typeface="Lora"/>
                <a:cs typeface="Lora"/>
                <a:sym typeface="Lora"/>
              </a:rPr>
              <a:t>RQ3 · What enables / blocks</a:t>
            </a:r>
            <a:endParaRPr lang="en-US" sz="1100"/>
          </a:p>
        </p:txBody>
      </p:sp>
      <p:sp>
        <p:nvSpPr>
          <p:cNvPr name="AutoShape 15" id="15"/>
          <p:cNvSpPr/>
          <p:nvPr/>
        </p:nvSpPr>
        <p:spPr>
          <a:xfrm rot="0" flipH="false" flipV="false">
            <a:off x="8204200" y="4597400"/>
            <a:ext cx="2844800" cy="190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0833"/>
              </a:lnSpc>
              <a:defRPr/>
            </a:pPr>
            <a:r>
              <a:rPr lang="en-US" b="false" i="false" strike="noStrike" u="none" sz="1300">
                <a:solidFill>
                  <a:srgbClr val="4A4842"/>
                </a:solidFill>
                <a:latin typeface="Lora"/>
                <a:ea typeface="Lora"/>
                <a:cs typeface="Lora"/>
                <a:sym typeface="Lora"/>
              </a:rPr>
              <a:t>How is agency achieved, restricted or redirected, and which nested conditions, classroom, institution, HSK policy, profession, society, open or close room to manoeuvre?</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4EFE4">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143000" y="711200"/>
            <a:ext cx="635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8C4A34"/>
                </a:solidFill>
                <a:latin typeface="Lora"/>
                <a:ea typeface="Lora"/>
                <a:cs typeface="Lora"/>
                <a:sym typeface="Lora"/>
              </a:rPr>
              <a:t>02 · THEORETICAL LENS</a:t>
            </a:r>
            <a:endParaRPr lang="en-US" sz="1100"/>
          </a:p>
        </p:txBody>
      </p:sp>
      <p:sp>
        <p:nvSpPr>
          <p:cNvPr name="AutoShape 3" id="3"/>
          <p:cNvSpPr/>
          <p:nvPr/>
        </p:nvSpPr>
        <p:spPr>
          <a:xfrm rot="0" flipH="false" flipV="false">
            <a:off x="1143000" y="1016000"/>
            <a:ext cx="9906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2A2A28"/>
                </a:solidFill>
                <a:latin typeface="Lora"/>
                <a:ea typeface="Lora"/>
                <a:cs typeface="Lora"/>
                <a:sym typeface="Lora"/>
              </a:rPr>
              <a:t>Recontextualization meets ecological agency</a:t>
            </a:r>
            <a:endParaRPr lang="en-US" sz="1100"/>
          </a:p>
        </p:txBody>
      </p:sp>
      <p:cxnSp>
        <p:nvCxnSpPr>
          <p:cNvPr name="Connector 4" id="4"/>
          <p:cNvCxnSpPr/>
          <p:nvPr/>
        </p:nvCxnSpPr>
        <p:spPr>
          <a:xfrm rot="-4407" flipH="false" flipV="false">
            <a:off x="1143004" y="1847850"/>
            <a:ext cx="9906000" cy="12700"/>
          </a:xfrm>
          <a:prstGeom prst="straightConnector1">
            <a:avLst/>
          </a:prstGeom>
          <a:solidFill>
            <a:srgbClr val="DEE0E3">
              <a:alpha val="100000"/>
            </a:srgbClr>
          </a:solidFill>
          <a:ln w="12700" cmpd="sng" cap="flat">
            <a:solidFill>
              <a:srgbClr val="C9BFAE">
                <a:alpha val="100000"/>
              </a:srgbClr>
            </a:solidFill>
            <a:prstDash val="solid"/>
            <a:round/>
            <a:headEnd type="none" w="med" len="med"/>
            <a:tailEnd type="none" w="med" len="med"/>
          </a:ln>
        </p:spPr>
      </p:cxnSp>
      <p:sp>
        <p:nvSpPr>
          <p:cNvPr name="AutoShape 5" id="5"/>
          <p:cNvSpPr/>
          <p:nvPr/>
        </p:nvSpPr>
        <p:spPr>
          <a:xfrm rot="0" flipH="false" flipV="false">
            <a:off x="1143000" y="2133600"/>
            <a:ext cx="9906000" cy="838200"/>
          </a:xfrm>
          <a:prstGeom prst="roundRect">
            <a:avLst>
              <a:gd name="adj" fmla="val 0"/>
            </a:avLst>
          </a:prstGeom>
          <a:solidFill>
            <a:srgbClr val="8C4A34">
              <a:alpha val="1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397000" y="2235200"/>
            <a:ext cx="9398000" cy="6604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2A2A28"/>
                </a:solidFill>
                <a:latin typeface="Lora"/>
                <a:ea typeface="Lora"/>
                <a:cs typeface="Lora"/>
                <a:sym typeface="Lora"/>
              </a:rPr>
              <a:t>Recontextualization, the mechanism.</a:t>
            </a:r>
            <a:r>
              <a:rPr lang="en-US" b="false" i="false" strike="noStrike" u="none" sz="1400">
                <a:solidFill>
                  <a:srgbClr val="2A2A28"/>
                </a:solidFill>
                <a:latin typeface="Lora"/>
                <a:ea typeface="Lora"/>
                <a:cs typeface="Lora"/>
                <a:sym typeface="Lora"/>
              </a:rPr>
              <a:t> Knowledge is selectively appropriated and refocused as it moves from production sites to the classroom (Bernstein, 2000; Guerrettaz &amp; Johnston, 2013). The classroom is a further site, not the first one.</a:t>
            </a:r>
            <a:endParaRPr lang="en-US" sz="1100"/>
          </a:p>
        </p:txBody>
      </p:sp>
      <p:cxnSp>
        <p:nvCxnSpPr>
          <p:cNvPr name="Connector 7" id="7"/>
          <p:cNvCxnSpPr/>
          <p:nvPr/>
        </p:nvCxnSpPr>
        <p:spPr>
          <a:xfrm rot="5209210" flipH="false" flipV="false">
            <a:off x="5981700" y="3105326"/>
            <a:ext cx="228600" cy="12700"/>
          </a:xfrm>
          <a:prstGeom prst="straightConnector1">
            <a:avLst/>
          </a:prstGeom>
          <a:solidFill>
            <a:srgbClr val="DEE0E3">
              <a:alpha val="100000"/>
            </a:srgbClr>
          </a:solidFill>
          <a:ln w="25400" cmpd="sng" cap="flat">
            <a:solidFill>
              <a:srgbClr val="8C4A34">
                <a:alpha val="100000"/>
              </a:srgbClr>
            </a:solidFill>
            <a:prstDash val="solid"/>
            <a:round/>
            <a:headEnd type="none" w="lg" len="lg"/>
            <a:tailEnd type="triangle" w="lg" len="lg"/>
          </a:ln>
        </p:spPr>
      </p:cxnSp>
      <p:sp>
        <p:nvSpPr>
          <p:cNvPr name="AutoShape 8" id="8"/>
          <p:cNvSpPr/>
          <p:nvPr/>
        </p:nvSpPr>
        <p:spPr>
          <a:xfrm rot="0" flipH="false" flipV="false">
            <a:off x="1143000" y="3251200"/>
            <a:ext cx="9906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8A8578"/>
                </a:solidFill>
                <a:latin typeface="Lora"/>
                <a:ea typeface="Lora"/>
                <a:cs typeface="Lora"/>
                <a:sym typeface="Lora"/>
              </a:rPr>
              <a:t>ECOLOGICAL AGENCY, AN ACHIEVEMENT IN CONTEXT (Biesta &amp; Tedder, 2007; Priestley et al., 2015)</a:t>
            </a:r>
            <a:endParaRPr lang="en-US" sz="1100"/>
          </a:p>
        </p:txBody>
      </p:sp>
      <p:sp>
        <p:nvSpPr>
          <p:cNvPr name="AutoShape 9" id="9"/>
          <p:cNvSpPr/>
          <p:nvPr/>
        </p:nvSpPr>
        <p:spPr>
          <a:xfrm rot="0" flipH="false" flipV="false">
            <a:off x="1143000" y="3581400"/>
            <a:ext cx="3175000" cy="1219200"/>
          </a:xfrm>
          <a:prstGeom prst="roundRect">
            <a:avLst>
              <a:gd name="adj" fmla="val 0"/>
            </a:avLst>
          </a:prstGeom>
          <a:solidFill>
            <a:srgbClr val="FFFFFF">
              <a:alpha val="60000"/>
            </a:srgbClr>
          </a:solidFill>
          <a:ln w="12700" cmpd="sng" cap="flat">
            <a:solidFill>
              <a:srgbClr val="C9BFAE">
                <a:alpha val="10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1346200" y="3708400"/>
            <a:ext cx="27686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true" i="false" strike="noStrike" u="none" sz="1300">
                <a:solidFill>
                  <a:srgbClr val="8C4A34"/>
                </a:solidFill>
                <a:latin typeface="Lora"/>
                <a:ea typeface="Lora"/>
                <a:cs typeface="Lora"/>
                <a:sym typeface="Lora"/>
              </a:rPr>
              <a:t>Iterational</a:t>
            </a:r>
            <a:r>
              <a:rPr lang="en-US" b="false" i="false" strike="noStrike" u="none" sz="1300">
                <a:solidFill>
                  <a:srgbClr val="4A4842"/>
                </a:solidFill>
                <a:latin typeface="Lora"/>
                <a:ea typeface="Lora"/>
                <a:cs typeface="Lora"/>
                <a:sym typeface="Lora"/>
              </a:rPr>
              <a:t/>
            </a:r>
            <a:endParaRPr lang="en-US" sz="1100"/>
          </a:p>
          <a:p>
            <a:pPr algn="l" marL="0" indent="0">
              <a:lnSpc>
                <a:spcPct val="112500"/>
              </a:lnSpc>
            </a:pPr>
            <a:r>
              <a:rPr lang="en-US" b="false" i="false" strike="noStrike" u="none" sz="1300">
                <a:solidFill>
                  <a:srgbClr val="4A4842"/>
                </a:solidFill>
                <a:latin typeface="Lora"/>
                <a:ea typeface="Lora"/>
                <a:cs typeface="Lora"/>
                <a:sym typeface="Lora"/>
              </a:rPr>
              <a:t>Past experience, training, professional history the teacher draws on</a:t>
            </a:r>
          </a:p>
        </p:txBody>
      </p:sp>
      <p:sp>
        <p:nvSpPr>
          <p:cNvPr name="AutoShape 11" id="11"/>
          <p:cNvSpPr/>
          <p:nvPr/>
        </p:nvSpPr>
        <p:spPr>
          <a:xfrm rot="0" flipH="false" flipV="false">
            <a:off x="4508500" y="3581400"/>
            <a:ext cx="3175000" cy="1219200"/>
          </a:xfrm>
          <a:prstGeom prst="roundRect">
            <a:avLst>
              <a:gd name="adj" fmla="val 0"/>
            </a:avLst>
          </a:prstGeom>
          <a:solidFill>
            <a:srgbClr val="FFFFFF">
              <a:alpha val="60000"/>
            </a:srgbClr>
          </a:solidFill>
          <a:ln w="12700" cmpd="sng" cap="flat">
            <a:solidFill>
              <a:srgbClr val="C9BFAE">
                <a:alpha val="10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4711700" y="3708400"/>
            <a:ext cx="27686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true" i="false" strike="noStrike" u="none" sz="1300">
                <a:solidFill>
                  <a:srgbClr val="8C4A34"/>
                </a:solidFill>
                <a:latin typeface="Lora"/>
                <a:ea typeface="Lora"/>
                <a:cs typeface="Lora"/>
                <a:sym typeface="Lora"/>
              </a:rPr>
              <a:t>Projective</a:t>
            </a:r>
            <a:r>
              <a:rPr lang="en-US" b="false" i="false" strike="noStrike" u="none" sz="1300">
                <a:solidFill>
                  <a:srgbClr val="4A4842"/>
                </a:solidFill>
                <a:latin typeface="Lora"/>
                <a:ea typeface="Lora"/>
                <a:cs typeface="Lora"/>
                <a:sym typeface="Lora"/>
              </a:rPr>
              <a:t/>
            </a:r>
            <a:endParaRPr lang="en-US" sz="1100"/>
          </a:p>
          <a:p>
            <a:pPr algn="l" marL="0" indent="0">
              <a:lnSpc>
                <a:spcPct val="112500"/>
              </a:lnSpc>
            </a:pPr>
            <a:r>
              <a:rPr lang="en-US" b="false" i="false" strike="noStrike" u="none" sz="1300">
                <a:solidFill>
                  <a:srgbClr val="4A4842"/>
                </a:solidFill>
                <a:latin typeface="Lora"/>
                <a:ea typeface="Lora"/>
                <a:cs typeface="Lora"/>
                <a:sym typeface="Lora"/>
              </a:rPr>
              <a:t>Future goals for learners, the exam, and professional identity</a:t>
            </a:r>
          </a:p>
        </p:txBody>
      </p:sp>
      <p:sp>
        <p:nvSpPr>
          <p:cNvPr name="AutoShape 13" id="13"/>
          <p:cNvSpPr/>
          <p:nvPr/>
        </p:nvSpPr>
        <p:spPr>
          <a:xfrm rot="0" flipH="false" flipV="false">
            <a:off x="7874000" y="3581400"/>
            <a:ext cx="3175000" cy="1219200"/>
          </a:xfrm>
          <a:prstGeom prst="roundRect">
            <a:avLst>
              <a:gd name="adj" fmla="val 0"/>
            </a:avLst>
          </a:prstGeom>
          <a:solidFill>
            <a:srgbClr val="FFFFFF">
              <a:alpha val="60000"/>
            </a:srgbClr>
          </a:solidFill>
          <a:ln w="12700" cmpd="sng" cap="flat">
            <a:solidFill>
              <a:srgbClr val="C9BFAE">
                <a:alpha val="100000"/>
              </a:srgbClr>
            </a:solidFill>
            <a:prstDash val="solid"/>
            <a:round/>
          </a:ln>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8077200" y="3708400"/>
            <a:ext cx="27686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true" i="false" strike="noStrike" u="none" sz="1300">
                <a:solidFill>
                  <a:srgbClr val="8C4A34"/>
                </a:solidFill>
                <a:latin typeface="Lora"/>
                <a:ea typeface="Lora"/>
                <a:cs typeface="Lora"/>
                <a:sym typeface="Lora"/>
              </a:rPr>
              <a:t>Practical-evaluative</a:t>
            </a:r>
            <a:r>
              <a:rPr lang="en-US" b="false" i="false" strike="noStrike" u="none" sz="1300">
                <a:solidFill>
                  <a:srgbClr val="4A4842"/>
                </a:solidFill>
                <a:latin typeface="Lora"/>
                <a:ea typeface="Lora"/>
                <a:cs typeface="Lora"/>
                <a:sym typeface="Lora"/>
              </a:rPr>
              <a:t/>
            </a:r>
            <a:endParaRPr lang="en-US" sz="1100"/>
          </a:p>
          <a:p>
            <a:pPr algn="l" marL="0" indent="0">
              <a:lnSpc>
                <a:spcPct val="112500"/>
              </a:lnSpc>
            </a:pPr>
            <a:r>
              <a:rPr lang="en-US" b="false" i="false" strike="noStrike" u="none" sz="1300">
                <a:solidFill>
                  <a:srgbClr val="4A4842"/>
                </a:solidFill>
                <a:latin typeface="Lora"/>
                <a:ea typeface="Lora"/>
                <a:cs typeface="Lora"/>
                <a:sym typeface="Lora"/>
              </a:rPr>
              <a:t>Judgement made in the present lesson, under real constraints</a:t>
            </a:r>
          </a:p>
        </p:txBody>
      </p:sp>
      <p:cxnSp>
        <p:nvCxnSpPr>
          <p:cNvPr name="Connector 15" id="15"/>
          <p:cNvCxnSpPr/>
          <p:nvPr/>
        </p:nvCxnSpPr>
        <p:spPr>
          <a:xfrm rot="5256843" flipH="false" flipV="false">
            <a:off x="5943600" y="4946782"/>
            <a:ext cx="304800" cy="12700"/>
          </a:xfrm>
          <a:prstGeom prst="straightConnector1">
            <a:avLst/>
          </a:prstGeom>
          <a:solidFill>
            <a:srgbClr val="DEE0E3">
              <a:alpha val="100000"/>
            </a:srgbClr>
          </a:solidFill>
          <a:ln w="25400" cmpd="sng" cap="flat">
            <a:solidFill>
              <a:srgbClr val="8C4A34">
                <a:alpha val="100000"/>
              </a:srgbClr>
            </a:solidFill>
            <a:prstDash val="solid"/>
            <a:round/>
            <a:headEnd type="none" w="lg" len="lg"/>
            <a:tailEnd type="triangle" w="lg" len="lg"/>
          </a:ln>
        </p:spPr>
      </p:cxnSp>
      <p:sp>
        <p:nvSpPr>
          <p:cNvPr name="AutoShape 16" id="16"/>
          <p:cNvSpPr/>
          <p:nvPr/>
        </p:nvSpPr>
        <p:spPr>
          <a:xfrm rot="0" flipH="false" flipV="false">
            <a:off x="1143000" y="5181600"/>
            <a:ext cx="9906000" cy="990600"/>
          </a:xfrm>
          <a:prstGeom prst="roundRect">
            <a:avLst>
              <a:gd name="adj" fmla="val 0"/>
            </a:avLst>
          </a:prstGeom>
          <a:solidFill>
            <a:srgbClr val="2A2A28">
              <a:alpha val="6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1397000" y="5283200"/>
            <a:ext cx="9398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8A8578"/>
                </a:solidFill>
                <a:latin typeface="Lora"/>
                <a:ea typeface="Lora"/>
                <a:cs typeface="Lora"/>
                <a:sym typeface="Lora"/>
              </a:rPr>
              <a:t>NESTED CONDITIONS THAT OPEN OR CLOSE ROOM TO MANOEUVRE</a:t>
            </a:r>
            <a:endParaRPr lang="en-US" sz="1100"/>
          </a:p>
        </p:txBody>
      </p:sp>
      <p:sp>
        <p:nvSpPr>
          <p:cNvPr name="AutoShape 18" id="18"/>
          <p:cNvSpPr/>
          <p:nvPr/>
        </p:nvSpPr>
        <p:spPr>
          <a:xfrm rot="0" flipH="false" flipV="false">
            <a:off x="1397000" y="5613400"/>
            <a:ext cx="9398000" cy="4572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2A2A28"/>
                </a:solidFill>
                <a:latin typeface="Lora"/>
                <a:ea typeface="Lora"/>
                <a:cs typeface="Lora"/>
                <a:sym typeface="Lora"/>
              </a:rPr>
              <a:t>Classroom &amp; materials · Collegial &amp; institutional · Assessment &amp; HSK policy · Professional community · Sociocultural setting</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4EFE4">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143000" y="711200"/>
            <a:ext cx="635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8C4A34"/>
                </a:solidFill>
                <a:latin typeface="Lora"/>
                <a:ea typeface="Lora"/>
                <a:cs typeface="Lora"/>
                <a:sym typeface="Lora"/>
              </a:rPr>
              <a:t>05 · METHODOLOGY</a:t>
            </a:r>
            <a:endParaRPr lang="en-US" sz="1100"/>
          </a:p>
        </p:txBody>
      </p:sp>
      <p:sp>
        <p:nvSpPr>
          <p:cNvPr name="AutoShape 3" id="3"/>
          <p:cNvSpPr/>
          <p:nvPr/>
        </p:nvSpPr>
        <p:spPr>
          <a:xfrm rot="0" flipH="false" flipV="false">
            <a:off x="1143000" y="1016000"/>
            <a:ext cx="9906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2A2A28"/>
                </a:solidFill>
                <a:latin typeface="Lora"/>
                <a:ea typeface="Lora"/>
                <a:cs typeface="Lora"/>
                <a:sym typeface="Lora"/>
              </a:rPr>
              <a:t>Why a qualitative, multiple-case study</a:t>
            </a:r>
            <a:endParaRPr lang="en-US" sz="1100"/>
          </a:p>
        </p:txBody>
      </p:sp>
      <p:cxnSp>
        <p:nvCxnSpPr>
          <p:cNvPr name="Connector 4" id="4"/>
          <p:cNvCxnSpPr/>
          <p:nvPr/>
        </p:nvCxnSpPr>
        <p:spPr>
          <a:xfrm rot="-4407" flipH="false" flipV="false">
            <a:off x="1143004" y="1847850"/>
            <a:ext cx="9906000" cy="12700"/>
          </a:xfrm>
          <a:prstGeom prst="straightConnector1">
            <a:avLst/>
          </a:prstGeom>
          <a:solidFill>
            <a:srgbClr val="DEE0E3">
              <a:alpha val="100000"/>
            </a:srgbClr>
          </a:solidFill>
          <a:ln w="12700" cmpd="sng" cap="flat">
            <a:solidFill>
              <a:srgbClr val="C9BFAE">
                <a:alpha val="100000"/>
              </a:srgbClr>
            </a:solidFill>
            <a:prstDash val="solid"/>
            <a:round/>
            <a:headEnd type="none" w="med" len="med"/>
            <a:tailEnd type="none" w="med" len="med"/>
          </a:ln>
        </p:spPr>
      </p:cxnSp>
      <p:sp>
        <p:nvSpPr>
          <p:cNvPr name="AutoShape 5" id="5"/>
          <p:cNvSpPr/>
          <p:nvPr/>
        </p:nvSpPr>
        <p:spPr>
          <a:xfrm rot="0" flipH="false" flipV="false">
            <a:off x="1143000" y="2235200"/>
            <a:ext cx="4826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8C4A34"/>
                </a:solidFill>
                <a:latin typeface="Lora"/>
                <a:ea typeface="Lora"/>
                <a:cs typeface="Lora"/>
                <a:sym typeface="Lora"/>
              </a:rPr>
              <a:t>What the design IS</a:t>
            </a:r>
            <a:endParaRPr lang="en-US" sz="1100"/>
          </a:p>
        </p:txBody>
      </p:sp>
      <p:sp>
        <p:nvSpPr>
          <p:cNvPr name="AutoShape 6" id="6"/>
          <p:cNvSpPr/>
          <p:nvPr/>
        </p:nvSpPr>
        <p:spPr>
          <a:xfrm rot="0" flipH="false" flipV="false">
            <a:off x="1143000" y="2717800"/>
            <a:ext cx="4826000" cy="304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400">
                <a:solidFill>
                  <a:srgbClr val="4A4842"/>
                </a:solidFill>
                <a:latin typeface="Lora"/>
                <a:ea typeface="Lora"/>
                <a:cs typeface="Lora"/>
                <a:sym typeface="Lora"/>
              </a:rPr>
              <a:t>An interpretive qualitative study of </a:t>
            </a:r>
            <a:r>
              <a:rPr lang="en-US" b="true" i="false" strike="noStrike" u="none" sz="1400">
                <a:solidFill>
                  <a:srgbClr val="4A4842"/>
                </a:solidFill>
                <a:latin typeface="Lora"/>
                <a:ea typeface="Lora"/>
                <a:cs typeface="Lora"/>
                <a:sym typeface="Lora"/>
              </a:rPr>
              <a:t>multiple teachers</a:t>
            </a:r>
            <a:r>
              <a:rPr lang="en-US" b="false" i="false" strike="noStrike" u="none" sz="1400">
                <a:solidFill>
                  <a:srgbClr val="4A4842"/>
                </a:solidFill>
                <a:latin typeface="Lora"/>
                <a:ea typeface="Lora"/>
                <a:cs typeface="Lora"/>
                <a:sym typeface="Lora"/>
              </a:rPr>
              <a:t>, each studied within their own institution.</a:t>
            </a:r>
            <a:endParaRPr lang="en-US" sz="1100"/>
          </a:p>
          <a:p>
            <a:pPr algn="l" marL="0" indent="0">
              <a:lnSpc>
                <a:spcPct val="133333"/>
              </a:lnSpc>
            </a:pPr>
            <a:r>
              <a:rPr lang="en-US" b="false" i="false" strike="noStrike" u="none" sz="1400">
                <a:solidFill>
                  <a:srgbClr val="4A4842"/>
                </a:solidFill>
                <a:latin typeface="Lora"/>
                <a:ea typeface="Lora"/>
                <a:cs typeface="Lora"/>
                <a:sym typeface="Lora"/>
              </a:rPr>
              <a:t>about 6 to 8 Pakistani teachers, observed across 2 to 3 lessons each (revised after the pilot).</a:t>
            </a:r>
          </a:p>
          <a:p>
            <a:pPr algn="l" marL="0" indent="0">
              <a:lnSpc>
                <a:spcPct val="133333"/>
              </a:lnSpc>
            </a:pPr>
            <a:r>
              <a:rPr lang="en-US" b="false" i="false" strike="noStrike" u="none" sz="1400">
                <a:solidFill>
                  <a:srgbClr val="4A4842"/>
                </a:solidFill>
                <a:latin typeface="Lora"/>
                <a:ea typeface="Lora"/>
                <a:cs typeface="Lora"/>
                <a:sym typeface="Lora"/>
              </a:rPr>
              <a:t>Depth of observation, paired with materials comparison, matters more than counting more teachers.</a:t>
            </a:r>
          </a:p>
          <a:p>
            <a:pPr algn="l" marL="0" indent="0">
              <a:lnSpc>
                <a:spcPct val="133333"/>
              </a:lnSpc>
            </a:pPr>
            <a:r>
              <a:rPr lang="en-US" b="false" i="false" strike="noStrike" u="none" sz="1400">
                <a:solidFill>
                  <a:srgbClr val="8A8578"/>
                </a:solidFill>
                <a:latin typeface="Lora"/>
                <a:ea typeface="Lora"/>
                <a:cs typeface="Lora"/>
                <a:sym typeface="Lora"/>
              </a:rPr>
              <a:t>Precedent: Priestley et al. (2015); Guerrettaz &amp; Johnston (2013); Dao et al. (2025).</a:t>
            </a:r>
          </a:p>
        </p:txBody>
      </p:sp>
      <p:cxnSp>
        <p:nvCxnSpPr>
          <p:cNvPr name="Connector 7" id="7"/>
          <p:cNvCxnSpPr/>
          <p:nvPr/>
        </p:nvCxnSpPr>
        <p:spPr>
          <a:xfrm rot="5387267" flipH="false" flipV="false">
            <a:off x="4381500" y="3994162"/>
            <a:ext cx="3429000" cy="12700"/>
          </a:xfrm>
          <a:prstGeom prst="straightConnector1">
            <a:avLst/>
          </a:prstGeom>
          <a:solidFill>
            <a:srgbClr val="DEE0E3">
              <a:alpha val="100000"/>
            </a:srgbClr>
          </a:solidFill>
          <a:ln w="12700" cmpd="sng" cap="flat">
            <a:solidFill>
              <a:srgbClr val="C9BFAE">
                <a:alpha val="100000"/>
              </a:srgbClr>
            </a:solidFill>
            <a:prstDash val="solid"/>
            <a:round/>
            <a:headEnd type="none" w="med" len="med"/>
            <a:tailEnd type="none" w="med" len="med"/>
          </a:ln>
        </p:spPr>
      </p:cxnSp>
      <p:sp>
        <p:nvSpPr>
          <p:cNvPr name="AutoShape 8" id="8"/>
          <p:cNvSpPr/>
          <p:nvPr/>
        </p:nvSpPr>
        <p:spPr>
          <a:xfrm rot="0" flipH="false" flipV="false">
            <a:off x="6477000" y="2235200"/>
            <a:ext cx="4572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A2A28"/>
                </a:solidFill>
                <a:latin typeface="Lora"/>
                <a:ea typeface="Lora"/>
                <a:cs typeface="Lora"/>
                <a:sym typeface="Lora"/>
              </a:rPr>
              <a:t>What it deliberately IS NOT</a:t>
            </a:r>
            <a:endParaRPr lang="en-US" sz="1100"/>
          </a:p>
        </p:txBody>
      </p:sp>
      <p:sp>
        <p:nvSpPr>
          <p:cNvPr name="AutoShape 9" id="9"/>
          <p:cNvSpPr/>
          <p:nvPr/>
        </p:nvSpPr>
        <p:spPr>
          <a:xfrm rot="0" flipH="false" flipV="false">
            <a:off x="6477000" y="2717800"/>
            <a:ext cx="4572000" cy="304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400">
                <a:solidFill>
                  <a:srgbClr val="4A4842"/>
                </a:solidFill>
                <a:latin typeface="Lora"/>
                <a:ea typeface="Lora"/>
                <a:cs typeface="Lora"/>
                <a:sym typeface="Lora"/>
              </a:rPr>
              <a:t>Not a survey of attitudes toward localization, that design already exists in Pakistan (Lu et al., 2024; Naheed, 2026).</a:t>
            </a:r>
            <a:endParaRPr lang="en-US" sz="1100"/>
          </a:p>
          <a:p>
            <a:pPr algn="l" marL="0" indent="0">
              <a:lnSpc>
                <a:spcPct val="133333"/>
              </a:lnSpc>
            </a:pPr>
            <a:r>
              <a:rPr lang="en-US" b="false" i="false" strike="noStrike" u="none" sz="1400">
                <a:solidFill>
                  <a:srgbClr val="4A4842"/>
                </a:solidFill>
                <a:latin typeface="Lora"/>
                <a:ea typeface="Lora"/>
                <a:cs typeface="Lora"/>
                <a:sym typeface="Lora"/>
              </a:rPr>
              <a:t>Not an evaluation score of the HSK series as a product.</a:t>
            </a:r>
          </a:p>
          <a:p>
            <a:pPr algn="l" marL="0" indent="0">
              <a:lnSpc>
                <a:spcPct val="133333"/>
              </a:lnSpc>
            </a:pPr>
            <a:r>
              <a:rPr lang="en-US" b="false" i="false" strike="noStrike" u="none" sz="1400">
                <a:solidFill>
                  <a:srgbClr val="4A4842"/>
                </a:solidFill>
                <a:latin typeface="Lora"/>
                <a:ea typeface="Lora"/>
                <a:cs typeface="Lora"/>
                <a:sym typeface="Lora"/>
              </a:rPr>
              <a:t>Not needs analysis, cognitive-load testing, or a new textbook as output.</a:t>
            </a:r>
          </a:p>
          <a:p>
            <a:pPr algn="l" marL="0" indent="0">
              <a:lnSpc>
                <a:spcPct val="133333"/>
              </a:lnSpc>
            </a:pPr>
            <a:r>
              <a:rPr lang="en-US" b="false" i="false" strike="noStrike" u="none" sz="1400">
                <a:solidFill>
                  <a:srgbClr val="8A8578"/>
                </a:solidFill>
                <a:latin typeface="Lora"/>
                <a:ea typeface="Lora"/>
                <a:cs typeface="Lora"/>
                <a:sym typeface="Lora"/>
              </a:rPr>
              <a:t>Reason: Criado (2023) and Neupane (2025) already show reported change outpaces actual change.</a:t>
            </a:r>
          </a:p>
        </p:txBody>
      </p:sp>
      <p:cxnSp>
        <p:nvCxnSpPr>
          <p:cNvPr name="Connector 10" id="10"/>
          <p:cNvCxnSpPr/>
          <p:nvPr/>
        </p:nvCxnSpPr>
        <p:spPr>
          <a:xfrm rot="-4407" flipH="false" flipV="false">
            <a:off x="1143004" y="6064250"/>
            <a:ext cx="9906000" cy="12700"/>
          </a:xfrm>
          <a:prstGeom prst="straightConnector1">
            <a:avLst/>
          </a:prstGeom>
          <a:solidFill>
            <a:srgbClr val="DEE0E3">
              <a:alpha val="100000"/>
            </a:srgbClr>
          </a:solidFill>
          <a:ln w="12700" cmpd="sng" cap="flat">
            <a:solidFill>
              <a:srgbClr val="C9BFAE">
                <a:alpha val="100000"/>
              </a:srgbClr>
            </a:solidFill>
            <a:prstDash val="solid"/>
            <a:round/>
            <a:headEnd type="none" w="med" len="med"/>
            <a:tailEnd type="none" w="med" len="med"/>
          </a:ln>
        </p:spPr>
      </p:cxnSp>
      <p:sp>
        <p:nvSpPr>
          <p:cNvPr name="AutoShape 11" id="11"/>
          <p:cNvSpPr/>
          <p:nvPr/>
        </p:nvSpPr>
        <p:spPr>
          <a:xfrm rot="0" flipH="false" flipV="false">
            <a:off x="1143000" y="6172200"/>
            <a:ext cx="990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true" strike="noStrike" u="none" sz="1300">
                <a:solidFill>
                  <a:srgbClr val="2A2A28"/>
                </a:solidFill>
                <a:latin typeface="Lora"/>
                <a:ea typeface="Lora"/>
                <a:cs typeface="Lora"/>
                <a:sym typeface="Lora"/>
              </a:rPr>
              <a:t>The missing evidence is what happens inside the classroom under real conditions, reached by observing it directly, not by asking about it in the abstract.</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4EFE4">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143000" y="711200"/>
            <a:ext cx="635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8C4A34"/>
                </a:solidFill>
                <a:latin typeface="Lora"/>
                <a:ea typeface="Lora"/>
                <a:cs typeface="Lora"/>
                <a:sym typeface="Lora"/>
              </a:rPr>
              <a:t>05 · DATA SOURCES</a:t>
            </a:r>
            <a:endParaRPr lang="en-US" sz="1100"/>
          </a:p>
        </p:txBody>
      </p:sp>
      <p:sp>
        <p:nvSpPr>
          <p:cNvPr name="AutoShape 3" id="3"/>
          <p:cNvSpPr/>
          <p:nvPr/>
        </p:nvSpPr>
        <p:spPr>
          <a:xfrm rot="0" flipH="false" flipV="false">
            <a:off x="1143000" y="1016000"/>
            <a:ext cx="9906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2A2A28"/>
                </a:solidFill>
                <a:latin typeface="Lora"/>
                <a:ea typeface="Lora"/>
                <a:cs typeface="Lora"/>
                <a:sym typeface="Lora"/>
              </a:rPr>
              <a:t>Five sources, because each is limited on its own</a:t>
            </a:r>
            <a:endParaRPr lang="en-US" sz="1100"/>
          </a:p>
        </p:txBody>
      </p:sp>
      <p:cxnSp>
        <p:nvCxnSpPr>
          <p:cNvPr name="Connector 4" id="4"/>
          <p:cNvCxnSpPr/>
          <p:nvPr/>
        </p:nvCxnSpPr>
        <p:spPr>
          <a:xfrm rot="-4407" flipH="false" flipV="false">
            <a:off x="1143004" y="1847850"/>
            <a:ext cx="9906000" cy="12700"/>
          </a:xfrm>
          <a:prstGeom prst="straightConnector1">
            <a:avLst/>
          </a:prstGeom>
          <a:solidFill>
            <a:srgbClr val="DEE0E3">
              <a:alpha val="100000"/>
            </a:srgbClr>
          </a:solidFill>
          <a:ln w="12700" cmpd="sng" cap="flat">
            <a:solidFill>
              <a:srgbClr val="C9BFAE">
                <a:alpha val="100000"/>
              </a:srgbClr>
            </a:solidFill>
            <a:prstDash val="solid"/>
            <a:round/>
            <a:headEnd type="none" w="med" len="med"/>
            <a:tailEnd type="none" w="med" len="med"/>
          </a:ln>
        </p:spPr>
      </p:cxnSp>
      <p:sp>
        <p:nvSpPr>
          <p:cNvPr name="AutoShape 5" id="5"/>
          <p:cNvSpPr/>
          <p:nvPr/>
        </p:nvSpPr>
        <p:spPr>
          <a:xfrm rot="0" flipH="false" flipV="false">
            <a:off x="1143000" y="2184400"/>
            <a:ext cx="26416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A2A28"/>
                </a:solidFill>
                <a:latin typeface="Lora"/>
                <a:ea typeface="Lora"/>
                <a:cs typeface="Lora"/>
                <a:sym typeface="Lora"/>
              </a:rPr>
              <a:t>Materials comparison</a:t>
            </a:r>
            <a:endParaRPr lang="en-US" sz="1100"/>
          </a:p>
        </p:txBody>
      </p:sp>
      <p:sp>
        <p:nvSpPr>
          <p:cNvPr name="AutoShape 6" id="6"/>
          <p:cNvSpPr/>
          <p:nvPr/>
        </p:nvSpPr>
        <p:spPr>
          <a:xfrm rot="0" flipH="false" flipV="false">
            <a:off x="3937000" y="2184400"/>
            <a:ext cx="56515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false" i="false" strike="noStrike" u="none" sz="1300">
                <a:solidFill>
                  <a:srgbClr val="4A4842"/>
                </a:solidFill>
                <a:latin typeface="Lora"/>
                <a:ea typeface="Lora"/>
                <a:cs typeface="Lora"/>
                <a:sym typeface="Lora"/>
              </a:rPr>
              <a:t>The prescribed page vs. slides, worksheets and tests the teacher actually made or used, traces of what was added, cut, substituted or reordered.</a:t>
            </a:r>
            <a:endParaRPr lang="en-US" sz="1100"/>
          </a:p>
        </p:txBody>
      </p:sp>
      <p:sp>
        <p:nvSpPr>
          <p:cNvPr name="AutoShape 7" id="7"/>
          <p:cNvSpPr/>
          <p:nvPr/>
        </p:nvSpPr>
        <p:spPr>
          <a:xfrm rot="0" flipH="false" flipV="false">
            <a:off x="9906000" y="2184400"/>
            <a:ext cx="1143000" cy="3048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true" i="false" strike="noStrike" u="none" sz="1100">
                <a:solidFill>
                  <a:srgbClr val="8C4A34"/>
                </a:solidFill>
                <a:latin typeface="Lora"/>
                <a:ea typeface="Lora"/>
                <a:cs typeface="Lora"/>
                <a:sym typeface="Lora"/>
              </a:rPr>
              <a:t>RQ1</a:t>
            </a:r>
            <a:endParaRPr lang="en-US" sz="1100"/>
          </a:p>
        </p:txBody>
      </p:sp>
      <p:cxnSp>
        <p:nvCxnSpPr>
          <p:cNvPr name="Connector 8" id="8"/>
          <p:cNvCxnSpPr/>
          <p:nvPr/>
        </p:nvCxnSpPr>
        <p:spPr>
          <a:xfrm rot="-4407" flipH="false" flipV="false">
            <a:off x="1143004" y="2838450"/>
            <a:ext cx="9906000" cy="12700"/>
          </a:xfrm>
          <a:prstGeom prst="straightConnector1">
            <a:avLst/>
          </a:prstGeom>
          <a:solidFill>
            <a:srgbClr val="DEE0E3">
              <a:alpha val="100000"/>
            </a:srgbClr>
          </a:solidFill>
          <a:ln w="12700" cmpd="sng" cap="flat">
            <a:solidFill>
              <a:srgbClr val="C9BFAE">
                <a:alpha val="100000"/>
              </a:srgbClr>
            </a:solidFill>
            <a:prstDash val="solid"/>
            <a:round/>
            <a:headEnd type="none" w="med" len="med"/>
            <a:tailEnd type="none" w="med" len="med"/>
          </a:ln>
        </p:spPr>
      </p:cxnSp>
      <p:sp>
        <p:nvSpPr>
          <p:cNvPr name="AutoShape 9" id="9"/>
          <p:cNvSpPr/>
          <p:nvPr/>
        </p:nvSpPr>
        <p:spPr>
          <a:xfrm rot="0" flipH="false" flipV="false">
            <a:off x="1143000" y="2971800"/>
            <a:ext cx="26416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A2A28"/>
                </a:solidFill>
                <a:latin typeface="Lora"/>
                <a:ea typeface="Lora"/>
                <a:cs typeface="Lora"/>
                <a:sym typeface="Lora"/>
              </a:rPr>
              <a:t>Lesson observation</a:t>
            </a:r>
            <a:endParaRPr lang="en-US" sz="1100"/>
          </a:p>
        </p:txBody>
      </p:sp>
      <p:sp>
        <p:nvSpPr>
          <p:cNvPr name="AutoShape 10" id="10"/>
          <p:cNvSpPr/>
          <p:nvPr/>
        </p:nvSpPr>
        <p:spPr>
          <a:xfrm rot="0" flipH="false" flipV="false">
            <a:off x="3937000" y="2971800"/>
            <a:ext cx="56515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false" i="false" strike="noStrike" u="none" sz="1300">
                <a:solidFill>
                  <a:srgbClr val="4A4842"/>
                </a:solidFill>
                <a:latin typeface="Lora"/>
                <a:ea typeface="Lora"/>
                <a:cs typeface="Lora"/>
                <a:sym typeface="Lora"/>
              </a:rPr>
              <a:t>Recontextualization as it happens, including the moments a teacher simply follows the book closely.</a:t>
            </a:r>
            <a:endParaRPr lang="en-US" sz="1100"/>
          </a:p>
        </p:txBody>
      </p:sp>
      <p:sp>
        <p:nvSpPr>
          <p:cNvPr name="AutoShape 11" id="11"/>
          <p:cNvSpPr/>
          <p:nvPr/>
        </p:nvSpPr>
        <p:spPr>
          <a:xfrm rot="0" flipH="false" flipV="false">
            <a:off x="9906000" y="2971800"/>
            <a:ext cx="1143000" cy="3048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true" i="false" strike="noStrike" u="none" sz="1100">
                <a:solidFill>
                  <a:srgbClr val="8C4A34"/>
                </a:solidFill>
                <a:latin typeface="Lora"/>
                <a:ea typeface="Lora"/>
                <a:cs typeface="Lora"/>
                <a:sym typeface="Lora"/>
              </a:rPr>
              <a:t>RQ1, RQ3</a:t>
            </a:r>
            <a:endParaRPr lang="en-US" sz="1100"/>
          </a:p>
        </p:txBody>
      </p:sp>
      <p:cxnSp>
        <p:nvCxnSpPr>
          <p:cNvPr name="Connector 12" id="12"/>
          <p:cNvCxnSpPr/>
          <p:nvPr/>
        </p:nvCxnSpPr>
        <p:spPr>
          <a:xfrm rot="-4407" flipH="false" flipV="false">
            <a:off x="1143004" y="3625850"/>
            <a:ext cx="9906000" cy="12700"/>
          </a:xfrm>
          <a:prstGeom prst="straightConnector1">
            <a:avLst/>
          </a:prstGeom>
          <a:solidFill>
            <a:srgbClr val="DEE0E3">
              <a:alpha val="100000"/>
            </a:srgbClr>
          </a:solidFill>
          <a:ln w="12700" cmpd="sng" cap="flat">
            <a:solidFill>
              <a:srgbClr val="C9BFAE">
                <a:alpha val="100000"/>
              </a:srgbClr>
            </a:solidFill>
            <a:prstDash val="solid"/>
            <a:round/>
            <a:headEnd type="none" w="med" len="med"/>
            <a:tailEnd type="none" w="med" len="med"/>
          </a:ln>
        </p:spPr>
      </p:cxnSp>
      <p:sp>
        <p:nvSpPr>
          <p:cNvPr name="AutoShape 13" id="13"/>
          <p:cNvSpPr/>
          <p:nvPr/>
        </p:nvSpPr>
        <p:spPr>
          <a:xfrm rot="0" flipH="false" flipV="false">
            <a:off x="1143000" y="3759200"/>
            <a:ext cx="26416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A2A28"/>
                </a:solidFill>
                <a:latin typeface="Lora"/>
                <a:ea typeface="Lora"/>
                <a:cs typeface="Lora"/>
                <a:sym typeface="Lora"/>
              </a:rPr>
              <a:t>Semi-structured interview</a:t>
            </a:r>
            <a:endParaRPr lang="en-US" sz="1100"/>
          </a:p>
        </p:txBody>
      </p:sp>
      <p:sp>
        <p:nvSpPr>
          <p:cNvPr name="AutoShape 14" id="14"/>
          <p:cNvSpPr/>
          <p:nvPr/>
        </p:nvSpPr>
        <p:spPr>
          <a:xfrm rot="0" flipH="false" flipV="false">
            <a:off x="3937000" y="3759200"/>
            <a:ext cx="56515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false" i="false" strike="noStrike" u="none" sz="1300">
                <a:solidFill>
                  <a:srgbClr val="4A4842"/>
                </a:solidFill>
                <a:latin typeface="Lora"/>
                <a:ea typeface="Lora"/>
                <a:cs typeface="Lora"/>
                <a:sym typeface="Lora"/>
              </a:rPr>
              <a:t>Tied to the specific lesson observed: past resources, future goals, and stated reasons for the choices made.</a:t>
            </a:r>
            <a:endParaRPr lang="en-US" sz="1100"/>
          </a:p>
        </p:txBody>
      </p:sp>
      <p:sp>
        <p:nvSpPr>
          <p:cNvPr name="AutoShape 15" id="15"/>
          <p:cNvSpPr/>
          <p:nvPr/>
        </p:nvSpPr>
        <p:spPr>
          <a:xfrm rot="0" flipH="false" flipV="false">
            <a:off x="9906000" y="3759200"/>
            <a:ext cx="1143000" cy="3048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true" i="false" strike="noStrike" u="none" sz="1100">
                <a:solidFill>
                  <a:srgbClr val="8C4A34"/>
                </a:solidFill>
                <a:latin typeface="Lora"/>
                <a:ea typeface="Lora"/>
                <a:cs typeface="Lora"/>
                <a:sym typeface="Lora"/>
              </a:rPr>
              <a:t>RQ2, RQ3</a:t>
            </a:r>
            <a:endParaRPr lang="en-US" sz="1100"/>
          </a:p>
        </p:txBody>
      </p:sp>
      <p:cxnSp>
        <p:nvCxnSpPr>
          <p:cNvPr name="Connector 16" id="16"/>
          <p:cNvCxnSpPr/>
          <p:nvPr/>
        </p:nvCxnSpPr>
        <p:spPr>
          <a:xfrm rot="-4407" flipH="false" flipV="false">
            <a:off x="1143004" y="4413250"/>
            <a:ext cx="9906000" cy="12700"/>
          </a:xfrm>
          <a:prstGeom prst="straightConnector1">
            <a:avLst/>
          </a:prstGeom>
          <a:solidFill>
            <a:srgbClr val="DEE0E3">
              <a:alpha val="100000"/>
            </a:srgbClr>
          </a:solidFill>
          <a:ln w="12700" cmpd="sng" cap="flat">
            <a:solidFill>
              <a:srgbClr val="C9BFAE">
                <a:alpha val="100000"/>
              </a:srgbClr>
            </a:solidFill>
            <a:prstDash val="solid"/>
            <a:round/>
            <a:headEnd type="none" w="med" len="med"/>
            <a:tailEnd type="none" w="med" len="med"/>
          </a:ln>
        </p:spPr>
      </p:cxnSp>
      <p:sp>
        <p:nvSpPr>
          <p:cNvPr name="AutoShape 17" id="17"/>
          <p:cNvSpPr/>
          <p:nvPr/>
        </p:nvSpPr>
        <p:spPr>
          <a:xfrm rot="0" flipH="false" flipV="false">
            <a:off x="1143000" y="4546600"/>
            <a:ext cx="26416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A2A28"/>
                </a:solidFill>
                <a:latin typeface="Lora"/>
                <a:ea typeface="Lora"/>
                <a:cs typeface="Lora"/>
                <a:sym typeface="Lora"/>
              </a:rPr>
              <a:t>Stimulated recall</a:t>
            </a:r>
            <a:endParaRPr lang="en-US" sz="1100"/>
          </a:p>
        </p:txBody>
      </p:sp>
      <p:sp>
        <p:nvSpPr>
          <p:cNvPr name="AutoShape 18" id="18"/>
          <p:cNvSpPr/>
          <p:nvPr/>
        </p:nvSpPr>
        <p:spPr>
          <a:xfrm rot="0" flipH="false" flipV="false">
            <a:off x="3937000" y="4546600"/>
            <a:ext cx="56515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false" i="false" strike="noStrike" u="none" sz="1300">
                <a:solidFill>
                  <a:srgbClr val="4A4842"/>
                </a:solidFill>
                <a:latin typeface="Lora"/>
                <a:ea typeface="Lora"/>
                <a:cs typeface="Lora"/>
                <a:sym typeface="Lora"/>
              </a:rPr>
              <a:t>Held right after the lesson, where agreed, capturing the judgement behind a specific choice while it is still fresh.</a:t>
            </a:r>
            <a:endParaRPr lang="en-US" sz="1100"/>
          </a:p>
        </p:txBody>
      </p:sp>
      <p:sp>
        <p:nvSpPr>
          <p:cNvPr name="AutoShape 19" id="19"/>
          <p:cNvSpPr/>
          <p:nvPr/>
        </p:nvSpPr>
        <p:spPr>
          <a:xfrm rot="0" flipH="false" flipV="false">
            <a:off x="9906000" y="4546600"/>
            <a:ext cx="1143000" cy="3048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true" i="false" strike="noStrike" u="none" sz="1100">
                <a:solidFill>
                  <a:srgbClr val="8C4A34"/>
                </a:solidFill>
                <a:latin typeface="Lora"/>
                <a:ea typeface="Lora"/>
                <a:cs typeface="Lora"/>
                <a:sym typeface="Lora"/>
              </a:rPr>
              <a:t>RQ2, RQ3</a:t>
            </a:r>
            <a:endParaRPr lang="en-US" sz="1100"/>
          </a:p>
        </p:txBody>
      </p:sp>
      <p:cxnSp>
        <p:nvCxnSpPr>
          <p:cNvPr name="Connector 20" id="20"/>
          <p:cNvCxnSpPr/>
          <p:nvPr/>
        </p:nvCxnSpPr>
        <p:spPr>
          <a:xfrm rot="-4407" flipH="false" flipV="false">
            <a:off x="1143004" y="5200650"/>
            <a:ext cx="9906000" cy="12700"/>
          </a:xfrm>
          <a:prstGeom prst="straightConnector1">
            <a:avLst/>
          </a:prstGeom>
          <a:solidFill>
            <a:srgbClr val="DEE0E3">
              <a:alpha val="100000"/>
            </a:srgbClr>
          </a:solidFill>
          <a:ln w="12700" cmpd="sng" cap="flat">
            <a:solidFill>
              <a:srgbClr val="C9BFAE">
                <a:alpha val="100000"/>
              </a:srgbClr>
            </a:solidFill>
            <a:prstDash val="solid"/>
            <a:round/>
            <a:headEnd type="none" w="med" len="med"/>
            <a:tailEnd type="none" w="med" len="med"/>
          </a:ln>
        </p:spPr>
      </p:cxnSp>
      <p:sp>
        <p:nvSpPr>
          <p:cNvPr name="AutoShape 21" id="21"/>
          <p:cNvSpPr/>
          <p:nvPr/>
        </p:nvSpPr>
        <p:spPr>
          <a:xfrm rot="0" flipH="false" flipV="false">
            <a:off x="1143000" y="5334000"/>
            <a:ext cx="26416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A2A28"/>
                </a:solidFill>
                <a:latin typeface="Lora"/>
                <a:ea typeface="Lora"/>
                <a:cs typeface="Lora"/>
                <a:sym typeface="Lora"/>
              </a:rPr>
              <a:t>Institutional field notes</a:t>
            </a:r>
            <a:endParaRPr lang="en-US" sz="1100"/>
          </a:p>
        </p:txBody>
      </p:sp>
      <p:sp>
        <p:nvSpPr>
          <p:cNvPr name="AutoShape 22" id="22"/>
          <p:cNvSpPr/>
          <p:nvPr/>
        </p:nvSpPr>
        <p:spPr>
          <a:xfrm rot="0" flipH="false" flipV="false">
            <a:off x="3937000" y="5334000"/>
            <a:ext cx="56515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false" i="false" strike="noStrike" u="none" sz="1300">
                <a:solidFill>
                  <a:srgbClr val="4A4842"/>
                </a:solidFill>
                <a:latin typeface="Lora"/>
                <a:ea typeface="Lora"/>
                <a:cs typeface="Lora"/>
                <a:sym typeface="Lora"/>
              </a:rPr>
              <a:t>Who chooses the textbook, exam pressure, class size, medium of instruction, time with colleagues, part of the achievement, not background.</a:t>
            </a:r>
            <a:endParaRPr lang="en-US" sz="1100"/>
          </a:p>
        </p:txBody>
      </p:sp>
      <p:sp>
        <p:nvSpPr>
          <p:cNvPr name="AutoShape 23" id="23"/>
          <p:cNvSpPr/>
          <p:nvPr/>
        </p:nvSpPr>
        <p:spPr>
          <a:xfrm rot="0" flipH="false" flipV="false">
            <a:off x="9906000" y="5334000"/>
            <a:ext cx="1143000" cy="3048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true" i="false" strike="noStrike" u="none" sz="1100">
                <a:solidFill>
                  <a:srgbClr val="8C4A34"/>
                </a:solidFill>
                <a:latin typeface="Lora"/>
                <a:ea typeface="Lora"/>
                <a:cs typeface="Lora"/>
                <a:sym typeface="Lora"/>
              </a:rPr>
              <a:t>RQ3</a:t>
            </a:r>
            <a:endParaRPr lang="en-US" sz="1100"/>
          </a:p>
        </p:txBody>
      </p:sp>
      <p:sp>
        <p:nvSpPr>
          <p:cNvPr name="AutoShape 24" id="24"/>
          <p:cNvSpPr/>
          <p:nvPr/>
        </p:nvSpPr>
        <p:spPr>
          <a:xfrm rot="0" flipH="false" flipV="false">
            <a:off x="1143000" y="6223000"/>
            <a:ext cx="9906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8A8578"/>
                </a:solidFill>
                <a:latin typeface="Lora"/>
                <a:ea typeface="Lora"/>
                <a:cs typeface="Lora"/>
                <a:sym typeface="Lora"/>
              </a:rPr>
              <a:t>Content analysis of the materials plays a supporting role only, it shows what was available, not what was taught.</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4EFE4">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143000" y="711200"/>
            <a:ext cx="635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8C4A34"/>
                </a:solidFill>
                <a:latin typeface="Lora"/>
                <a:ea typeface="Lora"/>
                <a:cs typeface="Lora"/>
                <a:sym typeface="Lora"/>
              </a:rPr>
              <a:t>05 · ANALYSIS</a:t>
            </a:r>
            <a:endParaRPr lang="en-US" sz="1100"/>
          </a:p>
        </p:txBody>
      </p:sp>
      <p:sp>
        <p:nvSpPr>
          <p:cNvPr name="AutoShape 3" id="3"/>
          <p:cNvSpPr/>
          <p:nvPr/>
        </p:nvSpPr>
        <p:spPr>
          <a:xfrm rot="0" flipH="false" flipV="false">
            <a:off x="1143000" y="1016000"/>
            <a:ext cx="9906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500">
                <a:solidFill>
                  <a:srgbClr val="2A2A28"/>
                </a:solidFill>
                <a:latin typeface="Lora"/>
                <a:ea typeface="Lora"/>
                <a:cs typeface="Lora"/>
                <a:sym typeface="Lora"/>
              </a:rPr>
              <a:t>Three analytic passes, before any cross-case comparison</a:t>
            </a:r>
            <a:endParaRPr lang="en-US" sz="1100"/>
          </a:p>
        </p:txBody>
      </p:sp>
      <p:cxnSp>
        <p:nvCxnSpPr>
          <p:cNvPr name="Connector 4" id="4"/>
          <p:cNvCxnSpPr/>
          <p:nvPr/>
        </p:nvCxnSpPr>
        <p:spPr>
          <a:xfrm rot="-4407" flipH="false" flipV="false">
            <a:off x="1143004" y="1847850"/>
            <a:ext cx="9906000" cy="12700"/>
          </a:xfrm>
          <a:prstGeom prst="straightConnector1">
            <a:avLst/>
          </a:prstGeom>
          <a:solidFill>
            <a:srgbClr val="DEE0E3">
              <a:alpha val="100000"/>
            </a:srgbClr>
          </a:solidFill>
          <a:ln w="12700" cmpd="sng" cap="flat">
            <a:solidFill>
              <a:srgbClr val="C9BFAE">
                <a:alpha val="100000"/>
              </a:srgbClr>
            </a:solidFill>
            <a:prstDash val="solid"/>
            <a:round/>
            <a:headEnd type="none" w="med" len="med"/>
            <a:tailEnd type="none" w="med" len="med"/>
          </a:ln>
        </p:spPr>
      </p:cxnSp>
      <p:sp>
        <p:nvSpPr>
          <p:cNvPr name="AutoShape 5" id="5"/>
          <p:cNvSpPr/>
          <p:nvPr/>
        </p:nvSpPr>
        <p:spPr>
          <a:xfrm rot="0" flipH="false" flipV="false">
            <a:off x="1143000" y="2184400"/>
            <a:ext cx="76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000">
                <a:solidFill>
                  <a:srgbClr val="8C4A34"/>
                </a:solidFill>
                <a:latin typeface="Lora"/>
                <a:ea typeface="Lora"/>
                <a:cs typeface="Lora"/>
                <a:sym typeface="Lora"/>
              </a:rPr>
              <a:t>1</a:t>
            </a:r>
            <a:endParaRPr lang="en-US" sz="1100"/>
          </a:p>
        </p:txBody>
      </p:sp>
      <p:sp>
        <p:nvSpPr>
          <p:cNvPr name="AutoShape 6" id="6"/>
          <p:cNvSpPr/>
          <p:nvPr/>
        </p:nvSpPr>
        <p:spPr>
          <a:xfrm rot="0" flipH="false" flipV="false">
            <a:off x="1905000" y="2209800"/>
            <a:ext cx="9144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2A2A28"/>
                </a:solidFill>
                <a:latin typeface="Lora"/>
                <a:ea typeface="Lora"/>
                <a:cs typeface="Lora"/>
                <a:sym typeface="Lora"/>
              </a:rPr>
              <a:t>Code the moves, against the actual page used that lesson</a:t>
            </a:r>
            <a:endParaRPr lang="en-US" sz="1100"/>
          </a:p>
        </p:txBody>
      </p:sp>
      <p:sp>
        <p:nvSpPr>
          <p:cNvPr name="AutoShape 7" id="7"/>
          <p:cNvSpPr/>
          <p:nvPr/>
        </p:nvSpPr>
        <p:spPr>
          <a:xfrm rot="0" flipH="false" flipV="false">
            <a:off x="1905000" y="2565400"/>
            <a:ext cx="9144000" cy="6604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A4842"/>
                </a:solidFill>
                <a:latin typeface="Lora"/>
                <a:ea typeface="Lora"/>
                <a:cs typeface="Lora"/>
                <a:sym typeface="Lora"/>
              </a:rPr>
              <a:t>Addition, omission, substitution, modification, reordering, supplementation, translanguaging, cultural filtering, faithful transmission, categories from Rathert &amp; Cabaroğlu (2022) and Hanifa &amp; Yusra (2023) as a starting point, not a fixed checklist.</a:t>
            </a:r>
            <a:endParaRPr lang="en-US" sz="1100"/>
          </a:p>
        </p:txBody>
      </p:sp>
      <p:cxnSp>
        <p:nvCxnSpPr>
          <p:cNvPr name="Connector 8" id="8"/>
          <p:cNvCxnSpPr/>
          <p:nvPr/>
        </p:nvCxnSpPr>
        <p:spPr>
          <a:xfrm rot="-4407" flipH="false" flipV="false">
            <a:off x="1143004" y="3270250"/>
            <a:ext cx="9906000" cy="12700"/>
          </a:xfrm>
          <a:prstGeom prst="straightConnector1">
            <a:avLst/>
          </a:prstGeom>
          <a:solidFill>
            <a:srgbClr val="DEE0E3">
              <a:alpha val="100000"/>
            </a:srgbClr>
          </a:solidFill>
          <a:ln w="12700" cmpd="sng" cap="flat">
            <a:solidFill>
              <a:srgbClr val="C9BFAE">
                <a:alpha val="100000"/>
              </a:srgbClr>
            </a:solidFill>
            <a:prstDash val="solid"/>
            <a:round/>
            <a:headEnd type="none" w="med" len="med"/>
            <a:tailEnd type="none" w="med" len="med"/>
          </a:ln>
        </p:spPr>
      </p:cxnSp>
      <p:sp>
        <p:nvSpPr>
          <p:cNvPr name="AutoShape 9" id="9"/>
          <p:cNvSpPr/>
          <p:nvPr/>
        </p:nvSpPr>
        <p:spPr>
          <a:xfrm rot="0" flipH="false" flipV="false">
            <a:off x="1143000" y="3403600"/>
            <a:ext cx="76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000">
                <a:solidFill>
                  <a:srgbClr val="8C4A34"/>
                </a:solidFill>
                <a:latin typeface="Lora"/>
                <a:ea typeface="Lora"/>
                <a:cs typeface="Lora"/>
                <a:sym typeface="Lora"/>
              </a:rPr>
              <a:t>2</a:t>
            </a:r>
            <a:endParaRPr lang="en-US" sz="1100"/>
          </a:p>
        </p:txBody>
      </p:sp>
      <p:sp>
        <p:nvSpPr>
          <p:cNvPr name="AutoShape 10" id="10"/>
          <p:cNvSpPr/>
          <p:nvPr/>
        </p:nvSpPr>
        <p:spPr>
          <a:xfrm rot="0" flipH="false" flipV="false">
            <a:off x="1905000" y="3429000"/>
            <a:ext cx="9144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2A2A28"/>
                </a:solidFill>
                <a:latin typeface="Lora"/>
                <a:ea typeface="Lora"/>
                <a:cs typeface="Lora"/>
                <a:sym typeface="Lora"/>
              </a:rPr>
              <a:t>Code the reasons, as judgements tied to that lesson</a:t>
            </a:r>
            <a:endParaRPr lang="en-US" sz="1100"/>
          </a:p>
        </p:txBody>
      </p:sp>
      <p:sp>
        <p:nvSpPr>
          <p:cNvPr name="AutoShape 11" id="11"/>
          <p:cNvSpPr/>
          <p:nvPr/>
        </p:nvSpPr>
        <p:spPr>
          <a:xfrm rot="0" flipH="false" flipV="false">
            <a:off x="1905000" y="3784600"/>
            <a:ext cx="9144000" cy="6604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A4842"/>
                </a:solidFill>
                <a:latin typeface="Lora"/>
                <a:ea typeface="Lora"/>
                <a:cs typeface="Lora"/>
                <a:sym typeface="Lora"/>
              </a:rPr>
              <a:t>Learners, time, exams, language resources (Chinese / Urdu / English), identity. A reason that appears only in talk and never in an observed lesson is recorded as </a:t>
            </a:r>
            <a:r>
              <a:rPr lang="en-US" b="false" i="false" strike="noStrike" u="none" sz="1300">
                <a:solidFill>
                  <a:srgbClr val="8C4A34"/>
                </a:solidFill>
                <a:latin typeface="Lora"/>
                <a:ea typeface="Lora"/>
                <a:cs typeface="Lora"/>
                <a:sym typeface="Lora"/>
              </a:rPr>
              <a:t>talk, not practice</a:t>
            </a:r>
            <a:r>
              <a:rPr lang="en-US" b="false" i="false" strike="noStrike" u="none" sz="1300">
                <a:solidFill>
                  <a:srgbClr val="4A4842"/>
                </a:solidFill>
                <a:latin typeface="Lora"/>
                <a:ea typeface="Lora"/>
                <a:cs typeface="Lora"/>
                <a:sym typeface="Lora"/>
              </a:rPr>
              <a:t>.</a:t>
            </a:r>
            <a:endParaRPr lang="en-US" sz="1100"/>
          </a:p>
        </p:txBody>
      </p:sp>
      <p:cxnSp>
        <p:nvCxnSpPr>
          <p:cNvPr name="Connector 12" id="12"/>
          <p:cNvCxnSpPr/>
          <p:nvPr/>
        </p:nvCxnSpPr>
        <p:spPr>
          <a:xfrm rot="-4407" flipH="false" flipV="false">
            <a:off x="1143004" y="4489450"/>
            <a:ext cx="9906000" cy="12700"/>
          </a:xfrm>
          <a:prstGeom prst="straightConnector1">
            <a:avLst/>
          </a:prstGeom>
          <a:solidFill>
            <a:srgbClr val="DEE0E3">
              <a:alpha val="100000"/>
            </a:srgbClr>
          </a:solidFill>
          <a:ln w="12700" cmpd="sng" cap="flat">
            <a:solidFill>
              <a:srgbClr val="C9BFAE">
                <a:alpha val="100000"/>
              </a:srgbClr>
            </a:solidFill>
            <a:prstDash val="solid"/>
            <a:round/>
            <a:headEnd type="none" w="med" len="med"/>
            <a:tailEnd type="none" w="med" len="med"/>
          </a:ln>
        </p:spPr>
      </p:cxnSp>
      <p:sp>
        <p:nvSpPr>
          <p:cNvPr name="AutoShape 13" id="13"/>
          <p:cNvSpPr/>
          <p:nvPr/>
        </p:nvSpPr>
        <p:spPr>
          <a:xfrm rot="0" flipH="false" flipV="false">
            <a:off x="1143000" y="4622800"/>
            <a:ext cx="762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000">
                <a:solidFill>
                  <a:srgbClr val="8C4A34"/>
                </a:solidFill>
                <a:latin typeface="Lora"/>
                <a:ea typeface="Lora"/>
                <a:cs typeface="Lora"/>
                <a:sym typeface="Lora"/>
              </a:rPr>
              <a:t>3</a:t>
            </a:r>
            <a:endParaRPr lang="en-US" sz="1100"/>
          </a:p>
        </p:txBody>
      </p:sp>
      <p:sp>
        <p:nvSpPr>
          <p:cNvPr name="AutoShape 14" id="14"/>
          <p:cNvSpPr/>
          <p:nvPr/>
        </p:nvSpPr>
        <p:spPr>
          <a:xfrm rot="0" flipH="false" flipV="false">
            <a:off x="1905000" y="4648200"/>
            <a:ext cx="9144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2A2A28"/>
                </a:solidFill>
                <a:latin typeface="Lora"/>
                <a:ea typeface="Lora"/>
                <a:cs typeface="Lora"/>
                <a:sym typeface="Lora"/>
              </a:rPr>
              <a:t>Read agency across the triad and its conditions</a:t>
            </a:r>
            <a:endParaRPr lang="en-US" sz="1100"/>
          </a:p>
        </p:txBody>
      </p:sp>
      <p:sp>
        <p:nvSpPr>
          <p:cNvPr name="AutoShape 15" id="15"/>
          <p:cNvSpPr/>
          <p:nvPr/>
        </p:nvSpPr>
        <p:spPr>
          <a:xfrm rot="0" flipH="false" flipV="false">
            <a:off x="1905000" y="5003800"/>
            <a:ext cx="9144000" cy="6604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A4842"/>
                </a:solidFill>
                <a:latin typeface="Lora"/>
                <a:ea typeface="Lora"/>
                <a:cs typeface="Lora"/>
                <a:sym typeface="Lora"/>
              </a:rPr>
              <a:t>Past experience, future purpose and present judgement read together. Labels such as restricted, addition-only or persistent are used only where the data support them, they describe a form of agency, not a ranking of teacher quality.</a:t>
            </a:r>
            <a:endParaRPr lang="en-US" sz="1100"/>
          </a:p>
        </p:txBody>
      </p:sp>
      <p:sp>
        <p:nvSpPr>
          <p:cNvPr name="AutoShape 16" id="16"/>
          <p:cNvSpPr/>
          <p:nvPr/>
        </p:nvSpPr>
        <p:spPr>
          <a:xfrm rot="0" flipH="false" flipV="false">
            <a:off x="1143000" y="5867400"/>
            <a:ext cx="9906000" cy="5334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true" strike="noStrike" u="none" sz="1400">
                <a:solidFill>
                  <a:srgbClr val="2A2A28"/>
                </a:solidFill>
                <a:latin typeface="Lora"/>
                <a:ea typeface="Lora"/>
                <a:cs typeface="Lora"/>
                <a:sym typeface="Lora"/>
              </a:rPr>
              <a:t>Each case is analysed on its own terms first; cases are compared against each other only afterwards. The unit is the individual teacher within their institution.</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4EFE4">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143000" y="711200"/>
            <a:ext cx="635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8C4A34"/>
                </a:solidFill>
                <a:latin typeface="Lora"/>
                <a:ea typeface="Lora"/>
                <a:cs typeface="Lora"/>
                <a:sym typeface="Lora"/>
              </a:rPr>
              <a:t>06 · PROCEDURE</a:t>
            </a:r>
            <a:endParaRPr lang="en-US" sz="1100"/>
          </a:p>
        </p:txBody>
      </p:sp>
      <p:sp>
        <p:nvSpPr>
          <p:cNvPr name="AutoShape 3" id="3"/>
          <p:cNvSpPr/>
          <p:nvPr/>
        </p:nvSpPr>
        <p:spPr>
          <a:xfrm rot="0" flipH="false" flipV="false">
            <a:off x="1143000" y="1016000"/>
            <a:ext cx="9906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2A2A28"/>
                </a:solidFill>
                <a:latin typeface="Lora"/>
                <a:ea typeface="Lora"/>
                <a:cs typeface="Lora"/>
                <a:sym typeface="Lora"/>
              </a:rPr>
              <a:t>Six stages, each depending on the last</a:t>
            </a:r>
            <a:endParaRPr lang="en-US" sz="1100"/>
          </a:p>
        </p:txBody>
      </p:sp>
      <p:cxnSp>
        <p:nvCxnSpPr>
          <p:cNvPr name="Connector 4" id="4"/>
          <p:cNvCxnSpPr/>
          <p:nvPr/>
        </p:nvCxnSpPr>
        <p:spPr>
          <a:xfrm rot="-4407" flipH="false" flipV="false">
            <a:off x="1143004" y="1847850"/>
            <a:ext cx="9906000" cy="12700"/>
          </a:xfrm>
          <a:prstGeom prst="straightConnector1">
            <a:avLst/>
          </a:prstGeom>
          <a:solidFill>
            <a:srgbClr val="DEE0E3">
              <a:alpha val="100000"/>
            </a:srgbClr>
          </a:solidFill>
          <a:ln w="12700" cmpd="sng" cap="flat">
            <a:solidFill>
              <a:srgbClr val="C9BFAE">
                <a:alpha val="100000"/>
              </a:srgbClr>
            </a:solidFill>
            <a:prstDash val="solid"/>
            <a:round/>
            <a:headEnd type="none" w="med" len="med"/>
            <a:tailEnd type="none" w="med" len="med"/>
          </a:ln>
        </p:spPr>
      </p:cxnSp>
      <p:sp>
        <p:nvSpPr>
          <p:cNvPr name="AutoShape 5" id="5"/>
          <p:cNvSpPr/>
          <p:nvPr/>
        </p:nvSpPr>
        <p:spPr>
          <a:xfrm rot="0" flipH="false" flipV="false">
            <a:off x="1143000" y="2184400"/>
            <a:ext cx="3048000" cy="1524000"/>
          </a:xfrm>
          <a:prstGeom prst="roundRect">
            <a:avLst>
              <a:gd name="adj" fmla="val 0"/>
            </a:avLst>
          </a:prstGeom>
          <a:solidFill>
            <a:srgbClr val="FFFFFF">
              <a:alpha val="55000"/>
            </a:srgbClr>
          </a:solidFill>
          <a:ln w="12700" cmpd="sng" cap="flat">
            <a:solidFill>
              <a:srgbClr val="C9BFAE">
                <a:alpha val="100000"/>
              </a:srgbClr>
            </a:solid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346200" y="2311400"/>
            <a:ext cx="26416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true" i="false" strike="noStrike" u="none" sz="1500">
                <a:solidFill>
                  <a:srgbClr val="8C4A34"/>
                </a:solidFill>
                <a:latin typeface="Lora"/>
                <a:ea typeface="Lora"/>
                <a:cs typeface="Lora"/>
                <a:sym typeface="Lora"/>
              </a:rPr>
              <a:t>1</a:t>
            </a:r>
            <a:r>
              <a:rPr lang="en-US" b="true" i="false" strike="noStrike" u="none" sz="1250">
                <a:solidFill>
                  <a:srgbClr val="4A4842"/>
                </a:solidFill>
                <a:latin typeface="Lora"/>
                <a:ea typeface="Lora"/>
                <a:cs typeface="Lora"/>
                <a:sym typeface="Lora"/>
              </a:rPr>
              <a:t> Literature &amp; gap</a:t>
            </a:r>
            <a:r>
              <a:rPr lang="en-US" b="false" i="false" strike="noStrike" u="none" sz="1250">
                <a:solidFill>
                  <a:srgbClr val="4A4842"/>
                </a:solidFill>
                <a:latin typeface="Lora"/>
                <a:ea typeface="Lora"/>
                <a:cs typeface="Lora"/>
                <a:sym typeface="Lora"/>
              </a:rPr>
              <a:t/>
            </a:r>
            <a:endParaRPr lang="en-US" sz="1100"/>
          </a:p>
          <a:p>
            <a:pPr algn="l" marL="0" indent="0">
              <a:lnSpc>
                <a:spcPct val="112500"/>
              </a:lnSpc>
            </a:pPr>
            <a:r>
              <a:rPr lang="en-US" b="false" i="false" strike="noStrike" u="none" sz="1250">
                <a:solidFill>
                  <a:srgbClr val="4A4842"/>
                </a:solidFill>
                <a:latin typeface="Lora"/>
                <a:ea typeface="Lora"/>
                <a:cs typeface="Lora"/>
                <a:sym typeface="Lora"/>
              </a:rPr>
              <a:t>Lock the object; organize the four strands; show the join is missing for this population.</a:t>
            </a:r>
          </a:p>
        </p:txBody>
      </p:sp>
      <p:cxnSp>
        <p:nvCxnSpPr>
          <p:cNvPr name="Connector 7" id="7"/>
          <p:cNvCxnSpPr/>
          <p:nvPr/>
        </p:nvCxnSpPr>
        <p:spPr>
          <a:xfrm rot="-190789" flipH="false" flipV="false">
            <a:off x="4216576" y="2940050"/>
            <a:ext cx="228600" cy="12700"/>
          </a:xfrm>
          <a:prstGeom prst="straightConnector1">
            <a:avLst/>
          </a:prstGeom>
          <a:solidFill>
            <a:srgbClr val="DEE0E3">
              <a:alpha val="100000"/>
            </a:srgbClr>
          </a:solidFill>
          <a:ln w="25400" cmpd="sng" cap="flat">
            <a:solidFill>
              <a:srgbClr val="8C4A34">
                <a:alpha val="100000"/>
              </a:srgbClr>
            </a:solidFill>
            <a:prstDash val="solid"/>
            <a:round/>
            <a:headEnd type="none" w="lg" len="lg"/>
            <a:tailEnd type="triangle" w="lg" len="lg"/>
          </a:ln>
        </p:spPr>
      </p:cxnSp>
      <p:sp>
        <p:nvSpPr>
          <p:cNvPr name="AutoShape 8" id="8"/>
          <p:cNvSpPr/>
          <p:nvPr/>
        </p:nvSpPr>
        <p:spPr>
          <a:xfrm rot="0" flipH="false" flipV="false">
            <a:off x="4521200" y="2184400"/>
            <a:ext cx="3048000" cy="1524000"/>
          </a:xfrm>
          <a:prstGeom prst="roundRect">
            <a:avLst>
              <a:gd name="adj" fmla="val 0"/>
            </a:avLst>
          </a:prstGeom>
          <a:solidFill>
            <a:srgbClr val="FFFFFF">
              <a:alpha val="55000"/>
            </a:srgbClr>
          </a:solidFill>
          <a:ln w="12700" cmpd="sng" cap="flat">
            <a:solidFill>
              <a:srgbClr val="C9BFAE">
                <a:alpha val="10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4724400" y="2311400"/>
            <a:ext cx="26416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true" i="false" strike="noStrike" u="none" sz="1500">
                <a:solidFill>
                  <a:srgbClr val="8C4A34"/>
                </a:solidFill>
                <a:latin typeface="Lora"/>
                <a:ea typeface="Lora"/>
                <a:cs typeface="Lora"/>
                <a:sym typeface="Lora"/>
              </a:rPr>
              <a:t>2</a:t>
            </a:r>
            <a:r>
              <a:rPr lang="en-US" b="true" i="false" strike="noStrike" u="none" sz="1250">
                <a:solidFill>
                  <a:srgbClr val="4A4842"/>
                </a:solidFill>
                <a:latin typeface="Lora"/>
                <a:ea typeface="Lora"/>
                <a:cs typeface="Lora"/>
                <a:sym typeface="Lora"/>
              </a:rPr>
              <a:t> Framework &amp; design</a:t>
            </a:r>
            <a:r>
              <a:rPr lang="en-US" b="false" i="false" strike="noStrike" u="none" sz="1250">
                <a:solidFill>
                  <a:srgbClr val="4A4842"/>
                </a:solidFill>
                <a:latin typeface="Lora"/>
                <a:ea typeface="Lora"/>
                <a:cs typeface="Lora"/>
                <a:sym typeface="Lora"/>
              </a:rPr>
              <a:t/>
            </a:r>
            <a:endParaRPr lang="en-US" sz="1100"/>
          </a:p>
          <a:p>
            <a:pPr algn="l" marL="0" indent="0">
              <a:lnSpc>
                <a:spcPct val="112500"/>
              </a:lnSpc>
            </a:pPr>
            <a:r>
              <a:rPr lang="en-US" b="false" i="false" strike="noStrike" u="none" sz="1250">
                <a:solidFill>
                  <a:srgbClr val="4A4842"/>
                </a:solidFill>
                <a:latin typeface="Lora"/>
                <a:ea typeface="Lora"/>
                <a:cs typeface="Lora"/>
                <a:sym typeface="Lora"/>
              </a:rPr>
              <a:t>Operationalize recontextualization + ecological agency; write the case-study protocol and instruments.</a:t>
            </a:r>
          </a:p>
        </p:txBody>
      </p:sp>
      <p:cxnSp>
        <p:nvCxnSpPr>
          <p:cNvPr name="Connector 10" id="10"/>
          <p:cNvCxnSpPr/>
          <p:nvPr/>
        </p:nvCxnSpPr>
        <p:spPr>
          <a:xfrm rot="-190789" flipH="false" flipV="false">
            <a:off x="7594776" y="2940050"/>
            <a:ext cx="228600" cy="12700"/>
          </a:xfrm>
          <a:prstGeom prst="straightConnector1">
            <a:avLst/>
          </a:prstGeom>
          <a:solidFill>
            <a:srgbClr val="DEE0E3">
              <a:alpha val="100000"/>
            </a:srgbClr>
          </a:solidFill>
          <a:ln w="25400" cmpd="sng" cap="flat">
            <a:solidFill>
              <a:srgbClr val="8C4A34">
                <a:alpha val="100000"/>
              </a:srgbClr>
            </a:solidFill>
            <a:prstDash val="solid"/>
            <a:round/>
            <a:headEnd type="none" w="lg" len="lg"/>
            <a:tailEnd type="triangle" w="lg" len="lg"/>
          </a:ln>
        </p:spPr>
      </p:cxnSp>
      <p:sp>
        <p:nvSpPr>
          <p:cNvPr name="AutoShape 11" id="11"/>
          <p:cNvSpPr/>
          <p:nvPr/>
        </p:nvSpPr>
        <p:spPr>
          <a:xfrm rot="0" flipH="false" flipV="false">
            <a:off x="7924800" y="2184400"/>
            <a:ext cx="3048000" cy="1524000"/>
          </a:xfrm>
          <a:prstGeom prst="roundRect">
            <a:avLst>
              <a:gd name="adj" fmla="val 0"/>
            </a:avLst>
          </a:prstGeom>
          <a:solidFill>
            <a:srgbClr val="FFFFFF">
              <a:alpha val="55000"/>
            </a:srgbClr>
          </a:solidFill>
          <a:ln w="12700" cmpd="sng" cap="flat">
            <a:solidFill>
              <a:srgbClr val="C9BFAE">
                <a:alpha val="100000"/>
              </a:srgbClr>
            </a:solid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8128000" y="2311400"/>
            <a:ext cx="26416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true" i="false" strike="noStrike" u="none" sz="1500">
                <a:solidFill>
                  <a:srgbClr val="8C4A34"/>
                </a:solidFill>
                <a:latin typeface="Lora"/>
                <a:ea typeface="Lora"/>
                <a:cs typeface="Lora"/>
                <a:sym typeface="Lora"/>
              </a:rPr>
              <a:t>3</a:t>
            </a:r>
            <a:r>
              <a:rPr lang="en-US" b="true" i="false" strike="noStrike" u="none" sz="1250">
                <a:solidFill>
                  <a:srgbClr val="4A4842"/>
                </a:solidFill>
                <a:latin typeface="Lora"/>
                <a:ea typeface="Lora"/>
                <a:cs typeface="Lora"/>
                <a:sym typeface="Lora"/>
              </a:rPr>
              <a:t> Ethics, access &amp; pilot</a:t>
            </a:r>
            <a:r>
              <a:rPr lang="en-US" b="false" i="false" strike="noStrike" u="none" sz="1250">
                <a:solidFill>
                  <a:srgbClr val="4A4842"/>
                </a:solidFill>
                <a:latin typeface="Lora"/>
                <a:ea typeface="Lora"/>
                <a:cs typeface="Lora"/>
                <a:sym typeface="Lora"/>
              </a:rPr>
              <a:t/>
            </a:r>
            <a:endParaRPr lang="en-US" sz="1100"/>
          </a:p>
          <a:p>
            <a:pPr algn="l" marL="0" indent="0">
              <a:lnSpc>
                <a:spcPct val="112500"/>
              </a:lnSpc>
            </a:pPr>
            <a:r>
              <a:rPr lang="en-US" b="false" i="false" strike="noStrike" u="none" sz="1250">
                <a:solidFill>
                  <a:srgbClr val="4A4842"/>
                </a:solidFill>
                <a:latin typeface="Lora"/>
                <a:ea typeface="Lora"/>
                <a:cs typeface="Lora"/>
                <a:sym typeface="Lora"/>
              </a:rPr>
              <a:t>Approval, purposive recruitment, a 1 to 2 teacher pilot; revise instruments before fieldwork.</a:t>
            </a:r>
          </a:p>
        </p:txBody>
      </p:sp>
      <p:cxnSp>
        <p:nvCxnSpPr>
          <p:cNvPr name="Connector 13" id="13"/>
          <p:cNvCxnSpPr/>
          <p:nvPr/>
        </p:nvCxnSpPr>
        <p:spPr>
          <a:xfrm rot="5256843" flipH="false" flipV="false">
            <a:off x="9296400" y="3854582"/>
            <a:ext cx="304800" cy="12700"/>
          </a:xfrm>
          <a:prstGeom prst="straightConnector1">
            <a:avLst/>
          </a:prstGeom>
          <a:solidFill>
            <a:srgbClr val="DEE0E3">
              <a:alpha val="100000"/>
            </a:srgbClr>
          </a:solidFill>
          <a:ln w="25400" cmpd="sng" cap="flat">
            <a:solidFill>
              <a:srgbClr val="8C4A34">
                <a:alpha val="100000"/>
              </a:srgbClr>
            </a:solidFill>
            <a:prstDash val="solid"/>
            <a:round/>
            <a:headEnd type="none" w="lg" len="lg"/>
            <a:tailEnd type="none" w="lg" len="lg"/>
          </a:ln>
        </p:spPr>
      </p:cxnSp>
      <p:cxnSp>
        <p:nvCxnSpPr>
          <p:cNvPr name="Connector 14" id="14"/>
          <p:cNvCxnSpPr/>
          <p:nvPr/>
        </p:nvCxnSpPr>
        <p:spPr>
          <a:xfrm rot="10793562" flipH="false" flipV="false">
            <a:off x="2666994" y="4006850"/>
            <a:ext cx="6781800" cy="12700"/>
          </a:xfrm>
          <a:prstGeom prst="straightConnector1">
            <a:avLst/>
          </a:prstGeom>
          <a:solidFill>
            <a:srgbClr val="DEE0E3">
              <a:alpha val="100000"/>
            </a:srgbClr>
          </a:solidFill>
          <a:ln w="25400" cmpd="sng" cap="flat">
            <a:solidFill>
              <a:srgbClr val="8C4A34">
                <a:alpha val="100000"/>
              </a:srgbClr>
            </a:solidFill>
            <a:prstDash val="solid"/>
            <a:round/>
            <a:headEnd type="none" w="lg" len="lg"/>
            <a:tailEnd type="none" w="lg" len="lg"/>
          </a:ln>
        </p:spPr>
      </p:cxnSp>
      <p:cxnSp>
        <p:nvCxnSpPr>
          <p:cNvPr name="Connector 15" id="15"/>
          <p:cNvCxnSpPr/>
          <p:nvPr/>
        </p:nvCxnSpPr>
        <p:spPr>
          <a:xfrm rot="5209210" flipH="false" flipV="false">
            <a:off x="2552700" y="4121326"/>
            <a:ext cx="228600" cy="12700"/>
          </a:xfrm>
          <a:prstGeom prst="straightConnector1">
            <a:avLst/>
          </a:prstGeom>
          <a:solidFill>
            <a:srgbClr val="DEE0E3">
              <a:alpha val="100000"/>
            </a:srgbClr>
          </a:solidFill>
          <a:ln w="25400" cmpd="sng" cap="flat">
            <a:solidFill>
              <a:srgbClr val="8C4A34">
                <a:alpha val="100000"/>
              </a:srgbClr>
            </a:solidFill>
            <a:prstDash val="solid"/>
            <a:round/>
            <a:headEnd type="none" w="lg" len="lg"/>
            <a:tailEnd type="triangle" w="lg" len="lg"/>
          </a:ln>
        </p:spPr>
      </p:cxnSp>
      <p:sp>
        <p:nvSpPr>
          <p:cNvPr name="AutoShape 16" id="16"/>
          <p:cNvSpPr/>
          <p:nvPr/>
        </p:nvSpPr>
        <p:spPr>
          <a:xfrm rot="0" flipH="false" flipV="false">
            <a:off x="1143000" y="4318000"/>
            <a:ext cx="3048000" cy="1524000"/>
          </a:xfrm>
          <a:prstGeom prst="roundRect">
            <a:avLst>
              <a:gd name="adj" fmla="val 0"/>
            </a:avLst>
          </a:prstGeom>
          <a:solidFill>
            <a:srgbClr val="8C4A34">
              <a:alpha val="10000"/>
            </a:srgbClr>
          </a:solidFill>
          <a:ln w="12700" cmpd="sng" cap="flat">
            <a:solidFill>
              <a:srgbClr val="8C4A34">
                <a:alpha val="10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1346200" y="4445000"/>
            <a:ext cx="26416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true" i="false" strike="noStrike" u="none" sz="1500">
                <a:solidFill>
                  <a:srgbClr val="8C4A34"/>
                </a:solidFill>
                <a:latin typeface="Lora"/>
                <a:ea typeface="Lora"/>
                <a:cs typeface="Lora"/>
                <a:sym typeface="Lora"/>
              </a:rPr>
              <a:t>4</a:t>
            </a:r>
            <a:r>
              <a:rPr lang="en-US" b="true" i="false" strike="noStrike" u="none" sz="1250">
                <a:solidFill>
                  <a:srgbClr val="4A4842"/>
                </a:solidFill>
                <a:latin typeface="Lora"/>
                <a:ea typeface="Lora"/>
                <a:cs typeface="Lora"/>
                <a:sym typeface="Lora"/>
              </a:rPr>
              <a:t> Fieldwork</a:t>
            </a:r>
            <a:r>
              <a:rPr lang="en-US" b="false" i="false" strike="noStrike" u="none" sz="1250">
                <a:solidFill>
                  <a:srgbClr val="4A4842"/>
                </a:solidFill>
                <a:latin typeface="Lora"/>
                <a:ea typeface="Lora"/>
                <a:cs typeface="Lora"/>
                <a:sym typeface="Lora"/>
              </a:rPr>
              <a:t/>
            </a:r>
            <a:endParaRPr lang="en-US" sz="1100"/>
          </a:p>
          <a:p>
            <a:pPr algn="l" marL="0" indent="0">
              <a:lnSpc>
                <a:spcPct val="112500"/>
              </a:lnSpc>
            </a:pPr>
            <a:r>
              <a:rPr lang="en-US" b="false" i="false" strike="noStrike" u="none" sz="1250">
                <a:solidFill>
                  <a:srgbClr val="4A4842"/>
                </a:solidFill>
                <a:latin typeface="Lora"/>
                <a:ea typeface="Lora"/>
                <a:cs typeface="Lora"/>
                <a:sym typeface="Lora"/>
              </a:rPr>
              <a:t>Teacher by teacher: collect materials, observe lessons, interview, stimulated recall, field notes.</a:t>
            </a:r>
          </a:p>
        </p:txBody>
      </p:sp>
      <p:cxnSp>
        <p:nvCxnSpPr>
          <p:cNvPr name="Connector 18" id="18"/>
          <p:cNvCxnSpPr/>
          <p:nvPr/>
        </p:nvCxnSpPr>
        <p:spPr>
          <a:xfrm rot="-190789" flipH="false" flipV="false">
            <a:off x="4216576" y="5073650"/>
            <a:ext cx="228600" cy="12700"/>
          </a:xfrm>
          <a:prstGeom prst="straightConnector1">
            <a:avLst/>
          </a:prstGeom>
          <a:solidFill>
            <a:srgbClr val="DEE0E3">
              <a:alpha val="100000"/>
            </a:srgbClr>
          </a:solidFill>
          <a:ln w="25400" cmpd="sng" cap="flat">
            <a:solidFill>
              <a:srgbClr val="8C4A34">
                <a:alpha val="100000"/>
              </a:srgbClr>
            </a:solidFill>
            <a:prstDash val="solid"/>
            <a:round/>
            <a:headEnd type="none" w="lg" len="lg"/>
            <a:tailEnd type="triangle" w="lg" len="lg"/>
          </a:ln>
        </p:spPr>
      </p:cxnSp>
      <p:sp>
        <p:nvSpPr>
          <p:cNvPr name="AutoShape 19" id="19"/>
          <p:cNvSpPr/>
          <p:nvPr/>
        </p:nvSpPr>
        <p:spPr>
          <a:xfrm rot="0" flipH="false" flipV="false">
            <a:off x="4521200" y="4318000"/>
            <a:ext cx="3048000" cy="1524000"/>
          </a:xfrm>
          <a:prstGeom prst="roundRect">
            <a:avLst>
              <a:gd name="adj" fmla="val 0"/>
            </a:avLst>
          </a:prstGeom>
          <a:solidFill>
            <a:srgbClr val="8C4A34">
              <a:alpha val="10000"/>
            </a:srgbClr>
          </a:solidFill>
          <a:ln w="12700" cmpd="sng" cap="flat">
            <a:solidFill>
              <a:srgbClr val="8C4A34">
                <a:alpha val="100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4724400" y="4445000"/>
            <a:ext cx="26416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true" i="false" strike="noStrike" u="none" sz="1500">
                <a:solidFill>
                  <a:srgbClr val="8C4A34"/>
                </a:solidFill>
                <a:latin typeface="Lora"/>
                <a:ea typeface="Lora"/>
                <a:cs typeface="Lora"/>
                <a:sym typeface="Lora"/>
              </a:rPr>
              <a:t>5</a:t>
            </a:r>
            <a:r>
              <a:rPr lang="en-US" b="true" i="false" strike="noStrike" u="none" sz="1250">
                <a:solidFill>
                  <a:srgbClr val="4A4842"/>
                </a:solidFill>
                <a:latin typeface="Lora"/>
                <a:ea typeface="Lora"/>
                <a:cs typeface="Lora"/>
                <a:sym typeface="Lora"/>
              </a:rPr>
              <a:t> Analysis</a:t>
            </a:r>
            <a:r>
              <a:rPr lang="en-US" b="false" i="false" strike="noStrike" u="none" sz="1250">
                <a:solidFill>
                  <a:srgbClr val="4A4842"/>
                </a:solidFill>
                <a:latin typeface="Lora"/>
                <a:ea typeface="Lora"/>
                <a:cs typeface="Lora"/>
                <a:sym typeface="Lora"/>
              </a:rPr>
              <a:t/>
            </a:r>
            <a:endParaRPr lang="en-US" sz="1100"/>
          </a:p>
          <a:p>
            <a:pPr algn="l" marL="0" indent="0">
              <a:lnSpc>
                <a:spcPct val="112500"/>
              </a:lnSpc>
            </a:pPr>
            <a:r>
              <a:rPr lang="en-US" b="false" i="false" strike="noStrike" u="none" sz="1250">
                <a:solidFill>
                  <a:srgbClr val="4A4842"/>
                </a:solidFill>
                <a:latin typeface="Lora"/>
                <a:ea typeface="Lora"/>
                <a:cs typeface="Lora"/>
                <a:sym typeface="Lora"/>
              </a:rPr>
              <a:t>Three within-case passes, then cross-case comparison; labels follow the data, not the frame.</a:t>
            </a:r>
          </a:p>
        </p:txBody>
      </p:sp>
      <p:cxnSp>
        <p:nvCxnSpPr>
          <p:cNvPr name="Connector 21" id="21"/>
          <p:cNvCxnSpPr/>
          <p:nvPr/>
        </p:nvCxnSpPr>
        <p:spPr>
          <a:xfrm rot="-190789" flipH="false" flipV="false">
            <a:off x="7594776" y="5073650"/>
            <a:ext cx="228600" cy="12700"/>
          </a:xfrm>
          <a:prstGeom prst="straightConnector1">
            <a:avLst/>
          </a:prstGeom>
          <a:solidFill>
            <a:srgbClr val="DEE0E3">
              <a:alpha val="100000"/>
            </a:srgbClr>
          </a:solidFill>
          <a:ln w="25400" cmpd="sng" cap="flat">
            <a:solidFill>
              <a:srgbClr val="8C4A34">
                <a:alpha val="100000"/>
              </a:srgbClr>
            </a:solidFill>
            <a:prstDash val="solid"/>
            <a:round/>
            <a:headEnd type="none" w="lg" len="lg"/>
            <a:tailEnd type="triangle" w="lg" len="lg"/>
          </a:ln>
        </p:spPr>
      </p:cxnSp>
      <p:sp>
        <p:nvSpPr>
          <p:cNvPr name="AutoShape 22" id="22"/>
          <p:cNvSpPr/>
          <p:nvPr/>
        </p:nvSpPr>
        <p:spPr>
          <a:xfrm rot="0" flipH="false" flipV="false">
            <a:off x="7924800" y="4318000"/>
            <a:ext cx="3048000" cy="1524000"/>
          </a:xfrm>
          <a:prstGeom prst="roundRect">
            <a:avLst>
              <a:gd name="adj" fmla="val 0"/>
            </a:avLst>
          </a:prstGeom>
          <a:solidFill>
            <a:srgbClr val="8C4A34">
              <a:alpha val="10000"/>
            </a:srgbClr>
          </a:solidFill>
          <a:ln w="12700" cmpd="sng" cap="flat">
            <a:solidFill>
              <a:srgbClr val="8C4A34">
                <a:alpha val="100000"/>
              </a:srgbClr>
            </a:solidFill>
            <a:prstDash val="solid"/>
            <a:round/>
          </a:ln>
        </p:spPr>
        <p:txBody>
          <a:bodyPr anchor="ctr" rtlCol="false" vert="horz" wrap="square" lIns="63500" rIns="63500" tIns="63500" bIns="63500"/>
          <a:lstStyle/>
          <a:p>
            <a:pPr algn="ctr">
              <a:defRPr/>
            </a:pPr>
            <a:endParaRPr/>
          </a:p>
        </p:txBody>
      </p:sp>
      <p:sp>
        <p:nvSpPr>
          <p:cNvPr name="AutoShape 23" id="23"/>
          <p:cNvSpPr/>
          <p:nvPr/>
        </p:nvSpPr>
        <p:spPr>
          <a:xfrm rot="0" flipH="false" flipV="false">
            <a:off x="8128000" y="4445000"/>
            <a:ext cx="26416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2500"/>
              </a:lnSpc>
              <a:defRPr/>
            </a:pPr>
            <a:r>
              <a:rPr lang="en-US" b="true" i="false" strike="noStrike" u="none" sz="1500">
                <a:solidFill>
                  <a:srgbClr val="8C4A34"/>
                </a:solidFill>
                <a:latin typeface="Lora"/>
                <a:ea typeface="Lora"/>
                <a:cs typeface="Lora"/>
                <a:sym typeface="Lora"/>
              </a:rPr>
              <a:t>6</a:t>
            </a:r>
            <a:r>
              <a:rPr lang="en-US" b="true" i="false" strike="noStrike" u="none" sz="1250">
                <a:solidFill>
                  <a:srgbClr val="4A4842"/>
                </a:solidFill>
                <a:latin typeface="Lora"/>
                <a:ea typeface="Lora"/>
                <a:cs typeface="Lora"/>
                <a:sym typeface="Lora"/>
              </a:rPr>
              <a:t> Writing &amp; defence</a:t>
            </a:r>
            <a:r>
              <a:rPr lang="en-US" b="false" i="false" strike="noStrike" u="none" sz="1250">
                <a:solidFill>
                  <a:srgbClr val="4A4842"/>
                </a:solidFill>
                <a:latin typeface="Lora"/>
                <a:ea typeface="Lora"/>
                <a:cs typeface="Lora"/>
                <a:sym typeface="Lora"/>
              </a:rPr>
              <a:t/>
            </a:r>
            <a:endParaRPr lang="en-US" sz="1100"/>
          </a:p>
          <a:p>
            <a:pPr algn="l" marL="0" indent="0">
              <a:lnSpc>
                <a:spcPct val="112500"/>
              </a:lnSpc>
            </a:pPr>
            <a:r>
              <a:rPr lang="en-US" b="false" i="false" strike="noStrike" u="none" sz="1250">
                <a:solidFill>
                  <a:srgbClr val="4A4842"/>
                </a:solidFill>
                <a:latin typeface="Lora"/>
                <a:ea typeface="Lora"/>
                <a:cs typeface="Lora"/>
                <a:sym typeface="Lora"/>
              </a:rPr>
              <a:t>Findings, discussion, limits. The close does not become a proposal for a new textbook.</a:t>
            </a:r>
          </a:p>
        </p:txBody>
      </p:sp>
      <p:sp>
        <p:nvSpPr>
          <p:cNvPr name="AutoShape 24" id="24"/>
          <p:cNvSpPr/>
          <p:nvPr/>
        </p:nvSpPr>
        <p:spPr>
          <a:xfrm rot="0" flipH="false" flipV="false">
            <a:off x="1143000" y="6172200"/>
            <a:ext cx="9906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8A8578"/>
                </a:solidFill>
                <a:latin typeface="Lora"/>
                <a:ea typeface="Lora"/>
                <a:cs typeface="Lora"/>
                <a:sym typeface="Lora"/>
              </a:rPr>
              <a:t>Pilot data are not reported as findings. If a site refuses observation, the case is dropped or limited, it is not recoded as perception research.</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F4EFE4">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143000" y="711200"/>
            <a:ext cx="635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8C4A34"/>
                </a:solidFill>
                <a:latin typeface="Lora"/>
                <a:ea typeface="Lora"/>
                <a:cs typeface="Lora"/>
                <a:sym typeface="Lora"/>
              </a:rPr>
              <a:t>06 · THESIS STRUCTURE</a:t>
            </a:r>
            <a:endParaRPr lang="en-US" sz="1100"/>
          </a:p>
        </p:txBody>
      </p:sp>
      <p:sp>
        <p:nvSpPr>
          <p:cNvPr name="AutoShape 3" id="3"/>
          <p:cNvSpPr/>
          <p:nvPr/>
        </p:nvSpPr>
        <p:spPr>
          <a:xfrm rot="0" flipH="false" flipV="false">
            <a:off x="1143000" y="1016000"/>
            <a:ext cx="9906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2A2A28"/>
                </a:solidFill>
                <a:latin typeface="Lora"/>
                <a:ea typeface="Lora"/>
                <a:cs typeface="Lora"/>
                <a:sym typeface="Lora"/>
              </a:rPr>
              <a:t>Seven chapters, two kept deliberately apart</a:t>
            </a:r>
            <a:endParaRPr lang="en-US" sz="1100"/>
          </a:p>
        </p:txBody>
      </p:sp>
      <p:cxnSp>
        <p:nvCxnSpPr>
          <p:cNvPr name="Connector 4" id="4"/>
          <p:cNvCxnSpPr/>
          <p:nvPr/>
        </p:nvCxnSpPr>
        <p:spPr>
          <a:xfrm rot="-4407" flipH="false" flipV="false">
            <a:off x="1143004" y="1847850"/>
            <a:ext cx="9906000" cy="12700"/>
          </a:xfrm>
          <a:prstGeom prst="straightConnector1">
            <a:avLst/>
          </a:prstGeom>
          <a:solidFill>
            <a:srgbClr val="DEE0E3">
              <a:alpha val="100000"/>
            </a:srgbClr>
          </a:solidFill>
          <a:ln w="12700" cmpd="sng" cap="flat">
            <a:solidFill>
              <a:srgbClr val="C9BFAE">
                <a:alpha val="100000"/>
              </a:srgbClr>
            </a:solidFill>
            <a:prstDash val="solid"/>
            <a:round/>
            <a:headEnd type="none" w="med" len="med"/>
            <a:tailEnd type="none" w="med" len="med"/>
          </a:ln>
        </p:spPr>
      </p:cxnSp>
      <p:sp>
        <p:nvSpPr>
          <p:cNvPr name="AutoShape 5" id="5"/>
          <p:cNvSpPr/>
          <p:nvPr/>
        </p:nvSpPr>
        <p:spPr>
          <a:xfrm rot="0" flipH="false" flipV="false">
            <a:off x="1143000" y="2133600"/>
            <a:ext cx="762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8C4A34"/>
                </a:solidFill>
                <a:latin typeface="Lora"/>
                <a:ea typeface="Lora"/>
                <a:cs typeface="Lora"/>
                <a:sym typeface="Lora"/>
              </a:rPr>
              <a:t>1</a:t>
            </a:r>
            <a:endParaRPr lang="en-US" sz="1100"/>
          </a:p>
        </p:txBody>
      </p:sp>
      <p:sp>
        <p:nvSpPr>
          <p:cNvPr name="AutoShape 6" id="6"/>
          <p:cNvSpPr/>
          <p:nvPr/>
        </p:nvSpPr>
        <p:spPr>
          <a:xfrm rot="0" flipH="false" flipV="false">
            <a:off x="1651000" y="2133600"/>
            <a:ext cx="9398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A2A28"/>
                </a:solidFill>
                <a:latin typeface="Lora"/>
                <a:ea typeface="Lora"/>
                <a:cs typeface="Lora"/>
                <a:sym typeface="Lora"/>
              </a:rPr>
              <a:t>Introduction</a:t>
            </a:r>
            <a:r>
              <a:rPr lang="en-US" b="false" i="false" strike="noStrike" u="none" sz="1400">
                <a:solidFill>
                  <a:srgbClr val="2A2A28"/>
                </a:solidFill>
                <a:latin typeface="Lora"/>
                <a:ea typeface="Lora"/>
                <a:cs typeface="Lora"/>
                <a:sym typeface="Lora"/>
              </a:rPr>
              <a:t>, problem, aim, research questions, object and delimitations, key terms.</a:t>
            </a:r>
            <a:endParaRPr lang="en-US" sz="1100"/>
          </a:p>
        </p:txBody>
      </p:sp>
      <p:cxnSp>
        <p:nvCxnSpPr>
          <p:cNvPr name="Connector 7" id="7"/>
          <p:cNvCxnSpPr/>
          <p:nvPr/>
        </p:nvCxnSpPr>
        <p:spPr>
          <a:xfrm rot="-4407" flipH="false" flipV="false">
            <a:off x="1143004" y="2533650"/>
            <a:ext cx="9906000" cy="12700"/>
          </a:xfrm>
          <a:prstGeom prst="straightConnector1">
            <a:avLst/>
          </a:prstGeom>
          <a:solidFill>
            <a:srgbClr val="DEE0E3">
              <a:alpha val="100000"/>
            </a:srgbClr>
          </a:solidFill>
          <a:ln w="12700" cmpd="sng" cap="flat">
            <a:solidFill>
              <a:srgbClr val="E1DACB">
                <a:alpha val="100000"/>
              </a:srgbClr>
            </a:solidFill>
            <a:prstDash val="solid"/>
            <a:round/>
            <a:headEnd type="none" w="med" len="med"/>
            <a:tailEnd type="none" w="med" len="med"/>
          </a:ln>
        </p:spPr>
      </p:cxnSp>
      <p:sp>
        <p:nvSpPr>
          <p:cNvPr name="AutoShape 8" id="8"/>
          <p:cNvSpPr/>
          <p:nvPr/>
        </p:nvSpPr>
        <p:spPr>
          <a:xfrm rot="0" flipH="false" flipV="false">
            <a:off x="1143000" y="2667000"/>
            <a:ext cx="762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8C4A34"/>
                </a:solidFill>
                <a:latin typeface="Lora"/>
                <a:ea typeface="Lora"/>
                <a:cs typeface="Lora"/>
                <a:sym typeface="Lora"/>
              </a:rPr>
              <a:t>2</a:t>
            </a:r>
            <a:endParaRPr lang="en-US" sz="1100"/>
          </a:p>
        </p:txBody>
      </p:sp>
      <p:sp>
        <p:nvSpPr>
          <p:cNvPr name="AutoShape 9" id="9"/>
          <p:cNvSpPr/>
          <p:nvPr/>
        </p:nvSpPr>
        <p:spPr>
          <a:xfrm rot="0" flipH="false" flipV="false">
            <a:off x="1651000" y="2667000"/>
            <a:ext cx="9398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A2A28"/>
                </a:solidFill>
                <a:latin typeface="Lora"/>
                <a:ea typeface="Lora"/>
                <a:cs typeface="Lora"/>
                <a:sym typeface="Lora"/>
              </a:rPr>
              <a:t>Literature Review</a:t>
            </a:r>
            <a:r>
              <a:rPr lang="en-US" b="false" i="false" strike="noStrike" u="none" sz="1400">
                <a:solidFill>
                  <a:srgbClr val="2A2A28"/>
                </a:solidFill>
                <a:latin typeface="Lora"/>
                <a:ea typeface="Lora"/>
                <a:cs typeface="Lora"/>
                <a:sym typeface="Lora"/>
              </a:rPr>
              <a:t>, four strands; what each can and cannot show; the gap.</a:t>
            </a:r>
            <a:endParaRPr lang="en-US" sz="1100"/>
          </a:p>
        </p:txBody>
      </p:sp>
      <p:cxnSp>
        <p:nvCxnSpPr>
          <p:cNvPr name="Connector 10" id="10"/>
          <p:cNvCxnSpPr/>
          <p:nvPr/>
        </p:nvCxnSpPr>
        <p:spPr>
          <a:xfrm rot="-4407" flipH="false" flipV="false">
            <a:off x="1143004" y="3067050"/>
            <a:ext cx="9906000" cy="12700"/>
          </a:xfrm>
          <a:prstGeom prst="straightConnector1">
            <a:avLst/>
          </a:prstGeom>
          <a:solidFill>
            <a:srgbClr val="DEE0E3">
              <a:alpha val="100000"/>
            </a:srgbClr>
          </a:solidFill>
          <a:ln w="12700" cmpd="sng" cap="flat">
            <a:solidFill>
              <a:srgbClr val="E1DACB">
                <a:alpha val="100000"/>
              </a:srgbClr>
            </a:solidFill>
            <a:prstDash val="solid"/>
            <a:round/>
            <a:headEnd type="none" w="med" len="med"/>
            <a:tailEnd type="none" w="med" len="med"/>
          </a:ln>
        </p:spPr>
      </p:cxnSp>
      <p:sp>
        <p:nvSpPr>
          <p:cNvPr name="AutoShape 11" id="11"/>
          <p:cNvSpPr/>
          <p:nvPr/>
        </p:nvSpPr>
        <p:spPr>
          <a:xfrm rot="0" flipH="false" flipV="false">
            <a:off x="1143000" y="3200400"/>
            <a:ext cx="762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8C4A34"/>
                </a:solidFill>
                <a:latin typeface="Lora"/>
                <a:ea typeface="Lora"/>
                <a:cs typeface="Lora"/>
                <a:sym typeface="Lora"/>
              </a:rPr>
              <a:t>3</a:t>
            </a:r>
            <a:endParaRPr lang="en-US" sz="1100"/>
          </a:p>
        </p:txBody>
      </p:sp>
      <p:sp>
        <p:nvSpPr>
          <p:cNvPr name="AutoShape 12" id="12"/>
          <p:cNvSpPr/>
          <p:nvPr/>
        </p:nvSpPr>
        <p:spPr>
          <a:xfrm rot="0" flipH="false" flipV="false">
            <a:off x="1651000" y="3200400"/>
            <a:ext cx="9398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A2A28"/>
                </a:solidFill>
                <a:latin typeface="Lora"/>
                <a:ea typeface="Lora"/>
                <a:cs typeface="Lora"/>
                <a:sym typeface="Lora"/>
              </a:rPr>
              <a:t>Theoretical Framework</a:t>
            </a:r>
            <a:r>
              <a:rPr lang="en-US" b="false" i="false" strike="noStrike" u="none" sz="1400">
                <a:solidFill>
                  <a:srgbClr val="2A2A28"/>
                </a:solidFill>
                <a:latin typeface="Lora"/>
                <a:ea typeface="Lora"/>
                <a:cs typeface="Lora"/>
                <a:sym typeface="Lora"/>
              </a:rPr>
              <a:t>, recontextualization + ecological agency mapped onto the questions.</a:t>
            </a:r>
            <a:endParaRPr lang="en-US" sz="1100"/>
          </a:p>
        </p:txBody>
      </p:sp>
      <p:cxnSp>
        <p:nvCxnSpPr>
          <p:cNvPr name="Connector 13" id="13"/>
          <p:cNvCxnSpPr/>
          <p:nvPr/>
        </p:nvCxnSpPr>
        <p:spPr>
          <a:xfrm rot="-4407" flipH="false" flipV="false">
            <a:off x="1143004" y="3600450"/>
            <a:ext cx="9906000" cy="12700"/>
          </a:xfrm>
          <a:prstGeom prst="straightConnector1">
            <a:avLst/>
          </a:prstGeom>
          <a:solidFill>
            <a:srgbClr val="DEE0E3">
              <a:alpha val="100000"/>
            </a:srgbClr>
          </a:solidFill>
          <a:ln w="12700" cmpd="sng" cap="flat">
            <a:solidFill>
              <a:srgbClr val="E1DACB">
                <a:alpha val="100000"/>
              </a:srgbClr>
            </a:solidFill>
            <a:prstDash val="solid"/>
            <a:round/>
            <a:headEnd type="none" w="med" len="med"/>
            <a:tailEnd type="none" w="med" len="med"/>
          </a:ln>
        </p:spPr>
      </p:cxnSp>
      <p:sp>
        <p:nvSpPr>
          <p:cNvPr name="AutoShape 14" id="14"/>
          <p:cNvSpPr/>
          <p:nvPr/>
        </p:nvSpPr>
        <p:spPr>
          <a:xfrm rot="0" flipH="false" flipV="false">
            <a:off x="1143000" y="3733800"/>
            <a:ext cx="762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8C4A34"/>
                </a:solidFill>
                <a:latin typeface="Lora"/>
                <a:ea typeface="Lora"/>
                <a:cs typeface="Lora"/>
                <a:sym typeface="Lora"/>
              </a:rPr>
              <a:t>4</a:t>
            </a:r>
            <a:endParaRPr lang="en-US" sz="1100"/>
          </a:p>
        </p:txBody>
      </p:sp>
      <p:sp>
        <p:nvSpPr>
          <p:cNvPr name="AutoShape 15" id="15"/>
          <p:cNvSpPr/>
          <p:nvPr/>
        </p:nvSpPr>
        <p:spPr>
          <a:xfrm rot="0" flipH="false" flipV="false">
            <a:off x="1651000" y="3733800"/>
            <a:ext cx="9398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A2A28"/>
                </a:solidFill>
                <a:latin typeface="Lora"/>
                <a:ea typeface="Lora"/>
                <a:cs typeface="Lora"/>
                <a:sym typeface="Lora"/>
              </a:rPr>
              <a:t>Research Design</a:t>
            </a:r>
            <a:r>
              <a:rPr lang="en-US" b="false" i="false" strike="noStrike" u="none" sz="1400">
                <a:solidFill>
                  <a:srgbClr val="2A2A28"/>
                </a:solidFill>
                <a:latin typeface="Lora"/>
                <a:ea typeface="Lora"/>
                <a:cs typeface="Lora"/>
                <a:sym typeface="Lora"/>
              </a:rPr>
              <a:t>, sampling, data generation, analysis, ethics, trustworthiness.</a:t>
            </a:r>
            <a:endParaRPr lang="en-US" sz="1100"/>
          </a:p>
        </p:txBody>
      </p:sp>
      <p:cxnSp>
        <p:nvCxnSpPr>
          <p:cNvPr name="Connector 16" id="16"/>
          <p:cNvCxnSpPr/>
          <p:nvPr/>
        </p:nvCxnSpPr>
        <p:spPr>
          <a:xfrm rot="-4407" flipH="false" flipV="false">
            <a:off x="1143004" y="4133850"/>
            <a:ext cx="9906000" cy="12700"/>
          </a:xfrm>
          <a:prstGeom prst="straightConnector1">
            <a:avLst/>
          </a:prstGeom>
          <a:solidFill>
            <a:srgbClr val="DEE0E3">
              <a:alpha val="100000"/>
            </a:srgbClr>
          </a:solidFill>
          <a:ln w="12700" cmpd="sng" cap="flat">
            <a:solidFill>
              <a:srgbClr val="E1DACB">
                <a:alpha val="100000"/>
              </a:srgbClr>
            </a:solidFill>
            <a:prstDash val="solid"/>
            <a:round/>
            <a:headEnd type="none" w="med" len="med"/>
            <a:tailEnd type="none" w="med" len="med"/>
          </a:ln>
        </p:spPr>
      </p:cxnSp>
      <p:sp>
        <p:nvSpPr>
          <p:cNvPr name="AutoShape 17" id="17"/>
          <p:cNvSpPr/>
          <p:nvPr/>
        </p:nvSpPr>
        <p:spPr>
          <a:xfrm rot="0" flipH="false" flipV="false">
            <a:off x="1143000" y="4267200"/>
            <a:ext cx="762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8C4A34"/>
                </a:solidFill>
                <a:latin typeface="Lora"/>
                <a:ea typeface="Lora"/>
                <a:cs typeface="Lora"/>
                <a:sym typeface="Lora"/>
              </a:rPr>
              <a:t>5</a:t>
            </a:r>
            <a:endParaRPr lang="en-US" sz="1100"/>
          </a:p>
        </p:txBody>
      </p:sp>
      <p:sp>
        <p:nvSpPr>
          <p:cNvPr name="AutoShape 18" id="18"/>
          <p:cNvSpPr/>
          <p:nvPr/>
        </p:nvSpPr>
        <p:spPr>
          <a:xfrm rot="0" flipH="false" flipV="false">
            <a:off x="1651000" y="4267200"/>
            <a:ext cx="9398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A2A28"/>
                </a:solidFill>
                <a:latin typeface="Lora"/>
                <a:ea typeface="Lora"/>
                <a:cs typeface="Lora"/>
                <a:sym typeface="Lora"/>
              </a:rPr>
              <a:t>Findings I</a:t>
            </a:r>
            <a:r>
              <a:rPr lang="en-US" b="false" i="false" strike="noStrike" u="none" sz="1400">
                <a:solidFill>
                  <a:srgbClr val="2A2A28"/>
                </a:solidFill>
                <a:latin typeface="Lora"/>
                <a:ea typeface="Lora"/>
                <a:cs typeface="Lora"/>
                <a:sym typeface="Lora"/>
              </a:rPr>
              <a:t>, recontextualization practices observed in the classroom (RQ1).</a:t>
            </a:r>
            <a:endParaRPr lang="en-US" sz="1100"/>
          </a:p>
        </p:txBody>
      </p:sp>
      <p:cxnSp>
        <p:nvCxnSpPr>
          <p:cNvPr name="Connector 19" id="19"/>
          <p:cNvCxnSpPr/>
          <p:nvPr/>
        </p:nvCxnSpPr>
        <p:spPr>
          <a:xfrm rot="-4407" flipH="false" flipV="false">
            <a:off x="1143004" y="4667250"/>
            <a:ext cx="9906000" cy="12700"/>
          </a:xfrm>
          <a:prstGeom prst="straightConnector1">
            <a:avLst/>
          </a:prstGeom>
          <a:solidFill>
            <a:srgbClr val="DEE0E3">
              <a:alpha val="100000"/>
            </a:srgbClr>
          </a:solidFill>
          <a:ln w="12700" cmpd="sng" cap="flat">
            <a:solidFill>
              <a:srgbClr val="E1DACB">
                <a:alpha val="100000"/>
              </a:srgbClr>
            </a:solidFill>
            <a:prstDash val="solid"/>
            <a:round/>
            <a:headEnd type="none" w="med" len="med"/>
            <a:tailEnd type="none" w="med" len="med"/>
          </a:ln>
        </p:spPr>
      </p:cxnSp>
      <p:sp>
        <p:nvSpPr>
          <p:cNvPr name="AutoShape 20" id="20"/>
          <p:cNvSpPr/>
          <p:nvPr/>
        </p:nvSpPr>
        <p:spPr>
          <a:xfrm rot="0" flipH="false" flipV="false">
            <a:off x="1143000" y="4800600"/>
            <a:ext cx="762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8C4A34"/>
                </a:solidFill>
                <a:latin typeface="Lora"/>
                <a:ea typeface="Lora"/>
                <a:cs typeface="Lora"/>
                <a:sym typeface="Lora"/>
              </a:rPr>
              <a:t>6</a:t>
            </a:r>
            <a:endParaRPr lang="en-US" sz="1100"/>
          </a:p>
        </p:txBody>
      </p:sp>
      <p:sp>
        <p:nvSpPr>
          <p:cNvPr name="AutoShape 21" id="21"/>
          <p:cNvSpPr/>
          <p:nvPr/>
        </p:nvSpPr>
        <p:spPr>
          <a:xfrm rot="0" flipH="false" flipV="false">
            <a:off x="1651000" y="4800600"/>
            <a:ext cx="9398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A2A28"/>
                </a:solidFill>
                <a:latin typeface="Lora"/>
                <a:ea typeface="Lora"/>
                <a:cs typeface="Lora"/>
                <a:sym typeface="Lora"/>
              </a:rPr>
              <a:t>Findings II</a:t>
            </a:r>
            <a:r>
              <a:rPr lang="en-US" b="false" i="false" strike="noStrike" u="none" sz="1400">
                <a:solidFill>
                  <a:srgbClr val="2A2A28"/>
                </a:solidFill>
                <a:latin typeface="Lora"/>
                <a:ea typeface="Lora"/>
                <a:cs typeface="Lora"/>
                <a:sym typeface="Lora"/>
              </a:rPr>
              <a:t>, justifications, the agency triad, and enabling / blocking conditions (RQ2 and RQ3).</a:t>
            </a:r>
            <a:endParaRPr lang="en-US" sz="1100"/>
          </a:p>
        </p:txBody>
      </p:sp>
      <p:cxnSp>
        <p:nvCxnSpPr>
          <p:cNvPr name="Connector 22" id="22"/>
          <p:cNvCxnSpPr/>
          <p:nvPr/>
        </p:nvCxnSpPr>
        <p:spPr>
          <a:xfrm rot="-4407" flipH="false" flipV="false">
            <a:off x="1143004" y="5200650"/>
            <a:ext cx="9906000" cy="12700"/>
          </a:xfrm>
          <a:prstGeom prst="straightConnector1">
            <a:avLst/>
          </a:prstGeom>
          <a:solidFill>
            <a:srgbClr val="DEE0E3">
              <a:alpha val="100000"/>
            </a:srgbClr>
          </a:solidFill>
          <a:ln w="12700" cmpd="sng" cap="flat">
            <a:solidFill>
              <a:srgbClr val="E1DACB">
                <a:alpha val="100000"/>
              </a:srgbClr>
            </a:solidFill>
            <a:prstDash val="solid"/>
            <a:round/>
            <a:headEnd type="none" w="med" len="med"/>
            <a:tailEnd type="none" w="med" len="med"/>
          </a:ln>
        </p:spPr>
      </p:cxnSp>
      <p:sp>
        <p:nvSpPr>
          <p:cNvPr name="AutoShape 23" id="23"/>
          <p:cNvSpPr/>
          <p:nvPr/>
        </p:nvSpPr>
        <p:spPr>
          <a:xfrm rot="0" flipH="false" flipV="false">
            <a:off x="1143000" y="5334000"/>
            <a:ext cx="762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8C4A34"/>
                </a:solidFill>
                <a:latin typeface="Lora"/>
                <a:ea typeface="Lora"/>
                <a:cs typeface="Lora"/>
                <a:sym typeface="Lora"/>
              </a:rPr>
              <a:t>7</a:t>
            </a:r>
            <a:endParaRPr lang="en-US" sz="1100"/>
          </a:p>
        </p:txBody>
      </p:sp>
      <p:sp>
        <p:nvSpPr>
          <p:cNvPr name="AutoShape 24" id="24"/>
          <p:cNvSpPr/>
          <p:nvPr/>
        </p:nvSpPr>
        <p:spPr>
          <a:xfrm rot="0" flipH="false" flipV="false">
            <a:off x="1651000" y="5334000"/>
            <a:ext cx="9398000" cy="3302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A2A28"/>
                </a:solidFill>
                <a:latin typeface="Lora"/>
                <a:ea typeface="Lora"/>
                <a:cs typeface="Lora"/>
                <a:sym typeface="Lora"/>
              </a:rPr>
              <a:t>Discussion &amp; Conclusion</a:t>
            </a:r>
            <a:r>
              <a:rPr lang="en-US" b="false" i="false" strike="noStrike" u="none" sz="1400">
                <a:solidFill>
                  <a:srgbClr val="2A2A28"/>
                </a:solidFill>
                <a:latin typeface="Lora"/>
                <a:ea typeface="Lora"/>
                <a:cs typeface="Lora"/>
                <a:sym typeface="Lora"/>
              </a:rPr>
              <a:t>, returning to the title; implications, limits, further research.</a:t>
            </a:r>
            <a:endParaRPr lang="en-US" sz="1100"/>
          </a:p>
        </p:txBody>
      </p:sp>
      <p:sp>
        <p:nvSpPr>
          <p:cNvPr name="AutoShape 25" id="25"/>
          <p:cNvSpPr/>
          <p:nvPr/>
        </p:nvSpPr>
        <p:spPr>
          <a:xfrm rot="0" flipH="false" flipV="false">
            <a:off x="1143000" y="6070600"/>
            <a:ext cx="990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true" strike="noStrike" u="none" sz="1300">
                <a:solidFill>
                  <a:srgbClr val="8A8578"/>
                </a:solidFill>
                <a:latin typeface="Lora"/>
                <a:ea typeface="Lora"/>
                <a:cs typeface="Lora"/>
                <a:sym typeface="Lora"/>
              </a:rPr>
              <a:t>Two findings chapters are kept separate because the title names two objects, materials, and agency, and localization is read from practice, not added as a third theory chapter.</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F4EFE4">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143000" y="711200"/>
            <a:ext cx="635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8C4A34"/>
                </a:solidFill>
                <a:latin typeface="Lora"/>
                <a:ea typeface="Lora"/>
                <a:cs typeface="Lora"/>
                <a:sym typeface="Lora"/>
              </a:rPr>
              <a:t>07 · FOCI &amp; INNOVATIONS</a:t>
            </a:r>
            <a:endParaRPr lang="en-US" sz="1100"/>
          </a:p>
        </p:txBody>
      </p:sp>
      <p:sp>
        <p:nvSpPr>
          <p:cNvPr name="AutoShape 3" id="3"/>
          <p:cNvSpPr/>
          <p:nvPr/>
        </p:nvSpPr>
        <p:spPr>
          <a:xfrm rot="0" flipH="false" flipV="false">
            <a:off x="1143000" y="1016000"/>
            <a:ext cx="9906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2A2A28"/>
                </a:solidFill>
                <a:latin typeface="Lora"/>
                <a:ea typeface="Lora"/>
                <a:cs typeface="Lora"/>
                <a:sym typeface="Lora"/>
              </a:rPr>
              <a:t>What the study centres, and where it is new</a:t>
            </a:r>
            <a:endParaRPr lang="en-US" sz="1100"/>
          </a:p>
        </p:txBody>
      </p:sp>
      <p:cxnSp>
        <p:nvCxnSpPr>
          <p:cNvPr name="Connector 4" id="4"/>
          <p:cNvCxnSpPr/>
          <p:nvPr/>
        </p:nvCxnSpPr>
        <p:spPr>
          <a:xfrm rot="-4407" flipH="false" flipV="false">
            <a:off x="1143004" y="1847850"/>
            <a:ext cx="9906000" cy="12700"/>
          </a:xfrm>
          <a:prstGeom prst="straightConnector1">
            <a:avLst/>
          </a:prstGeom>
          <a:solidFill>
            <a:srgbClr val="DEE0E3">
              <a:alpha val="100000"/>
            </a:srgbClr>
          </a:solidFill>
          <a:ln w="12700" cmpd="sng" cap="flat">
            <a:solidFill>
              <a:srgbClr val="C9BFAE">
                <a:alpha val="100000"/>
              </a:srgbClr>
            </a:solidFill>
            <a:prstDash val="solid"/>
            <a:round/>
            <a:headEnd type="none" w="med" len="med"/>
            <a:tailEnd type="none" w="med" len="med"/>
          </a:ln>
        </p:spPr>
      </p:cxnSp>
      <p:sp>
        <p:nvSpPr>
          <p:cNvPr name="AutoShape 5" id="5"/>
          <p:cNvSpPr/>
          <p:nvPr/>
        </p:nvSpPr>
        <p:spPr>
          <a:xfrm rot="0" flipH="false" flipV="false">
            <a:off x="1143000" y="2133600"/>
            <a:ext cx="4826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8A8578"/>
                </a:solidFill>
                <a:latin typeface="Lora"/>
                <a:ea typeface="Lora"/>
                <a:cs typeface="Lora"/>
                <a:sym typeface="Lora"/>
              </a:rPr>
              <a:t>RESEARCH FOCI</a:t>
            </a:r>
            <a:endParaRPr lang="en-US" sz="1100"/>
          </a:p>
        </p:txBody>
      </p:sp>
      <p:sp>
        <p:nvSpPr>
          <p:cNvPr name="AutoShape 6" id="6"/>
          <p:cNvSpPr/>
          <p:nvPr/>
        </p:nvSpPr>
        <p:spPr>
          <a:xfrm rot="0" flipH="false" flipV="false">
            <a:off x="6350000" y="2133600"/>
            <a:ext cx="4699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8C4A34"/>
                </a:solidFill>
                <a:latin typeface="Lora"/>
                <a:ea typeface="Lora"/>
                <a:cs typeface="Lora"/>
                <a:sym typeface="Lora"/>
              </a:rPr>
              <a:t>INNOVATIONS</a:t>
            </a:r>
            <a:endParaRPr lang="en-US" sz="1100"/>
          </a:p>
        </p:txBody>
      </p:sp>
      <p:cxnSp>
        <p:nvCxnSpPr>
          <p:cNvPr name="Connector 7" id="7"/>
          <p:cNvCxnSpPr/>
          <p:nvPr/>
        </p:nvCxnSpPr>
        <p:spPr>
          <a:xfrm rot="5387267" flipH="false" flipV="false">
            <a:off x="4445000" y="4248162"/>
            <a:ext cx="3429000" cy="12700"/>
          </a:xfrm>
          <a:prstGeom prst="straightConnector1">
            <a:avLst/>
          </a:prstGeom>
          <a:solidFill>
            <a:srgbClr val="DEE0E3">
              <a:alpha val="100000"/>
            </a:srgbClr>
          </a:solidFill>
          <a:ln w="12700" cmpd="sng" cap="flat">
            <a:solidFill>
              <a:srgbClr val="C9BFAE">
                <a:alpha val="100000"/>
              </a:srgbClr>
            </a:solidFill>
            <a:prstDash val="solid"/>
            <a:round/>
            <a:headEnd type="none" w="med" len="med"/>
            <a:tailEnd type="none" w="med" len="med"/>
          </a:ln>
        </p:spPr>
      </p:cxnSp>
      <p:sp>
        <p:nvSpPr>
          <p:cNvPr name="AutoShape 8" id="8"/>
          <p:cNvSpPr/>
          <p:nvPr/>
        </p:nvSpPr>
        <p:spPr>
          <a:xfrm rot="0" flipH="false" flipV="false">
            <a:off x="1143000" y="2616200"/>
            <a:ext cx="38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8C4A34"/>
                </a:solidFill>
                <a:latin typeface="Lora"/>
                <a:ea typeface="Lora"/>
                <a:cs typeface="Lora"/>
                <a:sym typeface="Lora"/>
              </a:rPr>
              <a:t>1</a:t>
            </a:r>
            <a:endParaRPr lang="en-US" sz="1100"/>
          </a:p>
        </p:txBody>
      </p:sp>
      <p:sp>
        <p:nvSpPr>
          <p:cNvPr name="AutoShape 9" id="9"/>
          <p:cNvSpPr/>
          <p:nvPr/>
        </p:nvSpPr>
        <p:spPr>
          <a:xfrm rot="0" flipH="false" flipV="false">
            <a:off x="1524000" y="2616200"/>
            <a:ext cx="4445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50">
                <a:solidFill>
                  <a:srgbClr val="4A4842"/>
                </a:solidFill>
                <a:latin typeface="Lora"/>
                <a:ea typeface="Lora"/>
                <a:cs typeface="Lora"/>
                <a:sym typeface="Lora"/>
              </a:rPr>
              <a:t>Classroom recontextualization of Chinese-language materials, the moves teachers actually make.</a:t>
            </a:r>
            <a:endParaRPr lang="en-US" sz="1100"/>
          </a:p>
        </p:txBody>
      </p:sp>
      <p:sp>
        <p:nvSpPr>
          <p:cNvPr name="AutoShape 10" id="10"/>
          <p:cNvSpPr/>
          <p:nvPr/>
        </p:nvSpPr>
        <p:spPr>
          <a:xfrm rot="0" flipH="false" flipV="false">
            <a:off x="6350000" y="2616200"/>
            <a:ext cx="38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8C4A34"/>
                </a:solidFill>
                <a:latin typeface="Lora"/>
                <a:ea typeface="Lora"/>
                <a:cs typeface="Lora"/>
                <a:sym typeface="Lora"/>
              </a:rPr>
              <a:t>1</a:t>
            </a:r>
            <a:endParaRPr lang="en-US" sz="1100"/>
          </a:p>
        </p:txBody>
      </p:sp>
      <p:sp>
        <p:nvSpPr>
          <p:cNvPr name="AutoShape 11" id="11"/>
          <p:cNvSpPr/>
          <p:nvPr/>
        </p:nvSpPr>
        <p:spPr>
          <a:xfrm rot="0" flipH="false" flipV="false">
            <a:off x="6731000" y="2616200"/>
            <a:ext cx="4318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350">
                <a:solidFill>
                  <a:srgbClr val="4A4842"/>
                </a:solidFill>
                <a:latin typeface="Lora"/>
                <a:ea typeface="Lora"/>
                <a:cs typeface="Lora"/>
                <a:sym typeface="Lora"/>
              </a:rPr>
              <a:t>Object:</a:t>
            </a:r>
            <a:r>
              <a:rPr lang="en-US" b="false" i="false" strike="noStrike" u="none" sz="1350">
                <a:solidFill>
                  <a:srgbClr val="4A4842"/>
                </a:solidFill>
                <a:latin typeface="Lora"/>
                <a:ea typeface="Lora"/>
                <a:cs typeface="Lora"/>
                <a:sym typeface="Lora"/>
              </a:rPr>
              <a:t> this population and this materials object, studied together in one design.</a:t>
            </a:r>
            <a:endParaRPr lang="en-US" sz="1100"/>
          </a:p>
        </p:txBody>
      </p:sp>
      <p:cxnSp>
        <p:nvCxnSpPr>
          <p:cNvPr name="Connector 12" id="12"/>
          <p:cNvCxnSpPr/>
          <p:nvPr/>
        </p:nvCxnSpPr>
        <p:spPr>
          <a:xfrm rot="-4407" flipH="false" flipV="false">
            <a:off x="1143004" y="3625850"/>
            <a:ext cx="9906000" cy="12700"/>
          </a:xfrm>
          <a:prstGeom prst="straightConnector1">
            <a:avLst/>
          </a:prstGeom>
          <a:solidFill>
            <a:srgbClr val="DEE0E3">
              <a:alpha val="100000"/>
            </a:srgbClr>
          </a:solidFill>
          <a:ln w="12700" cmpd="sng" cap="flat">
            <a:solidFill>
              <a:srgbClr val="E1DACB">
                <a:alpha val="100000"/>
              </a:srgbClr>
            </a:solidFill>
            <a:prstDash val="solid"/>
            <a:round/>
            <a:headEnd type="none" w="med" len="med"/>
            <a:tailEnd type="none" w="med" len="med"/>
          </a:ln>
        </p:spPr>
      </p:cxnSp>
      <p:sp>
        <p:nvSpPr>
          <p:cNvPr name="AutoShape 13" id="13"/>
          <p:cNvSpPr/>
          <p:nvPr/>
        </p:nvSpPr>
        <p:spPr>
          <a:xfrm rot="0" flipH="false" flipV="false">
            <a:off x="1143000" y="3759200"/>
            <a:ext cx="38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8C4A34"/>
                </a:solidFill>
                <a:latin typeface="Lora"/>
                <a:ea typeface="Lora"/>
                <a:cs typeface="Lora"/>
                <a:sym typeface="Lora"/>
              </a:rPr>
              <a:t>2</a:t>
            </a:r>
            <a:endParaRPr lang="en-US" sz="1100"/>
          </a:p>
        </p:txBody>
      </p:sp>
      <p:sp>
        <p:nvSpPr>
          <p:cNvPr name="AutoShape 14" id="14"/>
          <p:cNvSpPr/>
          <p:nvPr/>
        </p:nvSpPr>
        <p:spPr>
          <a:xfrm rot="0" flipH="false" flipV="false">
            <a:off x="1524000" y="3759200"/>
            <a:ext cx="4445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50">
                <a:solidFill>
                  <a:srgbClr val="4A4842"/>
                </a:solidFill>
                <a:latin typeface="Lora"/>
                <a:ea typeface="Lora"/>
                <a:cs typeface="Lora"/>
                <a:sym typeface="Lora"/>
              </a:rPr>
              <a:t>Ecological teacher agency, what is possible under the teachers' actual conditions.</a:t>
            </a:r>
            <a:endParaRPr lang="en-US" sz="1100"/>
          </a:p>
        </p:txBody>
      </p:sp>
      <p:sp>
        <p:nvSpPr>
          <p:cNvPr name="AutoShape 15" id="15"/>
          <p:cNvSpPr/>
          <p:nvPr/>
        </p:nvSpPr>
        <p:spPr>
          <a:xfrm rot="0" flipH="false" flipV="false">
            <a:off x="6350000" y="3759200"/>
            <a:ext cx="38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8C4A34"/>
                </a:solidFill>
                <a:latin typeface="Lora"/>
                <a:ea typeface="Lora"/>
                <a:cs typeface="Lora"/>
                <a:sym typeface="Lora"/>
              </a:rPr>
              <a:t>2</a:t>
            </a:r>
            <a:endParaRPr lang="en-US" sz="1100"/>
          </a:p>
        </p:txBody>
      </p:sp>
      <p:sp>
        <p:nvSpPr>
          <p:cNvPr name="AutoShape 16" id="16"/>
          <p:cNvSpPr/>
          <p:nvPr/>
        </p:nvSpPr>
        <p:spPr>
          <a:xfrm rot="0" flipH="false" flipV="false">
            <a:off x="6731000" y="3759200"/>
            <a:ext cx="4318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350">
                <a:solidFill>
                  <a:srgbClr val="4A4842"/>
                </a:solidFill>
                <a:latin typeface="Lora"/>
                <a:ea typeface="Lora"/>
                <a:cs typeface="Lora"/>
                <a:sym typeface="Lora"/>
              </a:rPr>
              <a:t>Method:</a:t>
            </a:r>
            <a:r>
              <a:rPr lang="en-US" b="false" i="false" strike="noStrike" u="none" sz="1350">
                <a:solidFill>
                  <a:srgbClr val="4A4842"/>
                </a:solidFill>
                <a:latin typeface="Lora"/>
                <a:ea typeface="Lora"/>
                <a:cs typeface="Lora"/>
                <a:sym typeface="Lora"/>
              </a:rPr>
              <a:t> lesson observation plus materials comparison, in a setting previously studied through perception.</a:t>
            </a:r>
            <a:endParaRPr lang="en-US" sz="1100"/>
          </a:p>
        </p:txBody>
      </p:sp>
      <p:cxnSp>
        <p:nvCxnSpPr>
          <p:cNvPr name="Connector 17" id="17"/>
          <p:cNvCxnSpPr/>
          <p:nvPr/>
        </p:nvCxnSpPr>
        <p:spPr>
          <a:xfrm rot="-4407" flipH="false" flipV="false">
            <a:off x="1143004" y="4768850"/>
            <a:ext cx="9906000" cy="12700"/>
          </a:xfrm>
          <a:prstGeom prst="straightConnector1">
            <a:avLst/>
          </a:prstGeom>
          <a:solidFill>
            <a:srgbClr val="DEE0E3">
              <a:alpha val="100000"/>
            </a:srgbClr>
          </a:solidFill>
          <a:ln w="12700" cmpd="sng" cap="flat">
            <a:solidFill>
              <a:srgbClr val="E1DACB">
                <a:alpha val="100000"/>
              </a:srgbClr>
            </a:solidFill>
            <a:prstDash val="solid"/>
            <a:round/>
            <a:headEnd type="none" w="med" len="med"/>
            <a:tailEnd type="none" w="med" len="med"/>
          </a:ln>
        </p:spPr>
      </p:cxnSp>
      <p:sp>
        <p:nvSpPr>
          <p:cNvPr name="AutoShape 18" id="18"/>
          <p:cNvSpPr/>
          <p:nvPr/>
        </p:nvSpPr>
        <p:spPr>
          <a:xfrm rot="0" flipH="false" flipV="false">
            <a:off x="1143000" y="4902200"/>
            <a:ext cx="38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8C4A34"/>
                </a:solidFill>
                <a:latin typeface="Lora"/>
                <a:ea typeface="Lora"/>
                <a:cs typeface="Lora"/>
                <a:sym typeface="Lora"/>
              </a:rPr>
              <a:t>3</a:t>
            </a:r>
            <a:endParaRPr lang="en-US" sz="1100"/>
          </a:p>
        </p:txBody>
      </p:sp>
      <p:sp>
        <p:nvSpPr>
          <p:cNvPr name="AutoShape 19" id="19"/>
          <p:cNvSpPr/>
          <p:nvPr/>
        </p:nvSpPr>
        <p:spPr>
          <a:xfrm rot="0" flipH="false" flipV="false">
            <a:off x="1524000" y="4902200"/>
            <a:ext cx="4445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50">
                <a:solidFill>
                  <a:srgbClr val="4A4842"/>
                </a:solidFill>
                <a:latin typeface="Lora"/>
                <a:ea typeface="Lora"/>
                <a:cs typeface="Lora"/>
                <a:sym typeface="Lora"/>
              </a:rPr>
              <a:t>Localization as a classroom process and outcome, not as a new book to be produced.</a:t>
            </a:r>
            <a:endParaRPr lang="en-US" sz="1100"/>
          </a:p>
        </p:txBody>
      </p:sp>
      <p:sp>
        <p:nvSpPr>
          <p:cNvPr name="AutoShape 20" id="20"/>
          <p:cNvSpPr/>
          <p:nvPr/>
        </p:nvSpPr>
        <p:spPr>
          <a:xfrm rot="0" flipH="false" flipV="false">
            <a:off x="6350000" y="4902200"/>
            <a:ext cx="381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8C4A34"/>
                </a:solidFill>
                <a:latin typeface="Lora"/>
                <a:ea typeface="Lora"/>
                <a:cs typeface="Lora"/>
                <a:sym typeface="Lora"/>
              </a:rPr>
              <a:t>3</a:t>
            </a:r>
            <a:endParaRPr lang="en-US" sz="1100"/>
          </a:p>
        </p:txBody>
      </p:sp>
      <p:sp>
        <p:nvSpPr>
          <p:cNvPr name="AutoShape 21" id="21"/>
          <p:cNvSpPr/>
          <p:nvPr/>
        </p:nvSpPr>
        <p:spPr>
          <a:xfrm rot="0" flipH="false" flipV="false">
            <a:off x="6731000" y="4902200"/>
            <a:ext cx="4318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350">
                <a:solidFill>
                  <a:srgbClr val="4A4842"/>
                </a:solidFill>
                <a:latin typeface="Lora"/>
                <a:ea typeface="Lora"/>
                <a:cs typeface="Lora"/>
                <a:sym typeface="Lora"/>
              </a:rPr>
              <a:t>Analytic cut:</a:t>
            </a:r>
            <a:r>
              <a:rPr lang="en-US" b="false" i="false" strike="noStrike" u="none" sz="1350">
                <a:solidFill>
                  <a:srgbClr val="4A4842"/>
                </a:solidFill>
                <a:latin typeface="Lora"/>
                <a:ea typeface="Lora"/>
                <a:cs typeface="Lora"/>
                <a:sym typeface="Lora"/>
              </a:rPr>
              <a:t> localization read from practice, with restricted and addition-only forms still counted as agency.</a:t>
            </a:r>
            <a:endParaRPr lang="en-US" sz="1100"/>
          </a:p>
        </p:txBody>
      </p:sp>
      <p:sp>
        <p:nvSpPr>
          <p:cNvPr name="AutoShape 22" id="22"/>
          <p:cNvSpPr/>
          <p:nvPr/>
        </p:nvSpPr>
        <p:spPr>
          <a:xfrm rot="0" flipH="false" flipV="false">
            <a:off x="1143000" y="6070600"/>
            <a:ext cx="990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8A8578"/>
                </a:solidFill>
                <a:latin typeface="Lora"/>
                <a:ea typeface="Lora"/>
                <a:cs typeface="Lora"/>
                <a:sym typeface="Lora"/>
              </a:rPr>
              <a:t>These are not new theories, they are a join, a method and an object the mapped literature has not yet combined for this population. A full CNKI search remains a limit, not a licence to claim a global first.</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F4EFE4">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143000" y="711200"/>
            <a:ext cx="635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8C4A34"/>
                </a:solidFill>
                <a:latin typeface="Lora"/>
                <a:ea typeface="Lora"/>
                <a:cs typeface="Lora"/>
                <a:sym typeface="Lora"/>
              </a:rPr>
              <a:t>07 · DIFFICULTIES &amp; SOLUTIONS</a:t>
            </a:r>
            <a:endParaRPr lang="en-US" sz="1100"/>
          </a:p>
        </p:txBody>
      </p:sp>
      <p:sp>
        <p:nvSpPr>
          <p:cNvPr name="AutoShape 3" id="3"/>
          <p:cNvSpPr/>
          <p:nvPr/>
        </p:nvSpPr>
        <p:spPr>
          <a:xfrm rot="0" flipH="false" flipV="false">
            <a:off x="1143000" y="1016000"/>
            <a:ext cx="9906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2A2A28"/>
                </a:solidFill>
                <a:latin typeface="Lora"/>
                <a:ea typeface="Lora"/>
                <a:cs typeface="Lora"/>
                <a:sym typeface="Lora"/>
              </a:rPr>
              <a:t>Three difficulties, and how the design meets them</a:t>
            </a:r>
            <a:endParaRPr lang="en-US" sz="1100"/>
          </a:p>
        </p:txBody>
      </p:sp>
      <p:cxnSp>
        <p:nvCxnSpPr>
          <p:cNvPr name="Connector 4" id="4"/>
          <p:cNvCxnSpPr/>
          <p:nvPr/>
        </p:nvCxnSpPr>
        <p:spPr>
          <a:xfrm rot="-4407" flipH="false" flipV="false">
            <a:off x="1143004" y="1847850"/>
            <a:ext cx="9906000" cy="12700"/>
          </a:xfrm>
          <a:prstGeom prst="straightConnector1">
            <a:avLst/>
          </a:prstGeom>
          <a:solidFill>
            <a:srgbClr val="DEE0E3">
              <a:alpha val="100000"/>
            </a:srgbClr>
          </a:solidFill>
          <a:ln w="12700" cmpd="sng" cap="flat">
            <a:solidFill>
              <a:srgbClr val="C9BFAE">
                <a:alpha val="100000"/>
              </a:srgbClr>
            </a:solidFill>
            <a:prstDash val="solid"/>
            <a:round/>
            <a:headEnd type="none" w="med" len="med"/>
            <a:tailEnd type="none" w="med" len="med"/>
          </a:ln>
        </p:spPr>
      </p:cxnSp>
      <p:sp>
        <p:nvSpPr>
          <p:cNvPr name="AutoShape 5" id="5"/>
          <p:cNvSpPr/>
          <p:nvPr/>
        </p:nvSpPr>
        <p:spPr>
          <a:xfrm rot="0" flipH="false" flipV="false">
            <a:off x="1143000" y="2159000"/>
            <a:ext cx="4826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A2A28"/>
                </a:solidFill>
                <a:latin typeface="Lora"/>
                <a:ea typeface="Lora"/>
                <a:cs typeface="Lora"/>
                <a:sym typeface="Lora"/>
              </a:rPr>
              <a:t>1. Talk about materials is not evidence of use</a:t>
            </a:r>
            <a:endParaRPr lang="en-US" sz="1100"/>
          </a:p>
        </p:txBody>
      </p:sp>
      <p:sp>
        <p:nvSpPr>
          <p:cNvPr name="AutoShape 6" id="6"/>
          <p:cNvSpPr/>
          <p:nvPr/>
        </p:nvSpPr>
        <p:spPr>
          <a:xfrm rot="0" flipH="false" flipV="false">
            <a:off x="1143000" y="2514600"/>
            <a:ext cx="482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A4842"/>
                </a:solidFill>
                <a:latin typeface="Lora"/>
                <a:ea typeface="Lora"/>
                <a:cs typeface="Lora"/>
                <a:sym typeface="Lora"/>
              </a:rPr>
              <a:t>Stated willingness to adapt often exceeds what is actually done (Neupane, 2025; Criado, 2023).</a:t>
            </a:r>
            <a:endParaRPr lang="en-US" sz="1100"/>
          </a:p>
        </p:txBody>
      </p:sp>
      <p:cxnSp>
        <p:nvCxnSpPr>
          <p:cNvPr name="Connector 7" id="7"/>
          <p:cNvCxnSpPr/>
          <p:nvPr/>
        </p:nvCxnSpPr>
        <p:spPr>
          <a:xfrm rot="-114549" flipH="false" flipV="false">
            <a:off x="6223106" y="2406650"/>
            <a:ext cx="381000" cy="12700"/>
          </a:xfrm>
          <a:prstGeom prst="straightConnector1">
            <a:avLst/>
          </a:prstGeom>
          <a:solidFill>
            <a:srgbClr val="DEE0E3">
              <a:alpha val="100000"/>
            </a:srgbClr>
          </a:solidFill>
          <a:ln w="25400" cmpd="sng" cap="flat">
            <a:solidFill>
              <a:srgbClr val="8C4A34">
                <a:alpha val="100000"/>
              </a:srgbClr>
            </a:solidFill>
            <a:prstDash val="solid"/>
            <a:round/>
            <a:headEnd type="none" w="lg" len="lg"/>
            <a:tailEnd type="triangle" w="lg" len="lg"/>
          </a:ln>
        </p:spPr>
      </p:cxnSp>
      <p:sp>
        <p:nvSpPr>
          <p:cNvPr name="AutoShape 8" id="8"/>
          <p:cNvSpPr/>
          <p:nvPr/>
        </p:nvSpPr>
        <p:spPr>
          <a:xfrm rot="0" flipH="false" flipV="false">
            <a:off x="6794500" y="2159000"/>
            <a:ext cx="4254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300">
                <a:solidFill>
                  <a:srgbClr val="8C4A34"/>
                </a:solidFill>
                <a:latin typeface="Lora"/>
                <a:ea typeface="Lora"/>
                <a:cs typeface="Lora"/>
                <a:sym typeface="Lora"/>
              </a:rPr>
              <a:t>Solution:</a:t>
            </a:r>
            <a:r>
              <a:rPr lang="en-US" b="false" i="false" strike="noStrike" u="none" sz="1300">
                <a:solidFill>
                  <a:srgbClr val="4A4842"/>
                </a:solidFill>
                <a:latin typeface="Lora"/>
                <a:ea typeface="Lora"/>
                <a:cs typeface="Lora"/>
                <a:sym typeface="Lora"/>
              </a:rPr>
              <a:t> observe lessons and compare the prescribed page with what was taught; add lesson-tied stimulated recall.</a:t>
            </a:r>
            <a:endParaRPr lang="en-US" sz="1100"/>
          </a:p>
        </p:txBody>
      </p:sp>
      <p:cxnSp>
        <p:nvCxnSpPr>
          <p:cNvPr name="Connector 9" id="9"/>
          <p:cNvCxnSpPr/>
          <p:nvPr/>
        </p:nvCxnSpPr>
        <p:spPr>
          <a:xfrm rot="-4407" flipH="false" flipV="false">
            <a:off x="1143004" y="3397250"/>
            <a:ext cx="9906000" cy="12700"/>
          </a:xfrm>
          <a:prstGeom prst="straightConnector1">
            <a:avLst/>
          </a:prstGeom>
          <a:solidFill>
            <a:srgbClr val="DEE0E3">
              <a:alpha val="100000"/>
            </a:srgbClr>
          </a:solidFill>
          <a:ln w="12700" cmpd="sng" cap="flat">
            <a:solidFill>
              <a:srgbClr val="E1DACB">
                <a:alpha val="100000"/>
              </a:srgbClr>
            </a:solidFill>
            <a:prstDash val="solid"/>
            <a:round/>
            <a:headEnd type="none" w="med" len="med"/>
            <a:tailEnd type="none" w="med" len="med"/>
          </a:ln>
        </p:spPr>
      </p:cxnSp>
      <p:sp>
        <p:nvSpPr>
          <p:cNvPr name="AutoShape 10" id="10"/>
          <p:cNvSpPr/>
          <p:nvPr/>
        </p:nvSpPr>
        <p:spPr>
          <a:xfrm rot="0" flipH="false" flipV="false">
            <a:off x="1143000" y="3556000"/>
            <a:ext cx="4826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A2A28"/>
                </a:solidFill>
                <a:latin typeface="Lora"/>
                <a:ea typeface="Lora"/>
                <a:cs typeface="Lora"/>
                <a:sym typeface="Lora"/>
              </a:rPr>
              <a:t>2. Access, exam load and class conditions</a:t>
            </a:r>
            <a:endParaRPr lang="en-US" sz="1100"/>
          </a:p>
        </p:txBody>
      </p:sp>
      <p:sp>
        <p:nvSpPr>
          <p:cNvPr name="AutoShape 11" id="11"/>
          <p:cNvSpPr/>
          <p:nvPr/>
        </p:nvSpPr>
        <p:spPr>
          <a:xfrm rot="0" flipH="false" flipV="false">
            <a:off x="1143000" y="3911600"/>
            <a:ext cx="482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A4842"/>
                </a:solidFill>
                <a:latin typeface="Lora"/>
                <a:ea typeface="Lora"/>
                <a:cs typeface="Lora"/>
                <a:sym typeface="Lora"/>
              </a:rPr>
              <a:t>Observation is slow to arrange, may be refused near exams, and video may not be permitted.</a:t>
            </a:r>
            <a:endParaRPr lang="en-US" sz="1100"/>
          </a:p>
        </p:txBody>
      </p:sp>
      <p:cxnSp>
        <p:nvCxnSpPr>
          <p:cNvPr name="Connector 12" id="12"/>
          <p:cNvCxnSpPr/>
          <p:nvPr/>
        </p:nvCxnSpPr>
        <p:spPr>
          <a:xfrm rot="-114549" flipH="false" flipV="false">
            <a:off x="6223106" y="3803650"/>
            <a:ext cx="381000" cy="12700"/>
          </a:xfrm>
          <a:prstGeom prst="straightConnector1">
            <a:avLst/>
          </a:prstGeom>
          <a:solidFill>
            <a:srgbClr val="DEE0E3">
              <a:alpha val="100000"/>
            </a:srgbClr>
          </a:solidFill>
          <a:ln w="25400" cmpd="sng" cap="flat">
            <a:solidFill>
              <a:srgbClr val="8C4A34">
                <a:alpha val="100000"/>
              </a:srgbClr>
            </a:solidFill>
            <a:prstDash val="solid"/>
            <a:round/>
            <a:headEnd type="none" w="lg" len="lg"/>
            <a:tailEnd type="triangle" w="lg" len="lg"/>
          </a:ln>
        </p:spPr>
      </p:cxnSp>
      <p:sp>
        <p:nvSpPr>
          <p:cNvPr name="AutoShape 13" id="13"/>
          <p:cNvSpPr/>
          <p:nvPr/>
        </p:nvSpPr>
        <p:spPr>
          <a:xfrm rot="0" flipH="false" flipV="false">
            <a:off x="6794500" y="3556000"/>
            <a:ext cx="4254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300">
                <a:solidFill>
                  <a:srgbClr val="8C4A34"/>
                </a:solidFill>
                <a:latin typeface="Lora"/>
                <a:ea typeface="Lora"/>
                <a:cs typeface="Lora"/>
                <a:sym typeface="Lora"/>
              </a:rPr>
              <a:t>Solution:</a:t>
            </a:r>
            <a:r>
              <a:rPr lang="en-US" b="false" i="false" strike="noStrike" u="none" sz="1300">
                <a:solidFill>
                  <a:srgbClr val="4A4842"/>
                </a:solidFill>
                <a:latin typeface="Lora"/>
                <a:ea typeface="Lora"/>
                <a:cs typeface="Lora"/>
                <a:sym typeface="Lora"/>
              </a:rPr>
              <a:t> ethics and access first; anonymize; use field notes / audio if video refused; about 6 to 8 teachers by case logic.</a:t>
            </a:r>
            <a:endParaRPr lang="en-US" sz="1100"/>
          </a:p>
        </p:txBody>
      </p:sp>
      <p:cxnSp>
        <p:nvCxnSpPr>
          <p:cNvPr name="Connector 14" id="14"/>
          <p:cNvCxnSpPr/>
          <p:nvPr/>
        </p:nvCxnSpPr>
        <p:spPr>
          <a:xfrm rot="-4407" flipH="false" flipV="false">
            <a:off x="1143004" y="4794250"/>
            <a:ext cx="9906000" cy="12700"/>
          </a:xfrm>
          <a:prstGeom prst="straightConnector1">
            <a:avLst/>
          </a:prstGeom>
          <a:solidFill>
            <a:srgbClr val="DEE0E3">
              <a:alpha val="100000"/>
            </a:srgbClr>
          </a:solidFill>
          <a:ln w="12700" cmpd="sng" cap="flat">
            <a:solidFill>
              <a:srgbClr val="E1DACB">
                <a:alpha val="100000"/>
              </a:srgbClr>
            </a:solidFill>
            <a:prstDash val="solid"/>
            <a:round/>
            <a:headEnd type="none" w="med" len="med"/>
            <a:tailEnd type="none" w="med" len="med"/>
          </a:ln>
        </p:spPr>
      </p:cxnSp>
      <p:sp>
        <p:nvSpPr>
          <p:cNvPr name="AutoShape 15" id="15"/>
          <p:cNvSpPr/>
          <p:nvPr/>
        </p:nvSpPr>
        <p:spPr>
          <a:xfrm rot="0" flipH="false" flipV="false">
            <a:off x="1143000" y="4953000"/>
            <a:ext cx="4826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400">
                <a:solidFill>
                  <a:srgbClr val="2A2A28"/>
                </a:solidFill>
                <a:latin typeface="Lora"/>
                <a:ea typeface="Lora"/>
                <a:cs typeface="Lora"/>
                <a:sym typeface="Lora"/>
              </a:rPr>
              <a:t>3. Restricted practice can read as "no localization"</a:t>
            </a:r>
            <a:endParaRPr lang="en-US" sz="1100"/>
          </a:p>
        </p:txBody>
      </p:sp>
      <p:sp>
        <p:nvSpPr>
          <p:cNvPr name="AutoShape 16" id="16"/>
          <p:cNvSpPr/>
          <p:nvPr/>
        </p:nvSpPr>
        <p:spPr>
          <a:xfrm rot="0" flipH="false" flipV="false">
            <a:off x="1143000" y="5308600"/>
            <a:ext cx="482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4A4842"/>
                </a:solidFill>
                <a:latin typeface="Lora"/>
                <a:ea typeface="Lora"/>
                <a:cs typeface="Lora"/>
                <a:sym typeface="Lora"/>
              </a:rPr>
              <a:t>If classes stay close to an HSK sequence, a product-localization frame would call the study empty.</a:t>
            </a:r>
            <a:endParaRPr lang="en-US" sz="1100"/>
          </a:p>
        </p:txBody>
      </p:sp>
      <p:cxnSp>
        <p:nvCxnSpPr>
          <p:cNvPr name="Connector 17" id="17"/>
          <p:cNvCxnSpPr/>
          <p:nvPr/>
        </p:nvCxnSpPr>
        <p:spPr>
          <a:xfrm rot="-114549" flipH="false" flipV="false">
            <a:off x="6223106" y="5200650"/>
            <a:ext cx="381000" cy="12700"/>
          </a:xfrm>
          <a:prstGeom prst="straightConnector1">
            <a:avLst/>
          </a:prstGeom>
          <a:solidFill>
            <a:srgbClr val="DEE0E3">
              <a:alpha val="100000"/>
            </a:srgbClr>
          </a:solidFill>
          <a:ln w="25400" cmpd="sng" cap="flat">
            <a:solidFill>
              <a:srgbClr val="8C4A34">
                <a:alpha val="100000"/>
              </a:srgbClr>
            </a:solidFill>
            <a:prstDash val="solid"/>
            <a:round/>
            <a:headEnd type="none" w="lg" len="lg"/>
            <a:tailEnd type="triangle" w="lg" len="lg"/>
          </a:ln>
        </p:spPr>
      </p:cxnSp>
      <p:sp>
        <p:nvSpPr>
          <p:cNvPr name="AutoShape 18" id="18"/>
          <p:cNvSpPr/>
          <p:nvPr/>
        </p:nvSpPr>
        <p:spPr>
          <a:xfrm rot="0" flipH="false" flipV="false">
            <a:off x="6794500" y="4953000"/>
            <a:ext cx="42545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300">
                <a:solidFill>
                  <a:srgbClr val="8C4A34"/>
                </a:solidFill>
                <a:latin typeface="Lora"/>
                <a:ea typeface="Lora"/>
                <a:cs typeface="Lora"/>
                <a:sym typeface="Lora"/>
              </a:rPr>
              <a:t>Solution:</a:t>
            </a:r>
            <a:r>
              <a:rPr lang="en-US" b="false" i="false" strike="noStrike" u="none" sz="1300">
                <a:solidFill>
                  <a:srgbClr val="4A4842"/>
                </a:solidFill>
                <a:latin typeface="Lora"/>
                <a:ea typeface="Lora"/>
                <a:cs typeface="Lora"/>
                <a:sym typeface="Lora"/>
              </a:rPr>
              <a:t> code faithful transmission, addition-only work and strategic compliance as data; restricted agency still counts.</a:t>
            </a:r>
            <a:endParaRPr lang="en-US" sz="1100"/>
          </a:p>
        </p:txBody>
      </p:sp>
      <p:sp>
        <p:nvSpPr>
          <p:cNvPr name="AutoShape 19" id="19"/>
          <p:cNvSpPr/>
          <p:nvPr/>
        </p:nvSpPr>
        <p:spPr>
          <a:xfrm rot="0" flipH="false" flipV="false">
            <a:off x="1143000" y="6273800"/>
            <a:ext cx="9906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8A8578"/>
                </a:solidFill>
                <a:latin typeface="Lora"/>
                <a:ea typeface="Lora"/>
                <a:cs typeface="Lora"/>
                <a:sym typeface="Lora"/>
              </a:rPr>
              <a:t>Access failure is reported as a limit, not repaired by inventing classroom data.</a:t>
            </a:r>
            <a:endParaRPr lang="en-US" sz="1100"/>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F4EFE4">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143000" y="711200"/>
            <a:ext cx="635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8C4A34"/>
                </a:solidFill>
                <a:latin typeface="Lora"/>
                <a:ea typeface="Lora"/>
                <a:cs typeface="Lora"/>
                <a:sym typeface="Lora"/>
              </a:rPr>
              <a:t>08 · SIGNIFICANCE</a:t>
            </a:r>
            <a:endParaRPr lang="en-US" sz="1100"/>
          </a:p>
        </p:txBody>
      </p:sp>
      <p:sp>
        <p:nvSpPr>
          <p:cNvPr name="AutoShape 3" id="3"/>
          <p:cNvSpPr/>
          <p:nvPr/>
        </p:nvSpPr>
        <p:spPr>
          <a:xfrm rot="0" flipH="false" flipV="false">
            <a:off x="1143000" y="1016000"/>
            <a:ext cx="9906000" cy="558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2A2A28"/>
                </a:solidFill>
                <a:latin typeface="Lora"/>
                <a:ea typeface="Lora"/>
                <a:cs typeface="Lora"/>
                <a:sym typeface="Lora"/>
              </a:rPr>
              <a:t>Why it matters, in theory and in practice</a:t>
            </a:r>
            <a:endParaRPr lang="en-US" sz="1100"/>
          </a:p>
        </p:txBody>
      </p:sp>
      <p:cxnSp>
        <p:nvCxnSpPr>
          <p:cNvPr name="Connector 4" id="4"/>
          <p:cNvCxnSpPr/>
          <p:nvPr/>
        </p:nvCxnSpPr>
        <p:spPr>
          <a:xfrm rot="-4407" flipH="false" flipV="false">
            <a:off x="1143004" y="1847850"/>
            <a:ext cx="9906000" cy="12700"/>
          </a:xfrm>
          <a:prstGeom prst="straightConnector1">
            <a:avLst/>
          </a:prstGeom>
          <a:solidFill>
            <a:srgbClr val="DEE0E3">
              <a:alpha val="100000"/>
            </a:srgbClr>
          </a:solidFill>
          <a:ln w="12700" cmpd="sng" cap="flat">
            <a:solidFill>
              <a:srgbClr val="C9BFAE">
                <a:alpha val="100000"/>
              </a:srgbClr>
            </a:solidFill>
            <a:prstDash val="solid"/>
            <a:round/>
            <a:headEnd type="none" w="med" len="med"/>
            <a:tailEnd type="none" w="med" len="med"/>
          </a:ln>
        </p:spPr>
      </p:cxnSp>
      <p:sp>
        <p:nvSpPr>
          <p:cNvPr name="AutoShape 5" id="5"/>
          <p:cNvSpPr/>
          <p:nvPr/>
        </p:nvSpPr>
        <p:spPr>
          <a:xfrm rot="0" flipH="false" flipV="false">
            <a:off x="1143000" y="2235200"/>
            <a:ext cx="4826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8C4A34"/>
                </a:solidFill>
                <a:latin typeface="Lora"/>
                <a:ea typeface="Lora"/>
                <a:cs typeface="Lora"/>
                <a:sym typeface="Lora"/>
              </a:rPr>
              <a:t>Theoretical</a:t>
            </a:r>
            <a:endParaRPr lang="en-US" sz="1100"/>
          </a:p>
        </p:txBody>
      </p:sp>
      <p:sp>
        <p:nvSpPr>
          <p:cNvPr name="AutoShape 6" id="6"/>
          <p:cNvSpPr/>
          <p:nvPr/>
        </p:nvSpPr>
        <p:spPr>
          <a:xfrm rot="0" flipH="false" flipV="false">
            <a:off x="1143000" y="2717800"/>
            <a:ext cx="4826000" cy="330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400">
                <a:solidFill>
                  <a:srgbClr val="4A4842"/>
                </a:solidFill>
                <a:latin typeface="Lora"/>
                <a:ea typeface="Lora"/>
                <a:cs typeface="Lora"/>
                <a:sym typeface="Lora"/>
              </a:rPr>
              <a:t>· Brings the pedagogic work already happening in class into a localization literature that has centred textbook production.</a:t>
            </a:r>
            <a:endParaRPr lang="en-US" sz="1100"/>
          </a:p>
          <a:p>
            <a:pPr algn="l" marL="0" indent="0">
              <a:lnSpc>
                <a:spcPct val="133333"/>
              </a:lnSpc>
            </a:pPr>
            <a:r>
              <a:rPr lang="en-US" b="false" i="false" strike="noStrike" u="none" sz="1400">
                <a:solidFill>
                  <a:srgbClr val="4A4842"/>
                </a:solidFill>
                <a:latin typeface="Lora"/>
                <a:ea typeface="Lora"/>
                <a:cs typeface="Lora"/>
                <a:sym typeface="Lora"/>
              </a:rPr>
              <a:t>· Applies an ecological view: a teacher who reshapes a text and one who teaches the page as written are analyzed in the same terms.</a:t>
            </a:r>
          </a:p>
          <a:p>
            <a:pPr algn="l" marL="0" indent="0">
              <a:lnSpc>
                <a:spcPct val="133333"/>
              </a:lnSpc>
            </a:pPr>
            <a:r>
              <a:rPr lang="en-US" b="false" i="false" strike="noStrike" u="none" sz="1400">
                <a:solidFill>
                  <a:srgbClr val="4A4842"/>
                </a:solidFill>
                <a:latin typeface="Lora"/>
                <a:ea typeface="Lora"/>
                <a:cs typeface="Lora"/>
                <a:sym typeface="Lora"/>
              </a:rPr>
              <a:t>· Joins recontextualization and ecological agency in one empirical study of Pakistani teachers of Chinese.</a:t>
            </a:r>
          </a:p>
        </p:txBody>
      </p:sp>
      <p:cxnSp>
        <p:nvCxnSpPr>
          <p:cNvPr name="Connector 7" id="7"/>
          <p:cNvCxnSpPr/>
          <p:nvPr/>
        </p:nvCxnSpPr>
        <p:spPr>
          <a:xfrm rot="5387722" flipH="false" flipV="false">
            <a:off x="4381500" y="4057661"/>
            <a:ext cx="3556000" cy="12700"/>
          </a:xfrm>
          <a:prstGeom prst="straightConnector1">
            <a:avLst/>
          </a:prstGeom>
          <a:solidFill>
            <a:srgbClr val="DEE0E3">
              <a:alpha val="100000"/>
            </a:srgbClr>
          </a:solidFill>
          <a:ln w="12700" cmpd="sng" cap="flat">
            <a:solidFill>
              <a:srgbClr val="C9BFAE">
                <a:alpha val="100000"/>
              </a:srgbClr>
            </a:solidFill>
            <a:prstDash val="solid"/>
            <a:round/>
            <a:headEnd type="none" w="med" len="med"/>
            <a:tailEnd type="none" w="med" len="med"/>
          </a:ln>
        </p:spPr>
      </p:cxnSp>
      <p:sp>
        <p:nvSpPr>
          <p:cNvPr name="AutoShape 8" id="8"/>
          <p:cNvSpPr/>
          <p:nvPr/>
        </p:nvSpPr>
        <p:spPr>
          <a:xfrm rot="0" flipH="false" flipV="false">
            <a:off x="6350000" y="2235200"/>
            <a:ext cx="4699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2A2A28"/>
                </a:solidFill>
                <a:latin typeface="Lora"/>
                <a:ea typeface="Lora"/>
                <a:cs typeface="Lora"/>
                <a:sym typeface="Lora"/>
              </a:rPr>
              <a:t>Practical</a:t>
            </a:r>
            <a:endParaRPr lang="en-US" sz="1100"/>
          </a:p>
        </p:txBody>
      </p:sp>
      <p:sp>
        <p:nvSpPr>
          <p:cNvPr name="AutoShape 9" id="9"/>
          <p:cNvSpPr/>
          <p:nvPr/>
        </p:nvSpPr>
        <p:spPr>
          <a:xfrm rot="0" flipH="false" flipV="false">
            <a:off x="6350000" y="2717800"/>
            <a:ext cx="4699000" cy="330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400">
                <a:solidFill>
                  <a:srgbClr val="4A4842"/>
                </a:solidFill>
                <a:latin typeface="Lora"/>
                <a:ea typeface="Lora"/>
                <a:cs typeface="Lora"/>
                <a:sym typeface="Lora"/>
              </a:rPr>
              <a:t>· Teacher preparation can start from the decisions teachers already make, not only from methods or a set book.</a:t>
            </a:r>
            <a:endParaRPr lang="en-US" sz="1100"/>
          </a:p>
          <a:p>
            <a:pPr algn="l" marL="0" indent="0">
              <a:lnSpc>
                <a:spcPct val="133333"/>
              </a:lnSpc>
            </a:pPr>
            <a:r>
              <a:rPr lang="en-US" b="false" i="false" strike="noStrike" u="none" sz="1400">
                <a:solidFill>
                  <a:srgbClr val="4A4842"/>
                </a:solidFill>
                <a:latin typeface="Lora"/>
                <a:ea typeface="Lora"/>
                <a:cs typeface="Lora"/>
                <a:sym typeface="Lora"/>
              </a:rPr>
              <a:t>· Universities can see that time, exams and professional support are part of materials practice, not a backdrop.</a:t>
            </a:r>
          </a:p>
          <a:p>
            <a:pPr algn="l" marL="0" indent="0">
              <a:lnSpc>
                <a:spcPct val="133333"/>
              </a:lnSpc>
            </a:pPr>
            <a:r>
              <a:rPr lang="en-US" b="false" i="false" strike="noStrike" u="none" sz="1400">
                <a:solidFill>
                  <a:srgbClr val="4A4842"/>
                </a:solidFill>
                <a:latin typeface="Lora"/>
                <a:ea typeface="Lora"/>
                <a:cs typeface="Lora"/>
                <a:sym typeface="Lora"/>
              </a:rPr>
              <a:t>· CFL more widely can advise from classroom practice while a localized book is still being written.</a:t>
            </a:r>
          </a:p>
        </p:txBody>
      </p:sp>
      <p:cxnSp>
        <p:nvCxnSpPr>
          <p:cNvPr name="Connector 10" id="10"/>
          <p:cNvCxnSpPr/>
          <p:nvPr/>
        </p:nvCxnSpPr>
        <p:spPr>
          <a:xfrm rot="-4407" flipH="false" flipV="false">
            <a:off x="1143004" y="6064250"/>
            <a:ext cx="9906000" cy="12700"/>
          </a:xfrm>
          <a:prstGeom prst="straightConnector1">
            <a:avLst/>
          </a:prstGeom>
          <a:solidFill>
            <a:srgbClr val="DEE0E3">
              <a:alpha val="100000"/>
            </a:srgbClr>
          </a:solidFill>
          <a:ln w="12700" cmpd="sng" cap="flat">
            <a:solidFill>
              <a:srgbClr val="C9BFAE">
                <a:alpha val="100000"/>
              </a:srgbClr>
            </a:solidFill>
            <a:prstDash val="solid"/>
            <a:round/>
            <a:headEnd type="none" w="med" len="med"/>
            <a:tailEnd type="none" w="med" len="med"/>
          </a:ln>
        </p:spPr>
      </p:cxnSp>
      <p:sp>
        <p:nvSpPr>
          <p:cNvPr name="AutoShape 11" id="11"/>
          <p:cNvSpPr/>
          <p:nvPr/>
        </p:nvSpPr>
        <p:spPr>
          <a:xfrm rot="0" flipH="false" flipV="false">
            <a:off x="1143000" y="6197600"/>
            <a:ext cx="9906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true" strike="noStrike" u="none" sz="1300">
                <a:solidFill>
                  <a:srgbClr val="2A2A28"/>
                </a:solidFill>
                <a:latin typeface="Lora"/>
                <a:ea typeface="Lora"/>
                <a:cs typeface="Lora"/>
                <a:sym typeface="Lora"/>
              </a:rPr>
              <a:t>The study does not recommend a new national textbook as the automatic solution.</a:t>
            </a:r>
            <a:endParaRPr lang="en-US" sz="1100"/>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F4EFE4">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143000" y="762000"/>
            <a:ext cx="635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200">
                <a:solidFill>
                  <a:srgbClr val="8C4A34"/>
                </a:solidFill>
                <a:latin typeface="Lora"/>
                <a:ea typeface="Lora"/>
                <a:cs typeface="Lora"/>
                <a:sym typeface="Lora"/>
              </a:rPr>
              <a:t>08 · CONTRIBUTION</a:t>
            </a:r>
            <a:endParaRPr lang="en-US" sz="1100"/>
          </a:p>
        </p:txBody>
      </p:sp>
      <p:cxnSp>
        <p:nvCxnSpPr>
          <p:cNvPr name="Connector 3" id="3"/>
          <p:cNvCxnSpPr/>
          <p:nvPr/>
        </p:nvCxnSpPr>
        <p:spPr>
          <a:xfrm rot="-4407" flipH="false" flipV="false">
            <a:off x="1143004" y="1898650"/>
            <a:ext cx="9906000" cy="12700"/>
          </a:xfrm>
          <a:prstGeom prst="straightConnector1">
            <a:avLst/>
          </a:prstGeom>
          <a:solidFill>
            <a:srgbClr val="DEE0E3">
              <a:alpha val="100000"/>
            </a:srgbClr>
          </a:solidFill>
          <a:ln w="12700" cmpd="sng" cap="flat">
            <a:solidFill>
              <a:srgbClr val="C9BFAE">
                <a:alpha val="100000"/>
              </a:srgbClr>
            </a:solidFill>
            <a:prstDash val="solid"/>
            <a:round/>
            <a:headEnd type="none" w="med" len="med"/>
            <a:tailEnd type="none" w="med" len="med"/>
          </a:ln>
        </p:spPr>
      </p:cxnSp>
      <p:sp>
        <p:nvSpPr>
          <p:cNvPr name="AutoShape 4" id="4"/>
          <p:cNvSpPr/>
          <p:nvPr/>
        </p:nvSpPr>
        <p:spPr>
          <a:xfrm rot="0" flipH="false" flipV="false">
            <a:off x="1397000" y="2362200"/>
            <a:ext cx="9398000" cy="165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2700">
                <a:solidFill>
                  <a:srgbClr val="2A2A28"/>
                </a:solidFill>
                <a:latin typeface="Lora"/>
                <a:ea typeface="Lora"/>
                <a:cs typeface="Lora"/>
                <a:sym typeface="Lora"/>
              </a:rPr>
              <a:t>Localization is not a book to be written.</a:t>
            </a:r>
            <a:endParaRPr lang="en-US" sz="1100"/>
          </a:p>
          <a:p>
            <a:pPr algn="l" marL="0" indent="0">
              <a:lnSpc>
                <a:spcPct val="116666"/>
              </a:lnSpc>
            </a:pPr>
            <a:r>
              <a:rPr lang="en-US" b="true" i="false" strike="noStrike" u="none" sz="2700">
                <a:solidFill>
                  <a:srgbClr val="2A2A28"/>
                </a:solidFill>
                <a:latin typeface="Lora"/>
                <a:ea typeface="Lora"/>
                <a:cs typeface="Lora"/>
                <a:sym typeface="Lora"/>
              </a:rPr>
              <a:t>It is produced, or blocked, in the classroom,</a:t>
            </a:r>
            <a:r>
              <a:rPr lang="en-US" b="true" i="false" strike="noStrike" u="none" sz="2700">
                <a:solidFill>
                  <a:srgbClr val="8C4A34"/>
                </a:solidFill>
                <a:latin typeface="Lora"/>
                <a:ea typeface="Lora"/>
                <a:cs typeface="Lora"/>
                <a:sym typeface="Lora"/>
              </a:rPr>
              <a:t/>
            </a:r>
            <a:r>
              <a:rPr lang="en-US" b="true" i="false" strike="noStrike" u="none" sz="2700">
                <a:solidFill>
                  <a:srgbClr val="2A2A28"/>
                </a:solidFill>
                <a:latin typeface="Lora"/>
                <a:ea typeface="Lora"/>
                <a:cs typeface="Lora"/>
                <a:sym typeface="Lora"/>
              </a:rPr>
              <a:t/>
            </a:r>
          </a:p>
          <a:p>
            <a:pPr algn="l" marL="0" indent="0">
              <a:lnSpc>
                <a:spcPct val="116666"/>
              </a:lnSpc>
            </a:pPr>
            <a:r>
              <a:rPr lang="en-US" b="true" i="false" strike="noStrike" u="none" sz="2700">
                <a:solidFill>
                  <a:srgbClr val="2A2A28"/>
                </a:solidFill>
                <a:latin typeface="Lora"/>
                <a:ea typeface="Lora"/>
                <a:cs typeface="Lora"/>
                <a:sym typeface="Lora"/>
              </a:rPr>
              <a:t>under the conditions that shape teachers' work.</a:t>
            </a:r>
          </a:p>
        </p:txBody>
      </p:sp>
      <p:cxnSp>
        <p:nvCxnSpPr>
          <p:cNvPr name="Connector 5" id="5"/>
          <p:cNvCxnSpPr/>
          <p:nvPr/>
        </p:nvCxnSpPr>
        <p:spPr>
          <a:xfrm rot="-28647" flipH="false" flipV="false">
            <a:off x="1397026" y="4311650"/>
            <a:ext cx="1524000" cy="12700"/>
          </a:xfrm>
          <a:prstGeom prst="straightConnector1">
            <a:avLst/>
          </a:prstGeom>
          <a:solidFill>
            <a:srgbClr val="DEE0E3">
              <a:alpha val="100000"/>
            </a:srgbClr>
          </a:solidFill>
          <a:ln w="25400" cmpd="sng" cap="flat">
            <a:solidFill>
              <a:srgbClr val="8C4A34">
                <a:alpha val="100000"/>
              </a:srgbClr>
            </a:solidFill>
            <a:prstDash val="solid"/>
            <a:round/>
            <a:headEnd type="none" w="lg" len="lg"/>
            <a:tailEnd type="none" w="lg" len="lg"/>
          </a:ln>
        </p:spPr>
      </p:cxnSp>
      <p:sp>
        <p:nvSpPr>
          <p:cNvPr name="AutoShape 6" id="6"/>
          <p:cNvSpPr/>
          <p:nvPr/>
        </p:nvSpPr>
        <p:spPr>
          <a:xfrm rot="0" flipH="false" flipV="false">
            <a:off x="1397000" y="4572000"/>
            <a:ext cx="9398000" cy="177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41666"/>
              </a:lnSpc>
              <a:defRPr/>
            </a:pPr>
            <a:r>
              <a:rPr lang="en-US" b="false" i="false" strike="noStrike" u="none" sz="1500">
                <a:solidFill>
                  <a:srgbClr val="4A4842"/>
                </a:solidFill>
                <a:latin typeface="Lora"/>
                <a:ea typeface="Lora"/>
                <a:cs typeface="Lora"/>
                <a:sym typeface="Lora"/>
              </a:rPr>
              <a:t>The study will deliver, from observed classrooms:</a:t>
            </a:r>
            <a:endParaRPr lang="en-US" sz="1100"/>
          </a:p>
          <a:p>
            <a:pPr algn="l" marL="0" indent="0">
              <a:lnSpc>
                <a:spcPct val="141666"/>
              </a:lnSpc>
            </a:pPr>
            <a:r>
              <a:rPr lang="en-US" b="false" i="false" strike="noStrike" u="none" sz="1500">
                <a:solidFill>
                  <a:srgbClr val="4A4842"/>
                </a:solidFill>
                <a:latin typeface="Lora"/>
                <a:ea typeface="Lora"/>
                <a:cs typeface="Lora"/>
                <a:sym typeface="Lora"/>
              </a:rPr>
              <a:t>· an empirically grounded account of what Pakistani teachers of Chinese do with the materials actually in use;</a:t>
            </a:r>
          </a:p>
          <a:p>
            <a:pPr algn="l" marL="0" indent="0">
              <a:lnSpc>
                <a:spcPct val="141666"/>
              </a:lnSpc>
            </a:pPr>
            <a:r>
              <a:rPr lang="en-US" b="false" i="false" strike="noStrike" u="none" sz="1500">
                <a:solidFill>
                  <a:srgbClr val="4A4842"/>
                </a:solidFill>
                <a:latin typeface="Lora"/>
                <a:ea typeface="Lora"/>
                <a:cs typeface="Lora"/>
                <a:sym typeface="Lora"/>
              </a:rPr>
              <a:t>· an ecological account of how their agency is achieved, restricted, or redirected;</a:t>
            </a:r>
          </a:p>
          <a:p>
            <a:pPr algn="l" marL="0" indent="0">
              <a:lnSpc>
                <a:spcPct val="141666"/>
              </a:lnSpc>
            </a:pPr>
            <a:r>
              <a:rPr lang="en-US" b="false" i="false" strike="noStrike" u="none" sz="1500">
                <a:solidFill>
                  <a:srgbClr val="4A4842"/>
                </a:solidFill>
                <a:latin typeface="Lora"/>
                <a:ea typeface="Lora"/>
                <a:cs typeface="Lora"/>
                <a:sym typeface="Lora"/>
              </a:rPr>
              <a:t>· a way to see teacher-mediated localization as classroom production, or blockage.</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4EFE4">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143000" y="2159000"/>
            <a:ext cx="76200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8C4A34"/>
                </a:solidFill>
                <a:latin typeface="Lora"/>
                <a:ea typeface="Lora"/>
                <a:cs typeface="Lora"/>
                <a:sym typeface="Lora"/>
              </a:rPr>
              <a:t>DISCUSSION</a:t>
            </a:r>
            <a:endParaRPr lang="en-US" sz="1100"/>
          </a:p>
        </p:txBody>
      </p:sp>
      <p:cxnSp>
        <p:nvCxnSpPr>
          <p:cNvPr name="Connector 3" id="3"/>
          <p:cNvCxnSpPr/>
          <p:nvPr/>
        </p:nvCxnSpPr>
        <p:spPr>
          <a:xfrm rot="-24554" flipH="false" flipV="false">
            <a:off x="1143023" y="2660650"/>
            <a:ext cx="1778000" cy="12700"/>
          </a:xfrm>
          <a:prstGeom prst="straightConnector1">
            <a:avLst/>
          </a:prstGeom>
          <a:solidFill>
            <a:srgbClr val="DEE0E3">
              <a:alpha val="100000"/>
            </a:srgbClr>
          </a:solidFill>
          <a:ln w="25400" cmpd="sng" cap="flat">
            <a:solidFill>
              <a:srgbClr val="8C4A34">
                <a:alpha val="100000"/>
              </a:srgbClr>
            </a:solidFill>
            <a:prstDash val="solid"/>
            <a:round/>
            <a:headEnd type="none" w="lg" len="lg"/>
            <a:tailEnd type="none" w="lg" len="lg"/>
          </a:ln>
        </p:spPr>
      </p:cxnSp>
      <p:sp>
        <p:nvSpPr>
          <p:cNvPr name="AutoShape 4" id="4"/>
          <p:cNvSpPr/>
          <p:nvPr/>
        </p:nvSpPr>
        <p:spPr>
          <a:xfrm rot="0" flipH="false" flipV="false">
            <a:off x="1143000" y="2971800"/>
            <a:ext cx="9906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600">
                <a:solidFill>
                  <a:srgbClr val="2A2A28"/>
                </a:solidFill>
                <a:latin typeface="Lora"/>
                <a:ea typeface="Lora"/>
                <a:cs typeface="Lora"/>
                <a:sym typeface="Lora"/>
              </a:rPr>
              <a:t>Thank you</a:t>
            </a:r>
            <a:endParaRPr lang="en-US" sz="1100"/>
          </a:p>
        </p:txBody>
      </p:sp>
      <p:sp>
        <p:nvSpPr>
          <p:cNvPr name="AutoShape 5" id="5"/>
          <p:cNvSpPr/>
          <p:nvPr/>
        </p:nvSpPr>
        <p:spPr>
          <a:xfrm rot="0" flipH="false" flipV="false">
            <a:off x="1143000" y="4064000"/>
            <a:ext cx="9906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true" strike="noStrike" u="none" sz="1700">
                <a:solidFill>
                  <a:srgbClr val="4A4842"/>
                </a:solidFill>
                <a:latin typeface="Lora"/>
                <a:ea typeface="Lora"/>
                <a:cs typeface="Lora"/>
                <a:sym typeface="Lora"/>
              </a:rPr>
              <a:t>I welcome your questions and guidance on the framing, the case design, and the access plan.</a:t>
            </a:r>
            <a:endParaRPr lang="en-US" sz="1100"/>
          </a:p>
        </p:txBody>
      </p:sp>
      <p:cxnSp>
        <p:nvCxnSpPr>
          <p:cNvPr name="Connector 6" id="6"/>
          <p:cNvCxnSpPr/>
          <p:nvPr/>
        </p:nvCxnSpPr>
        <p:spPr>
          <a:xfrm rot="-4407" flipH="false" flipV="false">
            <a:off x="1143004" y="5454650"/>
            <a:ext cx="9906000" cy="12700"/>
          </a:xfrm>
          <a:prstGeom prst="straightConnector1">
            <a:avLst/>
          </a:prstGeom>
          <a:solidFill>
            <a:srgbClr val="DEE0E3">
              <a:alpha val="100000"/>
            </a:srgbClr>
          </a:solidFill>
          <a:ln w="12700" cmpd="sng" cap="flat">
            <a:solidFill>
              <a:srgbClr val="C9BFAE">
                <a:alpha val="100000"/>
              </a:srgbClr>
            </a:solidFill>
            <a:prstDash val="solid"/>
            <a:round/>
            <a:headEnd type="none" w="med" len="med"/>
            <a:tailEnd type="none" w="med" len="med"/>
          </a:ln>
        </p:spPr>
      </p:cxnSp>
      <p:sp>
        <p:nvSpPr>
          <p:cNvPr name="AutoShape 7" id="7"/>
          <p:cNvSpPr/>
          <p:nvPr/>
        </p:nvSpPr>
        <p:spPr>
          <a:xfrm rot="0" flipH="false" flipV="false">
            <a:off x="1143000" y="5638800"/>
            <a:ext cx="9906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8A8578"/>
                </a:solidFill>
                <a:latin typeface="Lora"/>
                <a:ea typeface="Lora"/>
                <a:cs typeface="Lora"/>
                <a:sym typeface="Lora"/>
              </a:rPr>
              <a:t>Recontextualization of Chinese-Language Teaching Materials and Teacher Agency among Pakistani Teachers of Chinese</a:t>
            </a:r>
            <a:endParaRPr lang="en-US" sz="1100"/>
          </a:p>
        </p:txBody>
      </p:sp>
      <p:pic>
        <p:nvPicPr>
          <p:cNvPr name="Picture 8" id="8"/>
          <p:cNvPicPr>
            <a:picLocks noChangeAspect="true"/>
          </p:cNvPicPr>
          <p:nvPr/>
        </p:nvPicPr>
        <p:blipFill>
          <a:blip r:embed="rId3"/>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{"Label":"1","ContentProducer":"001191110102MACQD9K64010000","ProduceID":"7685771299608857557","ReservedCode1":"","ContentPropagator":"","PropagateID":"","ReservedCode2":""}</vt:lpwstr>
  </property>
</Properties>
</file>