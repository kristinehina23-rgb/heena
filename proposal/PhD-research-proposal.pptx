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 id="2147483660" r:id="rId8"/>
  </p:sldMasterIdLst>
  <p:notesMasterIdLst>
    <p:notesMasterId r:id="rId6"/>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Lst>
  <p:sldSz cx="12192000" cy="6858000"/>
  <p:notesSz cx="6858000" cy="9144000"/>
  <p:defaultTextStyle>
    <a:defPPr lvl="0" marR="0" rtl="0" algn="l">
      <a:lnSpc>
        <a:spcPct val="100000"/>
      </a:lnSpc>
      <a:spcBef>
        <a:spcPts val="0"/>
      </a:spcBef>
      <a:spcAft>
        <a:spcPts val="0"/>
      </a:spcAft>
    </a:defPPr>
    <a:lvl1pPr lvl="0" marR="0" rtl="0" algn="l" marL="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marL="4572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marL="9144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marL="13716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marL="18288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marL="22860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marL="27432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marL="32004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marL="36576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theme" Target="theme/theme2.xml"/><Relationship Id="rId8" Type="http://schemas.openxmlformats.org/officeDocument/2006/relationships/slideMaster" Target="slideMasters/slideMaster2.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notesSlide" Target="notesSlides/notesSlide1.xml"/><Relationship Id="rId28" Type="http://schemas.openxmlformats.org/officeDocument/2006/relationships/notesSlide" Target="notesSlides/notesSlide2.xml"/><Relationship Id="rId29" Type="http://schemas.openxmlformats.org/officeDocument/2006/relationships/notesSlide" Target="notesSlides/notesSlide3.xml"/><Relationship Id="rId30" Type="http://schemas.openxmlformats.org/officeDocument/2006/relationships/notesSlide" Target="notesSlides/notesSlide4.xml"/><Relationship Id="rId31" Type="http://schemas.openxmlformats.org/officeDocument/2006/relationships/notesSlide" Target="notesSlides/notesSlide5.xml"/><Relationship Id="rId32" Type="http://schemas.openxmlformats.org/officeDocument/2006/relationships/notesSlide" Target="notesSlides/notesSlide6.xml"/><Relationship Id="rId33" Type="http://schemas.openxmlformats.org/officeDocument/2006/relationships/notesSlide" Target="notesSlides/notesSlide7.xml"/><Relationship Id="rId34" Type="http://schemas.openxmlformats.org/officeDocument/2006/relationships/notesSlide" Target="notesSlides/notesSlide8.xml"/><Relationship Id="rId35" Type="http://schemas.openxmlformats.org/officeDocument/2006/relationships/notesSlide" Target="notesSlides/notesSlide9.xml"/><Relationship Id="rId36" Type="http://schemas.openxmlformats.org/officeDocument/2006/relationships/notesSlide" Target="notesSlides/notesSlide10.xml"/><Relationship Id="rId37" Type="http://schemas.openxmlformats.org/officeDocument/2006/relationships/notesSlide" Target="notesSlides/notesSlide11.xml"/><Relationship Id="rId38" Type="http://schemas.openxmlformats.org/officeDocument/2006/relationships/notesSlide" Target="notesSlides/notesSlide12.xml"/><Relationship Id="rId39" Type="http://schemas.openxmlformats.org/officeDocument/2006/relationships/notesSlide" Target="notesSlides/notesSlide13.xml"/><Relationship Id="rId40" Type="http://schemas.openxmlformats.org/officeDocument/2006/relationships/notesSlide" Target="notesSlides/notesSlide14.xml"/><Relationship Id="rId41" Type="http://schemas.openxmlformats.org/officeDocument/2006/relationships/notesSlide" Target="notesSlides/notesSlide15.xml"/><Relationship Id="rId42" Type="http://schemas.openxmlformats.org/officeDocument/2006/relationships/notesSlide" Target="notesSlides/notesSlide16.xml"/><Relationship Id="rId43" Type="http://schemas.openxmlformats.org/officeDocument/2006/relationships/notesSlide" Target="notesSlides/notesSlide17.xml"/><Relationship Id="rId44" Type="http://schemas.openxmlformats.org/officeDocument/2006/relationships/notesSlide" Target="notesSlides/not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Good morning, committee members. Thank you for the opportunity to present this proposal.</a:t>
            </a:r>
            <a:br/>
            <a:br/>
            <a:r>
              <a:t>The study asks how Pakistani teachers of Chinese recontextualize Chinese-language teaching materials in classroom practice, and how their agency is achieved or constrained in the conditions of their work.</a:t>
            </a:r>
            <a:br/>
            <a:br/>
            <a:r>
              <a:t>It is a qualitative, ecological study. I will cover the problem, the gap, the questions, the design, and the contribution. I will not propose a new textbook, and I will not score HSK materials as a product.</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This talk follows proposal logic: context, gap, questions, design, contribution.</a:t>
            </a:r>
            <a:br/>
            <a:br/>
            <a:r>
              <a:t>I will spend most time on three things: the gap, the research questions, and why observation plus materials comparison is required. The later slides on chapters and innovations can be taken more quickly.</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This slide is landscape only. It is not the research object.</a:t>
            </a:r>
            <a:br/>
            <a:br/>
            <a:r>
              <a:t>Chinese-language education in Pakistan grew from one Confucius Institute in 2005 into a mixed system of degree, required, elective, and short courses. Existing studies already show that policy on paper and classroom reality diverge, and that Chinese enters a multilingual setting.</a:t>
            </a:r>
            <a:br/>
            <a:br/>
            <a:r>
              <a:t>Learner difficulty is cited only as a condition teachers meet. This study does not become a study of student beliefs.</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Pakistan CFL research reports perceived misfit and then recommends a new book, Urdu modules, or stronger training. Those are product-side answers. They take years to reach a class.</a:t>
            </a:r>
            <a:br/>
            <a:br/>
            <a:r>
              <a:t>While that book is being written, teachers still teach with the materials in front of them. They may translate, add an example, skip a section, or teach the page as written. All of those are data.</a:t>
            </a:r>
            <a:br/>
            <a:br/>
            <a:r>
              <a:t>The study begins from that present work. It does not begin from a book that does not yet exist. HSK may appear as a condition of that work. It is not the object of the study.</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Three terms have to stay apart.</a:t>
            </a:r>
            <a:br/>
            <a:br/>
            <a:r>
              <a:t>Recontextualization is the pedagogic mechanism: what happens to the published page in class.</a:t>
            </a:r>
            <a:br/>
            <a:br/>
            <a:r>
              <a:t>Ecological teacher agency is the achievement that makes that mechanism possible, restricted, or redirected. It is not a personality trait.</a:t>
            </a:r>
            <a:br/>
            <a:br/>
            <a:r>
              <a:t>Localization is the name the Pakistan conversation already uses. In this study it is the process or outcome when recontextualization orients materials toward a Pakistani classroom. It is not a third theory, not a pre-set goal, and not a test of whether the lesson was better.</a:t>
            </a:r>
            <a:br/>
            <a:br/>
            <a:r>
              <a:t>Why a teacher did it is Research Question 2. It is not another word for agency, and it is not the test of localization. A teacher may recontextualize only to finish a syllabus on time. That is still recontextualization. It is localization only if the work orients the materials toward that Pakistani classroom.</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The literature is not empty. It fails, for this title, at the join of object, population, and method.</a:t>
            </a:r>
            <a:br/>
            <a:br/>
            <a:r>
              <a:t>Materials-in-use research exists, mainly in ELT. Ecological agency research exists, mainly with EFL teachers in China and Vietnam. CFL localization research often analyses the book as a product. Pakistan CFL research exists, but it is programme description, survey, and interview about fit.</a:t>
            </a:r>
            <a:br/>
            <a:br/>
            <a:r>
              <a:t>In the mapped literature, no study of Pakistani teachers of Chinese has joined classroom observation with a comparison of the prescribed page and what was taught. I do not claim a world first. A full CNKI search is still required.</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The core question names the two objects in the title: recontextualization of materials, and teacher agency.</a:t>
            </a:r>
            <a:br/>
            <a:br/>
            <a:r>
              <a:t>RQ1 asks what teachers do, including faithful transmission. Following the book under exam pressure is still a recontextualizing choice. It is not coded in advance as a lack of agency.</a:t>
            </a:r>
            <a:br/>
            <a:br/>
            <a:r>
              <a:t>RQ2 asks how they justify those decisions. Why is practical-evaluative reasoning. It is not a synonym for agency.</a:t>
            </a:r>
            <a:br/>
            <a:br/>
            <a:r>
              <a:t>RQ3 asks how agency is achieved, restricted, or redirected, and which nested conditions open or close room to manoeuvre. HSK appears here as policy and assessment, not as a book to be scored.</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Two working concepts, not three.</a:t>
            </a:r>
            <a:br/>
            <a:br/>
            <a:r>
              <a:t>Recontextualization names the mechanism, following Bernstein and materials-in-use research. The classroom is a further site, not the first one. An HSK-oriented series already arrives as an official selection.</a:t>
            </a:r>
            <a:br/>
            <a:br/>
            <a:r>
              <a:t>Ecological agency, following Biesta and Tedder and Priestley, Biesta, and Robinson, is an achievement in context: past experience, future purpose, and present judgement sounding together.</a:t>
            </a:r>
            <a:br/>
            <a:br/>
            <a:r>
              <a:t>Nested conditions are part of that achievement: classroom and materials, institution, assessment and HSK policy, profession, and the wider setting. Localization is not a third box in this figure.</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The object is practice in context, so the design is an interpretive qualitative multiple-case study. About six to eight teachers, two to three lessons each, revised after a pilot. Depth and page comparison matter more than counting more teachers.</a:t>
            </a:r>
            <a:br/>
            <a:br/>
            <a:r>
              <a:t>A questionnaire would repeat Lu, Hanif, and Naheed, and would reproduce the known gap between what teachers report and what they do.</a:t>
            </a:r>
            <a:br/>
            <a:br/>
            <a:r>
              <a:t>The study is not an HSK product evaluation. It is not needs analysis. It does not produce a new textbook as the doctoral output.</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No single source is trusted alone.</a:t>
            </a:r>
            <a:br/>
            <a:br/>
            <a:r>
              <a:t>The prescribed page compared with slides, worksheets, and tests shows traces of what was added, cut, substituted, or reordered.</a:t>
            </a:r>
            <a:br/>
            <a:br/>
            <a:r>
              <a:t>Observation shows the hour, including when the teacher follows the book closely.</a:t>
            </a:r>
            <a:br/>
            <a:br/>
            <a:r>
              <a:t>The interview and stimulated recall are tied to that lesson, not to a general attitude toward localization.</a:t>
            </a:r>
            <a:br/>
            <a:br/>
            <a:r>
              <a:t>Field notes capture who chooses the book, exam pressure, class size, and medium of instruction. Those conditions are part of agency, not background.</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Three analytic passes inside each case, then comparison across cases.</a:t>
            </a:r>
            <a:br/>
            <a:br/>
            <a:r>
              <a:t>First, code the move against the page used that day. The list is a starting point, not a checklist of successful localization.</a:t>
            </a:r>
            <a:br/>
            <a:br/>
            <a:r>
              <a:t>Second, code the reason as a judgement tied to that lesson. A reason that appears only in talk is recorded as talk, not as practice.</a:t>
            </a:r>
            <a:br/>
            <a:br/>
            <a:r>
              <a:t>Third, read agency across the triad and the nested conditions. Restricted, addition-only, or compliant forms are named only if the case supports them. They describe a form of agency, not teacher quality.</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The procedure is sequential. Literature and framework come first. Ethics, access, and a one-to-two teacher pilot come next. Instruments are revised before fieldwork.</a:t>
            </a:r>
            <a:br/>
            <a:br/>
            <a:r>
              <a:t>Fieldwork moves teacher by teacher. Analysis follows the three passes. Writing returns to the title.</a:t>
            </a:r>
            <a:br/>
            <a:br/>
            <a:r>
              <a:t>Two limits: pilot data are not findings. If a site refuses observation, that case is dropped or limited. It is not recoded as a survey.</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Seven chapters. Two findings chapters because the title names two objects.</a:t>
            </a:r>
            <a:br/>
            <a:br/>
            <a:r>
              <a:t>Chapter 5 answers RQ1: what was done with the page.</a:t>
            </a:r>
            <a:br/>
            <a:br/>
            <a:r>
              <a:t>Chapter 6 answers RQ2 and RQ3: reasons, the agency triad, and conditions.</a:t>
            </a:r>
            <a:br/>
            <a:br/>
            <a:r>
              <a:t>Localization is read from that practice. It does not get a third theory chapter. Chapter 7 does not become a proposal for a new textbook.</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The three foci are the questions: the moves, the agency in conditions, and localization as classroom process rather than a new book.</a:t>
            </a:r>
            <a:br/>
            <a:br/>
            <a:r>
              <a:t>The innovations are modest. They are a join, a method already used elsewhere, and an analytic cut, applied to this population. They are not new theories.</a:t>
            </a:r>
            <a:br/>
            <a:br/>
            <a:r>
              <a:t>A CNKI search remains a limit. I will not claim a global first.</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Talk is not evidence of use. Neighbouring studies already show that stated willingness exceeds what is done. So I observe and compare the page.</a:t>
            </a:r>
            <a:br/>
            <a:br/>
            <a:r>
              <a:t>Access may be refused near exams, and video may not be allowed. Ethics and access come first. Field notes or audio replace video if needed.</a:t>
            </a:r>
            <a:br/>
            <a:br/>
            <a:r>
              <a:t>If classes stay close to an HSK sequence, a product-localization frame would call the study empty. This frame does not. Faithful transmission and addition-only work still count. Restricted agency still counts.</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Theoretically, the study brings classroom work into a localization literature that has centred textbook production, and it analyses faithful and reshaping teaching in the same ecological terms.</a:t>
            </a:r>
            <a:br/>
            <a:br/>
            <a:r>
              <a:t>Practically, teacher education and universities can start from decisions already made under time, exams, and support, not only from a set book.</a:t>
            </a:r>
            <a:br/>
            <a:br/>
            <a:r>
              <a:t>The study does not recommend a new national textbook as the automatic solution.</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One line: localization is not a book to be written. It is produced, or blocked, in the classroom, under the conditions that shape teachers' work.</a:t>
            </a:r>
            <a:br/>
            <a:br/>
            <a:r>
              <a:t>Not every recontextualizing move is localization. The study will show what Pakistani teachers of Chinese do with the materials actually in use, how agency is achieved or restricted, and whether teacher-mediated localization is produced or blocked in those classrooms.</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t>Thank you.</a:t>
            </a:r>
            <a:br/>
            <a:br/>
            <a:r>
              <a:t>I welcome questions on the framing, the case design, observation access, and the analytic distinction between recontextualization, agency, and localization.</a:t>
            </a:r>
            <a:br/>
            <a:br/>
            <a:r>
              <a:t>I am not asking the committee to treat HSK-fit scoring as the study. HSK, where it appears, is a condition of teachers' work.</a:t>
            </a:r>
            <a:b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幻灯片" type="title">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idx="1" type="subTitle"/>
          </p:nvPr>
        </p:nvSpPr>
        <p:spPr>
          <a:xfrm>
            <a:off x="1143000" y="2701528"/>
            <a:ext cx="6858000" cy="1241821"/>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内容" type="obj">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0" name="Shape 5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节标题" type="secHead">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idx="1" type="body"/>
          </p:nvPr>
        </p:nvSpPr>
        <p:spPr>
          <a:xfrm>
            <a:off x="623888" y="3442097"/>
            <a:ext cx="7886700" cy="112514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两栏内容" type="twoObj">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idx="1" type="body"/>
          </p:nvPr>
        </p:nvSpPr>
        <p:spPr>
          <a:xfrm>
            <a:off x="6286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2" name="Shape 11"/>
          <p:cNvSpPr txBox="1"/>
          <p:nvPr>
            <p:ph idx="2" type="body"/>
          </p:nvPr>
        </p:nvSpPr>
        <p:spPr>
          <a:xfrm>
            <a:off x="46291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3" name="Shape 1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较" type="twoTxTwoObj">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idx="1" type="body"/>
          </p:nvPr>
        </p:nvSpPr>
        <p:spPr>
          <a:xfrm>
            <a:off x="629841" y="1260872"/>
            <a:ext cx="3868340"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39" name="Shape 37"/>
          <p:cNvSpPr txBox="1"/>
          <p:nvPr>
            <p:ph idx="2" type="body"/>
          </p:nvPr>
        </p:nvSpPr>
        <p:spPr>
          <a:xfrm>
            <a:off x="629841" y="1878806"/>
            <a:ext cx="3868340"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0" name="Shape 38"/>
          <p:cNvSpPr txBox="1"/>
          <p:nvPr>
            <p:ph idx="3" type="body"/>
          </p:nvPr>
        </p:nvSpPr>
        <p:spPr>
          <a:xfrm>
            <a:off x="4629150" y="1260872"/>
            <a:ext cx="3887391"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41" name="Shape 39"/>
          <p:cNvSpPr txBox="1"/>
          <p:nvPr>
            <p:ph idx="4" type="body"/>
          </p:nvPr>
        </p:nvSpPr>
        <p:spPr>
          <a:xfrm>
            <a:off x="4629150" y="1878806"/>
            <a:ext cx="3887391"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2" name="Shape 40"/>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仅标题" type="titleOnly">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空白" type="blank">
  <p:cSld name="BLANK">
    <p:spTree>
      <p:nvGrpSpPr>
        <p:cNvPr id="50" name="Shape 50"/>
        <p:cNvGrpSpPr/>
        <p:nvPr/>
      </p:nvGrpSpPr>
      <p:grpSpPr>
        <a:xfrm>
          <a:off x="0" y="0"/>
          <a:ext cx="0" cy="0"/>
          <a:chOff x="0" y="0"/>
          <a:chExt cx="0" cy="0"/>
        </a:xfrm>
      </p:grpSpPr>
      <p:sp>
        <p:nvSpPr>
          <p:cNvPr id="51" name="Shape 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内容与标题" type="objTx">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idx="1" type="body"/>
          </p:nvPr>
        </p:nvSpPr>
        <p:spPr>
          <a:xfrm>
            <a:off x="3887391" y="740569"/>
            <a:ext cx="4629150" cy="3655219"/>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57" name="Shape 45"/>
          <p:cNvSpPr txBox="1"/>
          <p:nvPr>
            <p:ph idx="2"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58" name="Shape 4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图片与标题" type="picTx">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idx="2" type="pic"/>
          </p:nvPr>
        </p:nvSpPr>
        <p:spPr>
          <a:xfrm>
            <a:off x="3887391" y="740569"/>
            <a:ext cx="4629150" cy="3655219"/>
          </a:xfrm>
          <a:prstGeom prst="rect">
            <a:avLst/>
          </a:prstGeom>
          <a:noFill/>
          <a:ln>
            <a:noFill/>
          </a:ln>
        </p:spPr>
      </p:sp>
      <p:sp>
        <p:nvSpPr>
          <p:cNvPr id="64" name="Shape 26"/>
          <p:cNvSpPr txBox="1"/>
          <p:nvPr>
            <p:ph idx="1"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65" name="Shape 2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竖排文字" type="vertTx">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idx="1" type="body"/>
          </p:nvPr>
        </p:nvSpPr>
        <p:spPr>
          <a:xfrm rot="5400000">
            <a:off x="2940248" y="-942379"/>
            <a:ext cx="3263504"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1" name="Shape 5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竖排标题与文本" type="vertTitleAndTx">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idx="1" type="body"/>
          </p:nvPr>
        </p:nvSpPr>
        <p:spPr>
          <a:xfrm rot="5400000">
            <a:off x="1349573" y="-447080"/>
            <a:ext cx="4358879" cy="5800725"/>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Shape 1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Arial"/>
              <a:buNone/>
              <a:defRPr b="0" i="0" sz="3300" u="none" cap="none" strike="noStrike">
                <a:solidFill>
                  <a:schemeClr val="dk1"/>
                </a:solidFill>
                <a:latin typeface="Arial"/>
                <a:ea typeface="Arial"/>
                <a:cs typeface="Arial"/>
                <a:sym typeface="Arial"/>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9pPr>
          </a:lstStyle>
          <a:p/>
        </p:txBody>
      </p:sp>
      <p:sp>
        <p:nvSpPr>
          <p:cNvPr id="8" name="Shape 3"/>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SzPts val="1100"/>
              <a:buNone/>
              <a:defRPr b="0" i="0" sz="900" u="none" cap="none" strike="noStrike">
                <a:solidFill>
                  <a:srgbClr val="888888"/>
                </a:solidFill>
                <a:latin typeface="Arial"/>
                <a:ea typeface="Arial"/>
                <a:cs typeface="Arial"/>
                <a:sym typeface="Arial"/>
              </a:defRPr>
            </a:lvl1pPr>
            <a:lvl2pPr lvl="1" marR="0" rtl="0" algn="l">
              <a:spcBef>
                <a:spcPts val="0"/>
              </a:spcBef>
              <a:spcAft>
                <a:spcPts val="0"/>
              </a:spcAft>
              <a:buSzPts val="1100"/>
              <a:buNone/>
              <a:defRPr b="0" i="0" sz="1400" u="none" cap="none" strike="noStrike">
                <a:solidFill>
                  <a:schemeClr val="dk1"/>
                </a:solidFill>
                <a:latin typeface="Arial"/>
                <a:ea typeface="Arial"/>
                <a:cs typeface="Arial"/>
                <a:sym typeface="Arial"/>
              </a:defRPr>
            </a:lvl2pPr>
            <a:lvl3pPr lvl="2" marR="0" rtl="0" algn="l">
              <a:spcBef>
                <a:spcPts val="0"/>
              </a:spcBef>
              <a:spcAft>
                <a:spcPts val="0"/>
              </a:spcAft>
              <a:buSzPts val="1100"/>
              <a:buNone/>
              <a:defRPr b="0" i="0" sz="1400" u="none" cap="none" strike="noStrike">
                <a:solidFill>
                  <a:schemeClr val="dk1"/>
                </a:solidFill>
                <a:latin typeface="Arial"/>
                <a:ea typeface="Arial"/>
                <a:cs typeface="Arial"/>
                <a:sym typeface="Arial"/>
              </a:defRPr>
            </a:lvl3pPr>
            <a:lvl4pPr lvl="3" marR="0" rtl="0" algn="l">
              <a:spcBef>
                <a:spcPts val="0"/>
              </a:spcBef>
              <a:spcAft>
                <a:spcPts val="0"/>
              </a:spcAft>
              <a:buSzPts val="1100"/>
              <a:buNone/>
              <a:defRPr b="0" i="0" sz="1400" u="none" cap="none" strike="noStrike">
                <a:solidFill>
                  <a:schemeClr val="dk1"/>
                </a:solidFill>
                <a:latin typeface="Arial"/>
                <a:ea typeface="Arial"/>
                <a:cs typeface="Arial"/>
                <a:sym typeface="Arial"/>
              </a:defRPr>
            </a:lvl4pPr>
            <a:lvl5pPr lvl="4" marR="0" rtl="0" algn="l">
              <a:spcBef>
                <a:spcPts val="0"/>
              </a:spcBef>
              <a:spcAft>
                <a:spcPts val="0"/>
              </a:spcAft>
              <a:buSzPts val="1100"/>
              <a:buNone/>
              <a:defRPr b="0" i="0" sz="1400" u="none" cap="none" strike="noStrike">
                <a:solidFill>
                  <a:schemeClr val="dk1"/>
                </a:solidFill>
                <a:latin typeface="Arial"/>
                <a:ea typeface="Arial"/>
                <a:cs typeface="Arial"/>
                <a:sym typeface="Arial"/>
              </a:defRPr>
            </a:lvl5pPr>
            <a:lvl6pPr lvl="5" marR="0" rtl="0" algn="l">
              <a:spcBef>
                <a:spcPts val="0"/>
              </a:spcBef>
              <a:spcAft>
                <a:spcPts val="0"/>
              </a:spcAft>
              <a:buSzPts val="1100"/>
              <a:buNone/>
              <a:defRPr b="0" i="0" sz="1400" u="none" cap="none" strike="noStrike">
                <a:solidFill>
                  <a:schemeClr val="dk1"/>
                </a:solidFill>
                <a:latin typeface="Arial"/>
                <a:ea typeface="Arial"/>
                <a:cs typeface="Arial"/>
                <a:sym typeface="Arial"/>
              </a:defRPr>
            </a:lvl6pPr>
            <a:lvl7pPr lvl="6" marR="0" rtl="0" algn="l">
              <a:spcBef>
                <a:spcPts val="0"/>
              </a:spcBef>
              <a:spcAft>
                <a:spcPts val="0"/>
              </a:spcAft>
              <a:buSzPts val="1100"/>
              <a:buNone/>
              <a:defRPr b="0" i="0" sz="1400" u="none" cap="none" strike="noStrike">
                <a:solidFill>
                  <a:schemeClr val="dk1"/>
                </a:solidFill>
                <a:latin typeface="Arial"/>
                <a:ea typeface="Arial"/>
                <a:cs typeface="Arial"/>
                <a:sym typeface="Arial"/>
              </a:defRPr>
            </a:lvl7pPr>
            <a:lvl8pPr lvl="7" marR="0" rtl="0" algn="l">
              <a:spcBef>
                <a:spcPts val="0"/>
              </a:spcBef>
              <a:spcAft>
                <a:spcPts val="0"/>
              </a:spcAft>
              <a:buSzPts val="1100"/>
              <a:buNone/>
              <a:defRPr b="0" i="0" sz="1400" u="none" cap="none" strike="noStrike">
                <a:solidFill>
                  <a:schemeClr val="dk1"/>
                </a:solidFill>
                <a:latin typeface="Arial"/>
                <a:ea typeface="Arial"/>
                <a:cs typeface="Arial"/>
                <a:sym typeface="Arial"/>
              </a:defRPr>
            </a:lvl8pPr>
            <a:lvl9pPr lvl="8" marR="0" rtl="0" algn="l">
              <a:spcBef>
                <a:spcPts val="0"/>
              </a:spcBef>
              <a:spcAft>
                <a:spcPts val="0"/>
              </a:spcAft>
              <a:buSzPts val="1100"/>
              <a:buNone/>
              <a:defRPr b="0" i="0" sz="1400" u="none" cap="none" strike="noStrike">
                <a:solidFill>
                  <a:schemeClr val="dk1"/>
                </a:solidFill>
                <a:latin typeface="Arial"/>
                <a:ea typeface="Arial"/>
                <a:cs typeface="Arial"/>
                <a:sym typeface="Arial"/>
              </a:defRPr>
            </a:lvl9pPr>
          </a:lstStyle>
          <a:p/>
        </p:txBody>
      </p:sp>
      <p:sp>
        <p:nvSpPr>
          <p:cNvPr id="9" name="Shape 4"/>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900" u="none" cap="none" strike="noStrike">
                <a:solidFill>
                  <a:srgbClr val="888888"/>
                </a:solidFill>
                <a:latin typeface="Arial"/>
                <a:ea typeface="Arial"/>
                <a:cs typeface="Arial"/>
                <a:sym typeface="Arial"/>
              </a:defRPr>
            </a:lvl1pPr>
            <a:lvl2pPr lvl="1" marR="0" rtl="0" algn="l">
              <a:spcBef>
                <a:spcPts val="0"/>
              </a:spcBef>
              <a:spcAft>
                <a:spcPts val="0"/>
              </a:spcAft>
              <a:buSzPts val="1100"/>
              <a:buNone/>
              <a:defRPr b="0" i="0" sz="1400" u="none" cap="none" strike="noStrike">
                <a:solidFill>
                  <a:schemeClr val="dk1"/>
                </a:solidFill>
                <a:latin typeface="Arial"/>
                <a:ea typeface="Arial"/>
                <a:cs typeface="Arial"/>
                <a:sym typeface="Arial"/>
              </a:defRPr>
            </a:lvl2pPr>
            <a:lvl3pPr lvl="2" marR="0" rtl="0" algn="l">
              <a:spcBef>
                <a:spcPts val="0"/>
              </a:spcBef>
              <a:spcAft>
                <a:spcPts val="0"/>
              </a:spcAft>
              <a:buSzPts val="1100"/>
              <a:buNone/>
              <a:defRPr b="0" i="0" sz="1400" u="none" cap="none" strike="noStrike">
                <a:solidFill>
                  <a:schemeClr val="dk1"/>
                </a:solidFill>
                <a:latin typeface="Arial"/>
                <a:ea typeface="Arial"/>
                <a:cs typeface="Arial"/>
                <a:sym typeface="Arial"/>
              </a:defRPr>
            </a:lvl3pPr>
            <a:lvl4pPr lvl="3" marR="0" rtl="0" algn="l">
              <a:spcBef>
                <a:spcPts val="0"/>
              </a:spcBef>
              <a:spcAft>
                <a:spcPts val="0"/>
              </a:spcAft>
              <a:buSzPts val="1100"/>
              <a:buNone/>
              <a:defRPr b="0" i="0" sz="1400" u="none" cap="none" strike="noStrike">
                <a:solidFill>
                  <a:schemeClr val="dk1"/>
                </a:solidFill>
                <a:latin typeface="Arial"/>
                <a:ea typeface="Arial"/>
                <a:cs typeface="Arial"/>
                <a:sym typeface="Arial"/>
              </a:defRPr>
            </a:lvl4pPr>
            <a:lvl5pPr lvl="4" marR="0" rtl="0" algn="l">
              <a:spcBef>
                <a:spcPts val="0"/>
              </a:spcBef>
              <a:spcAft>
                <a:spcPts val="0"/>
              </a:spcAft>
              <a:buSzPts val="1100"/>
              <a:buNone/>
              <a:defRPr b="0" i="0" sz="1400" u="none" cap="none" strike="noStrike">
                <a:solidFill>
                  <a:schemeClr val="dk1"/>
                </a:solidFill>
                <a:latin typeface="Arial"/>
                <a:ea typeface="Arial"/>
                <a:cs typeface="Arial"/>
                <a:sym typeface="Arial"/>
              </a:defRPr>
            </a:lvl5pPr>
            <a:lvl6pPr lvl="5" marR="0" rtl="0" algn="l">
              <a:spcBef>
                <a:spcPts val="0"/>
              </a:spcBef>
              <a:spcAft>
                <a:spcPts val="0"/>
              </a:spcAft>
              <a:buSzPts val="1100"/>
              <a:buNone/>
              <a:defRPr b="0" i="0" sz="1400" u="none" cap="none" strike="noStrike">
                <a:solidFill>
                  <a:schemeClr val="dk1"/>
                </a:solidFill>
                <a:latin typeface="Arial"/>
                <a:ea typeface="Arial"/>
                <a:cs typeface="Arial"/>
                <a:sym typeface="Arial"/>
              </a:defRPr>
            </a:lvl6pPr>
            <a:lvl7pPr lvl="6" marR="0" rtl="0" algn="l">
              <a:spcBef>
                <a:spcPts val="0"/>
              </a:spcBef>
              <a:spcAft>
                <a:spcPts val="0"/>
              </a:spcAft>
              <a:buSzPts val="1100"/>
              <a:buNone/>
              <a:defRPr b="0" i="0" sz="1400" u="none" cap="none" strike="noStrike">
                <a:solidFill>
                  <a:schemeClr val="dk1"/>
                </a:solidFill>
                <a:latin typeface="Arial"/>
                <a:ea typeface="Arial"/>
                <a:cs typeface="Arial"/>
                <a:sym typeface="Arial"/>
              </a:defRPr>
            </a:lvl7pPr>
            <a:lvl8pPr lvl="7" marR="0" rtl="0" algn="l">
              <a:spcBef>
                <a:spcPts val="0"/>
              </a:spcBef>
              <a:spcAft>
                <a:spcPts val="0"/>
              </a:spcAft>
              <a:buSzPts val="1100"/>
              <a:buNone/>
              <a:defRPr b="0" i="0" sz="1400" u="none" cap="none" strike="noStrike">
                <a:solidFill>
                  <a:schemeClr val="dk1"/>
                </a:solidFill>
                <a:latin typeface="Arial"/>
                <a:ea typeface="Arial"/>
                <a:cs typeface="Arial"/>
                <a:sym typeface="Arial"/>
              </a:defRPr>
            </a:lvl8pPr>
            <a:lvl9pPr lvl="8" marR="0" rtl="0" algn="l">
              <a:spcBef>
                <a:spcPts val="0"/>
              </a:spcBef>
              <a:spcAft>
                <a:spcPts val="0"/>
              </a:spcAft>
              <a:buSzPts val="1100"/>
              <a:buNone/>
              <a:defRPr b="0" i="0" sz="1400" u="none" cap="none" strike="noStrike">
                <a:solidFill>
                  <a:schemeClr val="dk1"/>
                </a:solidFill>
                <a:latin typeface="Arial"/>
                <a:ea typeface="Arial"/>
                <a:cs typeface="Arial"/>
                <a:sym typeface="Arial"/>
              </a:defRPr>
            </a:lvl9pPr>
          </a:lstStyle>
          <a:p/>
        </p:txBody>
      </p:sp>
      <p:sp>
        <p:nvSpPr>
          <p:cNvPr id="10" name="Shape 5"/>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900" u="none" cap="none" strike="noStrike">
                <a:solidFill>
                  <a:srgbClr val="888888"/>
                </a:solidFill>
                <a:latin typeface="Arial"/>
                <a:ea typeface="Arial"/>
                <a:cs typeface="Arial"/>
                <a:sym typeface="Arial"/>
              </a:defRPr>
            </a:lvl1pPr>
            <a:lvl2pPr indent="0" lvl="1" marL="0" marR="0" rtl="0" algn="r">
              <a:spcBef>
                <a:spcPts val="0"/>
              </a:spcBef>
              <a:buNone/>
              <a:defRPr b="0" i="0" sz="900" u="none" cap="none" strike="noStrike">
                <a:solidFill>
                  <a:srgbClr val="888888"/>
                </a:solidFill>
                <a:latin typeface="Arial"/>
                <a:ea typeface="Arial"/>
                <a:cs typeface="Arial"/>
                <a:sym typeface="Arial"/>
              </a:defRPr>
            </a:lvl2pPr>
            <a:lvl3pPr indent="0" lvl="2" marL="0" marR="0" rtl="0" algn="r">
              <a:spcBef>
                <a:spcPts val="0"/>
              </a:spcBef>
              <a:buNone/>
              <a:defRPr b="0" i="0" sz="900" u="none" cap="none" strike="noStrike">
                <a:solidFill>
                  <a:srgbClr val="888888"/>
                </a:solidFill>
                <a:latin typeface="Arial"/>
                <a:ea typeface="Arial"/>
                <a:cs typeface="Arial"/>
                <a:sym typeface="Arial"/>
              </a:defRPr>
            </a:lvl3pPr>
            <a:lvl4pPr indent="0" lvl="3" marL="0" marR="0" rtl="0" algn="r">
              <a:spcBef>
                <a:spcPts val="0"/>
              </a:spcBef>
              <a:buNone/>
              <a:defRPr b="0" i="0" sz="900" u="none" cap="none" strike="noStrike">
                <a:solidFill>
                  <a:srgbClr val="888888"/>
                </a:solidFill>
                <a:latin typeface="Arial"/>
                <a:ea typeface="Arial"/>
                <a:cs typeface="Arial"/>
                <a:sym typeface="Arial"/>
              </a:defRPr>
            </a:lvl4pPr>
            <a:lvl5pPr indent="0" lvl="4" marL="0" marR="0" rtl="0" algn="r">
              <a:spcBef>
                <a:spcPts val="0"/>
              </a:spcBef>
              <a:buNone/>
              <a:defRPr b="0" i="0" sz="900" u="none" cap="none" strike="noStrike">
                <a:solidFill>
                  <a:srgbClr val="888888"/>
                </a:solidFill>
                <a:latin typeface="Arial"/>
                <a:ea typeface="Arial"/>
                <a:cs typeface="Arial"/>
                <a:sym typeface="Arial"/>
              </a:defRPr>
            </a:lvl5pPr>
            <a:lvl6pPr indent="0" lvl="5" marL="0" marR="0" rtl="0" algn="r">
              <a:spcBef>
                <a:spcPts val="0"/>
              </a:spcBef>
              <a:buNone/>
              <a:defRPr b="0" i="0" sz="900" u="none" cap="none" strike="noStrike">
                <a:solidFill>
                  <a:srgbClr val="888888"/>
                </a:solidFill>
                <a:latin typeface="Arial"/>
                <a:ea typeface="Arial"/>
                <a:cs typeface="Arial"/>
                <a:sym typeface="Arial"/>
              </a:defRPr>
            </a:lvl6pPr>
            <a:lvl7pPr indent="0" lvl="6" marL="0" marR="0" rtl="0" algn="r">
              <a:spcBef>
                <a:spcPts val="0"/>
              </a:spcBef>
              <a:buNone/>
              <a:defRPr b="0" i="0" sz="900" u="none" cap="none" strike="noStrike">
                <a:solidFill>
                  <a:srgbClr val="888888"/>
                </a:solidFill>
                <a:latin typeface="Arial"/>
                <a:ea typeface="Arial"/>
                <a:cs typeface="Arial"/>
                <a:sym typeface="Arial"/>
              </a:defRPr>
            </a:lvl7pPr>
            <a:lvl8pPr indent="0" lvl="7" marL="0" marR="0" rtl="0" algn="r">
              <a:spcBef>
                <a:spcPts val="0"/>
              </a:spcBef>
              <a:buNone/>
              <a:defRPr b="0" i="0" sz="900" u="none" cap="none" strike="noStrike">
                <a:solidFill>
                  <a:srgbClr val="888888"/>
                </a:solidFill>
                <a:latin typeface="Arial"/>
                <a:ea typeface="Arial"/>
                <a:cs typeface="Arial"/>
                <a:sym typeface="Arial"/>
              </a:defRPr>
            </a:lvl8pPr>
            <a:lvl9pPr indent="0" lvl="8" marL="0" marR="0" rtl="0" algn="r">
              <a:spcBef>
                <a:spcPts val="0"/>
              </a:spcBef>
              <a:buNone/>
              <a:defRPr b="0" i="0" sz="9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默认主题">
    <p:bg>
      <p:bgPr>
        <a:solidFill>
          <a:srgbClr val="FFFFFF">
            <a:alpha val="100000"/>
          </a:srgbClr>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5748369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s>
</file>

<file path=ppt/slides/slide1.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1092200"/>
            <a:ext cx="7620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300">
                <a:solidFill>
                  <a:srgbClr val="8C4A34"/>
                </a:solidFill>
                <a:latin typeface="Lora"/>
                <a:ea typeface="Lora"/>
                <a:cs typeface="Lora"/>
                <a:sym typeface="Lora"/>
              </a:rPr>
              <a:t>PHD RESEARCH PROPOSAL</a:t>
            </a:r>
            <a:endParaRPr lang="en-US" sz="1100"/>
          </a:p>
        </p:txBody>
      </p:sp>
      <p:cxnSp>
        <p:nvCxnSpPr>
          <p:cNvPr name="Connector 3" id="3"/>
          <p:cNvCxnSpPr/>
          <p:nvPr/>
        </p:nvCxnSpPr>
        <p:spPr>
          <a:xfrm rot="-24554" flipH="false" flipV="false">
            <a:off x="1143023" y="1593850"/>
            <a:ext cx="17780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none" w="lg" len="lg"/>
          </a:ln>
        </p:spPr>
      </p:cxnSp>
      <p:sp>
        <p:nvSpPr>
          <p:cNvPr name="AutoShape 4" id="4"/>
          <p:cNvSpPr/>
          <p:nvPr/>
        </p:nvSpPr>
        <p:spPr>
          <a:xfrm rot="0" flipH="false" flipV="false">
            <a:off x="1143000" y="2133600"/>
            <a:ext cx="9906000" cy="254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4166"/>
              </a:lnSpc>
              <a:defRPr/>
            </a:pPr>
            <a:r>
              <a:rPr lang="en-US" b="true" i="false" strike="noStrike" u="none" sz="3100">
                <a:solidFill>
                  <a:srgbClr val="2A2A28"/>
                </a:solidFill>
                <a:latin typeface="Lora"/>
                <a:ea typeface="Lora"/>
                <a:cs typeface="Lora"/>
                <a:sym typeface="Lora"/>
              </a:rPr>
              <a:t>Recontextualization of Chinese-Language</a:t>
            </a:r>
            <a:endParaRPr lang="en-US" sz="1100"/>
          </a:p>
          <a:p>
            <a:pPr algn="l" marL="0" indent="0">
              <a:lnSpc>
                <a:spcPct val="104166"/>
              </a:lnSpc>
            </a:pPr>
            <a:r>
              <a:rPr lang="en-US" b="true" i="false" strike="noStrike" u="none" sz="3100">
                <a:solidFill>
                  <a:srgbClr val="2A2A28"/>
                </a:solidFill>
                <a:latin typeface="Lora"/>
                <a:ea typeface="Lora"/>
                <a:cs typeface="Lora"/>
                <a:sym typeface="Lora"/>
              </a:rPr>
              <a:t>Teaching Materials and Teacher Agency</a:t>
            </a:r>
          </a:p>
          <a:p>
            <a:pPr algn="l" marL="0" indent="0">
              <a:lnSpc>
                <a:spcPct val="104166"/>
              </a:lnSpc>
            </a:pPr>
            <a:r>
              <a:rPr lang="en-US" b="true" i="false" strike="noStrike" u="none" sz="3100">
                <a:solidFill>
                  <a:srgbClr val="2A2A28"/>
                </a:solidFill>
                <a:latin typeface="Lora"/>
                <a:ea typeface="Lora"/>
                <a:cs typeface="Lora"/>
                <a:sym typeface="Lora"/>
              </a:rPr>
              <a:t>among Pakistani Teachers of Chinese</a:t>
            </a:r>
          </a:p>
        </p:txBody>
      </p:sp>
      <p:sp>
        <p:nvSpPr>
          <p:cNvPr name="AutoShape 5" id="5"/>
          <p:cNvSpPr/>
          <p:nvPr/>
        </p:nvSpPr>
        <p:spPr>
          <a:xfrm rot="0" flipH="false" flipV="false">
            <a:off x="1143000" y="4800600"/>
            <a:ext cx="990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true" strike="noStrike" u="none" sz="1800">
                <a:solidFill>
                  <a:srgbClr val="4A4842"/>
                </a:solidFill>
                <a:latin typeface="Lora"/>
                <a:ea typeface="Lora"/>
                <a:cs typeface="Lora"/>
                <a:sym typeface="Lora"/>
              </a:rPr>
              <a:t>A Qualitative Study from an Ecological Perspective</a:t>
            </a:r>
            <a:endParaRPr lang="en-US" sz="1100"/>
          </a:p>
        </p:txBody>
      </p:sp>
      <p:cxnSp>
        <p:nvCxnSpPr>
          <p:cNvPr name="Connector 6" id="6"/>
          <p:cNvCxnSpPr/>
          <p:nvPr/>
        </p:nvCxnSpPr>
        <p:spPr>
          <a:xfrm rot="-4407" flipH="false" flipV="false">
            <a:off x="1143004" y="57340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7" id="7"/>
          <p:cNvSpPr/>
          <p:nvPr/>
        </p:nvSpPr>
        <p:spPr>
          <a:xfrm rot="0" flipH="false" flipV="false">
            <a:off x="1143000" y="5918200"/>
            <a:ext cx="990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8A8578"/>
                </a:solidFill>
                <a:latin typeface="Lora"/>
                <a:ea typeface="Lora"/>
                <a:cs typeface="Lora"/>
                <a:sym typeface="Lora"/>
              </a:rPr>
              <a:t>Candidate  Heena Rathore  ·  Supervisor  [to be confirmed]  ·  [Programme / Department]  ·  2026</a:t>
            </a:r>
            <a:endParaRPr lang="en-US" sz="1100"/>
          </a:p>
        </p:txBody>
      </p:sp>
    </p:spTree>
  </p:cSld>
  <p:clrMapOvr>
    <a:masterClrMapping/>
  </p:clrMapOvr>
</p:sld>
</file>

<file path=ppt/slides/slide2.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ROADMAP</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000">
                <a:solidFill>
                  <a:srgbClr val="2A2A28"/>
                </a:solidFill>
                <a:latin typeface="Lora"/>
                <a:ea typeface="Lora"/>
                <a:cs typeface="Lora"/>
                <a:sym typeface="Lora"/>
              </a:rPr>
              <a:t>What this proposal will cover</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2860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01</a:t>
            </a:r>
            <a:endParaRPr lang="en-US" sz="1100"/>
          </a:p>
        </p:txBody>
      </p:sp>
      <p:sp>
        <p:nvSpPr>
          <p:cNvPr name="AutoShape 6" id="6"/>
          <p:cNvSpPr/>
          <p:nvPr/>
        </p:nvSpPr>
        <p:spPr>
          <a:xfrm rot="0" flipH="false" flipV="false">
            <a:off x="1905000" y="22606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Background &amp; problem</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Growth of Chinese in Pakistan; the materials problem</a:t>
            </a:r>
          </a:p>
        </p:txBody>
      </p:sp>
      <p:sp>
        <p:nvSpPr>
          <p:cNvPr name="AutoShape 7" id="7"/>
          <p:cNvSpPr/>
          <p:nvPr/>
        </p:nvSpPr>
        <p:spPr>
          <a:xfrm rot="0" flipH="false" flipV="false">
            <a:off x="1143000" y="34036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02</a:t>
            </a:r>
            <a:endParaRPr lang="en-US" sz="1100"/>
          </a:p>
        </p:txBody>
      </p:sp>
      <p:sp>
        <p:nvSpPr>
          <p:cNvPr name="AutoShape 8" id="8"/>
          <p:cNvSpPr/>
          <p:nvPr/>
        </p:nvSpPr>
        <p:spPr>
          <a:xfrm rot="0" flipH="false" flipV="false">
            <a:off x="1905000" y="33782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Key concepts &amp; theoretical lens</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Recontextualization and ecological agency</a:t>
            </a:r>
          </a:p>
        </p:txBody>
      </p:sp>
      <p:sp>
        <p:nvSpPr>
          <p:cNvPr name="AutoShape 9" id="9"/>
          <p:cNvSpPr/>
          <p:nvPr/>
        </p:nvSpPr>
        <p:spPr>
          <a:xfrm rot="0" flipH="false" flipV="false">
            <a:off x="1143000" y="45212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03</a:t>
            </a:r>
            <a:endParaRPr lang="en-US" sz="1100"/>
          </a:p>
        </p:txBody>
      </p:sp>
      <p:sp>
        <p:nvSpPr>
          <p:cNvPr name="AutoShape 10" id="10"/>
          <p:cNvSpPr/>
          <p:nvPr/>
        </p:nvSpPr>
        <p:spPr>
          <a:xfrm rot="0" flipH="false" flipV="false">
            <a:off x="1905000" y="44958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Literature map &amp; gap</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Four conversations not yet joined</a:t>
            </a:r>
          </a:p>
        </p:txBody>
      </p:sp>
      <p:sp>
        <p:nvSpPr>
          <p:cNvPr name="AutoShape 11" id="11"/>
          <p:cNvSpPr/>
          <p:nvPr/>
        </p:nvSpPr>
        <p:spPr>
          <a:xfrm rot="0" flipH="false" flipV="false">
            <a:off x="1143000" y="56388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04</a:t>
            </a:r>
            <a:endParaRPr lang="en-US" sz="1100"/>
          </a:p>
        </p:txBody>
      </p:sp>
      <p:sp>
        <p:nvSpPr>
          <p:cNvPr name="AutoShape 12" id="12"/>
          <p:cNvSpPr/>
          <p:nvPr/>
        </p:nvSpPr>
        <p:spPr>
          <a:xfrm rot="0" flipH="false" flipV="false">
            <a:off x="1905000" y="56134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Research questions</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One core question, three supporting questions</a:t>
            </a:r>
          </a:p>
        </p:txBody>
      </p:sp>
      <p:sp>
        <p:nvSpPr>
          <p:cNvPr name="AutoShape 13" id="13"/>
          <p:cNvSpPr/>
          <p:nvPr/>
        </p:nvSpPr>
        <p:spPr>
          <a:xfrm rot="0" flipH="false" flipV="false">
            <a:off x="6477000" y="22860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05</a:t>
            </a:r>
            <a:endParaRPr lang="en-US" sz="1100"/>
          </a:p>
        </p:txBody>
      </p:sp>
      <p:sp>
        <p:nvSpPr>
          <p:cNvPr name="AutoShape 14" id="14"/>
          <p:cNvSpPr/>
          <p:nvPr/>
        </p:nvSpPr>
        <p:spPr>
          <a:xfrm rot="0" flipH="false" flipV="false">
            <a:off x="7239000" y="22606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Methodology &amp; data</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Qualitative multiple-case study; sources, analysis</a:t>
            </a:r>
          </a:p>
        </p:txBody>
      </p:sp>
      <p:sp>
        <p:nvSpPr>
          <p:cNvPr name="AutoShape 15" id="15"/>
          <p:cNvSpPr/>
          <p:nvPr/>
        </p:nvSpPr>
        <p:spPr>
          <a:xfrm rot="0" flipH="false" flipV="false">
            <a:off x="6477000" y="34036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06</a:t>
            </a:r>
            <a:endParaRPr lang="en-US" sz="1100"/>
          </a:p>
        </p:txBody>
      </p:sp>
      <p:sp>
        <p:nvSpPr>
          <p:cNvPr name="AutoShape 16" id="16"/>
          <p:cNvSpPr/>
          <p:nvPr/>
        </p:nvSpPr>
        <p:spPr>
          <a:xfrm rot="0" flipH="false" flipV="false">
            <a:off x="7239000" y="33782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Procedure &amp; thesis structure</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Six study stages; seven chapters</a:t>
            </a:r>
          </a:p>
        </p:txBody>
      </p:sp>
      <p:sp>
        <p:nvSpPr>
          <p:cNvPr name="AutoShape 17" id="17"/>
          <p:cNvSpPr/>
          <p:nvPr/>
        </p:nvSpPr>
        <p:spPr>
          <a:xfrm rot="0" flipH="false" flipV="false">
            <a:off x="6477000" y="45212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07</a:t>
            </a:r>
            <a:endParaRPr lang="en-US" sz="1100"/>
          </a:p>
        </p:txBody>
      </p:sp>
      <p:sp>
        <p:nvSpPr>
          <p:cNvPr name="AutoShape 18" id="18"/>
          <p:cNvSpPr/>
          <p:nvPr/>
        </p:nvSpPr>
        <p:spPr>
          <a:xfrm rot="0" flipH="false" flipV="false">
            <a:off x="7239000" y="44958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Foci, difficulties &amp; innovations</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What the study centres; risks and how they are met</a:t>
            </a:r>
          </a:p>
        </p:txBody>
      </p:sp>
      <p:sp>
        <p:nvSpPr>
          <p:cNvPr name="AutoShape 19" id="19"/>
          <p:cNvSpPr/>
          <p:nvPr/>
        </p:nvSpPr>
        <p:spPr>
          <a:xfrm rot="0" flipH="false" flipV="false">
            <a:off x="6477000" y="5638800"/>
            <a:ext cx="76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8C4A34"/>
                </a:solidFill>
                <a:latin typeface="Lora"/>
                <a:ea typeface="Lora"/>
                <a:cs typeface="Lora"/>
                <a:sym typeface="Lora"/>
              </a:rPr>
              <a:t>08</a:t>
            </a:r>
            <a:endParaRPr lang="en-US" sz="1100"/>
          </a:p>
        </p:txBody>
      </p:sp>
      <p:sp>
        <p:nvSpPr>
          <p:cNvPr name="AutoShape 20" id="20"/>
          <p:cNvSpPr/>
          <p:nvPr/>
        </p:nvSpPr>
        <p:spPr>
          <a:xfrm rot="0" flipH="false" flipV="false">
            <a:off x="7239000" y="5613400"/>
            <a:ext cx="4191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2A2A28"/>
                </a:solidFill>
                <a:latin typeface="Lora"/>
                <a:ea typeface="Lora"/>
                <a:cs typeface="Lora"/>
                <a:sym typeface="Lora"/>
              </a:rPr>
              <a:t>Significance &amp; contribution</a:t>
            </a:r>
            <a:r>
              <a:rPr lang="en-US" b="false" i="false" strike="noStrike" u="none" sz="1500">
                <a:solidFill>
                  <a:srgbClr val="2A2A28"/>
                </a:solidFill>
                <a:latin typeface="Lora"/>
                <a:ea typeface="Lora"/>
                <a:cs typeface="Lora"/>
                <a:sym typeface="Lora"/>
              </a:rPr>
              <a:t/>
            </a:r>
            <a:endParaRPr lang="en-US" sz="1100"/>
          </a:p>
          <a:p>
            <a:pPr algn="l" marL="0" indent="0">
              <a:lnSpc>
                <a:spcPct val="108333"/>
              </a:lnSpc>
            </a:pPr>
            <a:r>
              <a:rPr lang="en-US" b="false" i="false" strike="noStrike" u="none" sz="1500">
                <a:solidFill>
                  <a:srgbClr val="8A8578"/>
                </a:solidFill>
                <a:latin typeface="Lora"/>
                <a:ea typeface="Lora"/>
                <a:cs typeface="Lora"/>
                <a:sym typeface="Lora"/>
              </a:rPr>
              <a:t>Theoretical and practical value</a:t>
            </a:r>
          </a:p>
        </p:txBody>
      </p:sp>
    </p:spTree>
  </p:cSld>
  <p:clrMapOvr>
    <a:masterClrMapping/>
  </p:clrMapOvr>
</p:sld>
</file>

<file path=ppt/slides/slide3.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01 · BACKGROUND</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900">
                <a:solidFill>
                  <a:srgbClr val="2A2A28"/>
                </a:solidFill>
                <a:latin typeface="Lora"/>
                <a:ea typeface="Lora"/>
                <a:cs typeface="Lora"/>
                <a:sym typeface="Lora"/>
              </a:rPr>
              <a:t>Chinese in Pakistan grew fast, but unevenly</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cxnSp>
        <p:nvCxnSpPr>
          <p:cNvPr name="Connector 5" id="5"/>
          <p:cNvCxnSpPr/>
          <p:nvPr/>
        </p:nvCxnSpPr>
        <p:spPr>
          <a:xfrm rot="5385308" flipH="false" flipV="false">
            <a:off x="-165100" y="3968764"/>
            <a:ext cx="29718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6" id="6"/>
          <p:cNvSpPr/>
          <p:nvPr/>
        </p:nvSpPr>
        <p:spPr>
          <a:xfrm rot="0" flipH="false" flipV="false">
            <a:off x="1257300" y="2425700"/>
            <a:ext cx="127000" cy="127000"/>
          </a:xfrm>
          <a:prstGeom prst="ellipse">
            <a:avLst/>
          </a:prstGeom>
          <a:solidFill>
            <a:srgbClr val="8C4A34">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7" id="7"/>
          <p:cNvSpPr/>
          <p:nvPr/>
        </p:nvSpPr>
        <p:spPr>
          <a:xfrm rot="0" flipH="false" flipV="false">
            <a:off x="1625600" y="2286000"/>
            <a:ext cx="38100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600">
                <a:solidFill>
                  <a:srgbClr val="8C4A34"/>
                </a:solidFill>
                <a:latin typeface="Lora"/>
                <a:ea typeface="Lora"/>
                <a:cs typeface="Lora"/>
                <a:sym typeface="Lora"/>
              </a:rPr>
              <a:t>2005</a:t>
            </a:r>
            <a:r>
              <a:rPr lang="en-US" b="false" i="false" strike="noStrike" u="none" sz="1400">
                <a:solidFill>
                  <a:srgbClr val="4A4842"/>
                </a:solidFill>
                <a:latin typeface="Lora"/>
                <a:ea typeface="Lora"/>
                <a:cs typeface="Lora"/>
                <a:sym typeface="Lora"/>
              </a:rPr>
              <a:t> First Confucius Institute opens at NUML, Islamabad. Chinese is a small, specialist subject tied to diplomacy and trade.</a:t>
            </a:r>
            <a:endParaRPr lang="en-US" sz="1100"/>
          </a:p>
        </p:txBody>
      </p:sp>
      <p:sp>
        <p:nvSpPr>
          <p:cNvPr name="AutoShape 8" id="8"/>
          <p:cNvSpPr/>
          <p:nvPr/>
        </p:nvSpPr>
        <p:spPr>
          <a:xfrm rot="0" flipH="false" flipV="false">
            <a:off x="1257300" y="3695700"/>
            <a:ext cx="127000" cy="127000"/>
          </a:xfrm>
          <a:prstGeom prst="ellipse">
            <a:avLst/>
          </a:prstGeom>
          <a:solidFill>
            <a:srgbClr val="8C4A34">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1625600" y="3556000"/>
            <a:ext cx="38100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600">
                <a:solidFill>
                  <a:srgbClr val="8C4A34"/>
                </a:solidFill>
                <a:latin typeface="Lora"/>
                <a:ea typeface="Lora"/>
                <a:cs typeface="Lora"/>
                <a:sym typeface="Lora"/>
              </a:rPr>
              <a:t>2010s</a:t>
            </a:r>
            <a:r>
              <a:rPr lang="en-US" b="false" i="false" strike="noStrike" u="none" sz="1400">
                <a:solidFill>
                  <a:srgbClr val="4A4842"/>
                </a:solidFill>
                <a:latin typeface="Lora"/>
                <a:ea typeface="Lora"/>
                <a:cs typeface="Lora"/>
                <a:sym typeface="Lora"/>
              </a:rPr>
              <a:t> Four more Institutes follow; CPEC ties Chinese proficiency directly to jobs, scholarships and student mobility.</a:t>
            </a:r>
            <a:endParaRPr lang="en-US" sz="1100"/>
          </a:p>
        </p:txBody>
      </p:sp>
      <p:sp>
        <p:nvSpPr>
          <p:cNvPr name="AutoShape 10" id="10"/>
          <p:cNvSpPr/>
          <p:nvPr/>
        </p:nvSpPr>
        <p:spPr>
          <a:xfrm rot="0" flipH="false" flipV="false">
            <a:off x="1257300" y="4965700"/>
            <a:ext cx="127000" cy="127000"/>
          </a:xfrm>
          <a:prstGeom prst="ellipse">
            <a:avLst/>
          </a:prstGeom>
          <a:solidFill>
            <a:srgbClr val="8C4A34">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1" id="11"/>
          <p:cNvSpPr/>
          <p:nvPr/>
        </p:nvSpPr>
        <p:spPr>
          <a:xfrm rot="0" flipH="false" flipV="false">
            <a:off x="1625600" y="4826000"/>
            <a:ext cx="38100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600">
                <a:solidFill>
                  <a:srgbClr val="8C4A34"/>
                </a:solidFill>
                <a:latin typeface="Lora"/>
                <a:ea typeface="Lora"/>
                <a:cs typeface="Lora"/>
                <a:sym typeface="Lora"/>
              </a:rPr>
              <a:t>Today</a:t>
            </a:r>
            <a:r>
              <a:rPr lang="en-US" b="false" i="false" strike="noStrike" u="none" sz="1400">
                <a:solidFill>
                  <a:srgbClr val="4A4842"/>
                </a:solidFill>
                <a:latin typeface="Lora"/>
                <a:ea typeface="Lora"/>
                <a:cs typeface="Lora"/>
                <a:sym typeface="Lora"/>
              </a:rPr>
              <a:t> Degree, required, elective and short-course programmes nationwide, each with its own learners, goals and support.</a:t>
            </a:r>
            <a:endParaRPr lang="en-US" sz="1100"/>
          </a:p>
        </p:txBody>
      </p:sp>
      <p:cxnSp>
        <p:nvCxnSpPr>
          <p:cNvPr name="Connector 12" id="12"/>
          <p:cNvCxnSpPr/>
          <p:nvPr/>
        </p:nvCxnSpPr>
        <p:spPr>
          <a:xfrm rot="5386777" flipH="false" flipV="false">
            <a:off x="4318000" y="3930662"/>
            <a:ext cx="3302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3" id="13"/>
          <p:cNvSpPr/>
          <p:nvPr/>
        </p:nvSpPr>
        <p:spPr>
          <a:xfrm rot="0" flipH="false" flipV="false">
            <a:off x="6350000" y="2286000"/>
            <a:ext cx="4699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2A2A28"/>
                </a:solidFill>
                <a:latin typeface="Lora"/>
                <a:ea typeface="Lora"/>
                <a:cs typeface="Lora"/>
                <a:sym typeface="Lora"/>
              </a:rPr>
              <a:t>Growth did not mean uniformity</a:t>
            </a:r>
            <a:endParaRPr lang="en-US" sz="1100"/>
          </a:p>
        </p:txBody>
      </p:sp>
      <p:sp>
        <p:nvSpPr>
          <p:cNvPr name="AutoShape 14" id="14"/>
          <p:cNvSpPr/>
          <p:nvPr/>
        </p:nvSpPr>
        <p:spPr>
          <a:xfrm rot="0" flipH="false" flipV="false">
            <a:off x="6350000" y="2819400"/>
            <a:ext cx="4699000" cy="317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9166"/>
              </a:lnSpc>
              <a:defRPr/>
            </a:pPr>
            <a:r>
              <a:rPr lang="en-US" b="false" i="false" strike="noStrike" u="none" sz="1400">
                <a:solidFill>
                  <a:srgbClr val="4A4842"/>
                </a:solidFill>
                <a:latin typeface="Lora"/>
                <a:ea typeface="Lora"/>
                <a:cs typeface="Lora"/>
                <a:sym typeface="Lora"/>
              </a:rPr>
              <a:t>· At a public engineering university, policy and classroom reality diverged sharply on class size and medium of instruction once implementation was examined (Khan et al., 2022).</a:t>
            </a:r>
            <a:endParaRPr lang="en-US" sz="1100"/>
          </a:p>
          <a:p>
            <a:pPr algn="l" marL="0" indent="0">
              <a:lnSpc>
                <a:spcPct val="129166"/>
              </a:lnSpc>
            </a:pPr>
            <a:r>
              <a:rPr lang="en-US" b="false" i="false" strike="noStrike" u="none" sz="1400">
                <a:solidFill>
                  <a:srgbClr val="4A4842"/>
                </a:solidFill>
                <a:latin typeface="Lora"/>
                <a:ea typeface="Lora"/>
                <a:cs typeface="Lora"/>
                <a:sym typeface="Lora"/>
              </a:rPr>
              <a:t>· Chinese enters a landscape where English, Urdu and regional languages already carry unequal social and educational weight (Ali &amp; David, 2022).</a:t>
            </a:r>
          </a:p>
          <a:p>
            <a:pPr algn="l" marL="0" indent="0">
              <a:lnSpc>
                <a:spcPct val="129166"/>
              </a:lnSpc>
            </a:pPr>
            <a:r>
              <a:rPr lang="en-US" b="false" i="false" strike="noStrike" u="none" sz="1400">
                <a:solidFill>
                  <a:srgbClr val="4A4842"/>
                </a:solidFill>
                <a:latin typeface="Lora"/>
                <a:ea typeface="Lora"/>
                <a:cs typeface="Lora"/>
                <a:sym typeface="Lora"/>
              </a:rPr>
              <a:t>· Learners report persistent worry about speaking, reading and writing, and doubt over ever reaching a usable level (Aftab &amp; Abbasi, 2024; Iftikhar et al., 2024).</a:t>
            </a:r>
          </a:p>
        </p:txBody>
      </p:sp>
      <p:sp>
        <p:nvSpPr>
          <p:cNvPr name="AutoShape 15" id="15"/>
          <p:cNvSpPr/>
          <p:nvPr/>
        </p:nvSpPr>
        <p:spPr>
          <a:xfrm rot="0" flipH="false" flipV="false">
            <a:off x="1143000" y="6350000"/>
            <a:ext cx="9906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Sources: Hanif (2023); Khan, Zaki &amp; Memon (2022); Ali &amp; David (2022); Aftab &amp; Abbasi (2024).</a:t>
            </a:r>
            <a:endParaRPr lang="en-US" sz="1100"/>
          </a:p>
        </p:txBody>
      </p:sp>
    </p:spTree>
  </p:cSld>
  <p:clrMapOvr>
    <a:masterClrMapping/>
  </p:clrMapOvr>
</p:sld>
</file>

<file path=ppt/slides/slide4.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01 · PROBLEM</a:t>
            </a:r>
            <a:endParaRPr lang="en-US" sz="1100"/>
          </a:p>
        </p:txBody>
      </p:sp>
      <p:sp>
        <p:nvSpPr>
          <p:cNvPr name="AutoShape 3" id="3"/>
          <p:cNvSpPr/>
          <p:nvPr/>
        </p:nvSpPr>
        <p:spPr>
          <a:xfrm rot="0" flipH="false" flipV="false">
            <a:off x="1143000" y="1016000"/>
            <a:ext cx="9906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0000"/>
              </a:lnSpc>
              <a:defRPr/>
            </a:pPr>
            <a:r>
              <a:rPr lang="en-US" b="true" i="false" strike="noStrike" u="none" sz="2700">
                <a:solidFill>
                  <a:srgbClr val="2A2A28"/>
                </a:solidFill>
                <a:latin typeface="Lora"/>
                <a:ea typeface="Lora"/>
                <a:cs typeface="Lora"/>
                <a:sym typeface="Lora"/>
              </a:rPr>
              <a:t>The gap is today's classroom, not a future textbook</a:t>
            </a:r>
            <a:endParaRPr lang="en-US" sz="1100"/>
          </a:p>
        </p:txBody>
      </p:sp>
      <p:cxnSp>
        <p:nvCxnSpPr>
          <p:cNvPr name="Connector 4" id="4"/>
          <p:cNvCxnSpPr/>
          <p:nvPr/>
        </p:nvCxnSpPr>
        <p:spPr>
          <a:xfrm rot="-4407" flipH="false" flipV="false">
            <a:off x="1143004" y="18986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260600"/>
            <a:ext cx="4191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8A8578"/>
                </a:solidFill>
                <a:latin typeface="Lora"/>
                <a:ea typeface="Lora"/>
                <a:cs typeface="Lora"/>
                <a:sym typeface="Lora"/>
              </a:rPr>
              <a:t>What existing research proposes</a:t>
            </a:r>
            <a:endParaRPr lang="en-US" sz="1100"/>
          </a:p>
        </p:txBody>
      </p:sp>
      <p:sp>
        <p:nvSpPr>
          <p:cNvPr name="AutoShape 6" id="6"/>
          <p:cNvSpPr/>
          <p:nvPr/>
        </p:nvSpPr>
        <p:spPr>
          <a:xfrm rot="0" flipH="false" flipV="false">
            <a:off x="1143000" y="2768600"/>
            <a:ext cx="4191000" cy="254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false" i="false" strike="noStrike" u="none" sz="1500">
                <a:solidFill>
                  <a:srgbClr val="4A4842"/>
                </a:solidFill>
                <a:latin typeface="Lora"/>
                <a:ea typeface="Lora"/>
                <a:cs typeface="Lora"/>
                <a:sym typeface="Lora"/>
              </a:rPr>
              <a:t>· Produce a new </a:t>
            </a:r>
            <a:r>
              <a:rPr lang="en-US" b="true" i="false" strike="noStrike" u="none" sz="1500">
                <a:solidFill>
                  <a:srgbClr val="4A4842"/>
                </a:solidFill>
                <a:latin typeface="Lora"/>
                <a:ea typeface="Lora"/>
                <a:cs typeface="Lora"/>
                <a:sym typeface="Lora"/>
              </a:rPr>
              <a:t>localized textbook</a:t>
            </a:r>
            <a:r>
              <a:rPr lang="en-US" b="false" i="false" strike="noStrike" u="none" sz="1500">
                <a:solidFill>
                  <a:srgbClr val="4A4842"/>
                </a:solidFill>
                <a:latin typeface="Lora"/>
                <a:ea typeface="Lora"/>
                <a:cs typeface="Lora"/>
                <a:sym typeface="Lora"/>
              </a:rPr>
              <a:t/>
            </a:r>
            <a:endParaRPr lang="en-US" sz="1100"/>
          </a:p>
          <a:p>
            <a:pPr algn="l" marL="0" indent="0">
              <a:lnSpc>
                <a:spcPct val="133333"/>
              </a:lnSpc>
            </a:pPr>
            <a:r>
              <a:rPr lang="en-US" b="false" i="false" strike="noStrike" u="none" sz="1500">
                <a:solidFill>
                  <a:srgbClr val="4A4842"/>
                </a:solidFill>
                <a:latin typeface="Lora"/>
                <a:ea typeface="Lora"/>
                <a:cs typeface="Lora"/>
                <a:sym typeface="Lora"/>
              </a:rPr>
              <a:t>· Write revised </a:t>
            </a:r>
            <a:r>
              <a:rPr lang="en-US" b="true" i="false" strike="noStrike" u="none" sz="1500">
                <a:solidFill>
                  <a:srgbClr val="4A4842"/>
                </a:solidFill>
                <a:latin typeface="Lora"/>
                <a:ea typeface="Lora"/>
                <a:cs typeface="Lora"/>
                <a:sym typeface="Lora"/>
              </a:rPr>
              <a:t>modules</a:t>
            </a:r>
            <a:r>
              <a:rPr lang="en-US" b="false" i="false" strike="noStrike" u="none" sz="1500">
                <a:solidFill>
                  <a:srgbClr val="4A4842"/>
                </a:solidFill>
                <a:latin typeface="Lora"/>
                <a:ea typeface="Lora"/>
                <a:cs typeface="Lora"/>
                <a:sym typeface="Lora"/>
              </a:rPr>
              <a:t> with Urdu annotations and local cultural comparisons</a:t>
            </a:r>
          </a:p>
          <a:p>
            <a:pPr algn="l" marL="0" indent="0">
              <a:lnSpc>
                <a:spcPct val="133333"/>
              </a:lnSpc>
            </a:pPr>
            <a:r>
              <a:rPr lang="en-US" b="false" i="false" strike="noStrike" u="none" sz="1500">
                <a:solidFill>
                  <a:srgbClr val="4A4842"/>
                </a:solidFill>
                <a:latin typeface="Lora"/>
                <a:ea typeface="Lora"/>
                <a:cs typeface="Lora"/>
                <a:sym typeface="Lora"/>
              </a:rPr>
              <a:t>· Build stronger </a:t>
            </a:r>
            <a:r>
              <a:rPr lang="en-US" b="true" i="false" strike="noStrike" u="none" sz="1500">
                <a:solidFill>
                  <a:srgbClr val="4A4842"/>
                </a:solidFill>
                <a:latin typeface="Lora"/>
                <a:ea typeface="Lora"/>
                <a:cs typeface="Lora"/>
                <a:sym typeface="Lora"/>
              </a:rPr>
              <a:t>teacher preparation</a:t>
            </a:r>
            <a:r>
              <a:rPr lang="en-US" b="false" i="false" strike="noStrike" u="none" sz="1500">
                <a:solidFill>
                  <a:srgbClr val="4A4842"/>
                </a:solidFill>
                <a:latin typeface="Lora"/>
                <a:ea typeface="Lora"/>
                <a:cs typeface="Lora"/>
                <a:sym typeface="Lora"/>
              </a:rPr>
              <a:t> programmes</a:t>
            </a:r>
          </a:p>
          <a:p>
            <a:pPr algn="l" marL="0" indent="0">
              <a:lnSpc>
                <a:spcPct val="133333"/>
              </a:lnSpc>
            </a:pPr>
            <a:r>
              <a:rPr lang="en-US" b="false" i="false" strike="noStrike" u="none" sz="1500">
                <a:solidFill>
                  <a:srgbClr val="8A8578"/>
                </a:solidFill>
                <a:latin typeface="Lora"/>
                <a:ea typeface="Lora"/>
                <a:cs typeface="Lora"/>
                <a:sym typeface="Lora"/>
              </a:rPr>
              <a:t>These are all product-side fixes, they take years to reach a classroom.</a:t>
            </a:r>
          </a:p>
        </p:txBody>
      </p:sp>
      <p:cxnSp>
        <p:nvCxnSpPr>
          <p:cNvPr name="Connector 7" id="7"/>
          <p:cNvCxnSpPr/>
          <p:nvPr/>
        </p:nvCxnSpPr>
        <p:spPr>
          <a:xfrm rot="-42969" flipH="false" flipV="false">
            <a:off x="5588040" y="4057650"/>
            <a:ext cx="10160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8" id="8"/>
          <p:cNvSpPr/>
          <p:nvPr/>
        </p:nvSpPr>
        <p:spPr>
          <a:xfrm rot="0" flipH="false" flipV="false">
            <a:off x="6858000" y="2260600"/>
            <a:ext cx="4191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8C4A34"/>
                </a:solidFill>
                <a:latin typeface="Lora"/>
                <a:ea typeface="Lora"/>
                <a:cs typeface="Lora"/>
                <a:sym typeface="Lora"/>
              </a:rPr>
              <a:t>What teachers already do</a:t>
            </a:r>
            <a:endParaRPr lang="en-US" sz="1100"/>
          </a:p>
        </p:txBody>
      </p:sp>
      <p:sp>
        <p:nvSpPr>
          <p:cNvPr name="AutoShape 9" id="9"/>
          <p:cNvSpPr/>
          <p:nvPr/>
        </p:nvSpPr>
        <p:spPr>
          <a:xfrm rot="0" flipH="false" flipV="false">
            <a:off x="6858000" y="2768600"/>
            <a:ext cx="4191000" cy="254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false" i="false" strike="noStrike" u="none" sz="1500">
                <a:solidFill>
                  <a:srgbClr val="4A4842"/>
                </a:solidFill>
                <a:latin typeface="Lora"/>
                <a:ea typeface="Lora"/>
                <a:cs typeface="Lora"/>
                <a:sym typeface="Lora"/>
              </a:rPr>
              <a:t>While that book is being written, teachers still walk in and teach.</a:t>
            </a:r>
            <a:endParaRPr lang="en-US" sz="1100"/>
          </a:p>
          <a:p>
            <a:pPr algn="l" marL="0" indent="0">
              <a:lnSpc>
                <a:spcPct val="133333"/>
              </a:lnSpc>
            </a:pPr>
            <a:r>
              <a:rPr lang="en-US" b="false" i="false" strike="noStrike" u="none" sz="1500">
                <a:solidFill>
                  <a:srgbClr val="4A4842"/>
                </a:solidFill>
                <a:latin typeface="Lora"/>
                <a:ea typeface="Lora"/>
                <a:cs typeface="Lora"/>
                <a:sym typeface="Lora"/>
              </a:rPr>
              <a:t>With a page that does not quite fit, they must, in the moment:</a:t>
            </a:r>
          </a:p>
          <a:p>
            <a:pPr algn="l" marL="0" indent="0">
              <a:lnSpc>
                <a:spcPct val="133333"/>
              </a:lnSpc>
            </a:pPr>
            <a:r>
              <a:rPr lang="en-US" b="false" i="false" strike="noStrike" u="none" sz="1500">
                <a:solidFill>
                  <a:srgbClr val="2A2A28"/>
                </a:solidFill>
                <a:latin typeface="Lora"/>
                <a:ea typeface="Lora"/>
                <a:cs typeface="Lora"/>
                <a:sym typeface="Lora"/>
              </a:rPr>
              <a:t>translate to Urdu · add a familiar example · skip a section · or simply teach the page as written.</a:t>
            </a:r>
          </a:p>
        </p:txBody>
      </p:sp>
      <p:cxnSp>
        <p:nvCxnSpPr>
          <p:cNvPr name="Connector 10" id="10"/>
          <p:cNvCxnSpPr/>
          <p:nvPr/>
        </p:nvCxnSpPr>
        <p:spPr>
          <a:xfrm rot="-4407" flipH="false" flipV="false">
            <a:off x="1143004" y="5784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1" id="11"/>
          <p:cNvSpPr/>
          <p:nvPr/>
        </p:nvSpPr>
        <p:spPr>
          <a:xfrm rot="0" flipH="false" flipV="false">
            <a:off x="1143000" y="5943600"/>
            <a:ext cx="990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true" strike="noStrike" u="none" sz="1500">
                <a:solidFill>
                  <a:srgbClr val="2A2A28"/>
                </a:solidFill>
                <a:latin typeface="Lora"/>
                <a:ea typeface="Lora"/>
                <a:cs typeface="Lora"/>
                <a:sym typeface="Lora"/>
              </a:rPr>
              <a:t>The study begins not from the materials that could exist in future, but from what teachers already do with the materials sitting in front of them.</a:t>
            </a:r>
            <a:endParaRPr lang="en-US" sz="1100"/>
          </a:p>
        </p:txBody>
      </p:sp>
    </p:spTree>
  </p:cSld>
  <p:clrMapOvr>
    <a:masterClrMapping/>
  </p:clrMapOvr>
</p:sld>
</file>

<file path=ppt/slides/slide5.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02 · KEY CONCEPTS</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900">
                <a:solidFill>
                  <a:srgbClr val="2A2A28"/>
                </a:solidFill>
                <a:latin typeface="Lora"/>
                <a:ea typeface="Lora"/>
                <a:cs typeface="Lora"/>
                <a:sym typeface="Lora"/>
              </a:rPr>
              <a:t>Recontextualization is not localization</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235200"/>
            <a:ext cx="457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8C4A34"/>
                </a:solidFill>
                <a:latin typeface="Lora"/>
                <a:ea typeface="Lora"/>
                <a:cs typeface="Lora"/>
                <a:sym typeface="Lora"/>
              </a:rPr>
              <a:t>Recontextualization</a:t>
            </a:r>
            <a:endParaRPr lang="en-US" sz="1100"/>
          </a:p>
        </p:txBody>
      </p:sp>
      <p:sp>
        <p:nvSpPr>
          <p:cNvPr name="AutoShape 6" id="6"/>
          <p:cNvSpPr/>
          <p:nvPr/>
        </p:nvSpPr>
        <p:spPr>
          <a:xfrm rot="0" flipH="false" flipV="false">
            <a:off x="1143000" y="2717800"/>
            <a:ext cx="457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A8578"/>
                </a:solidFill>
                <a:latin typeface="Lora"/>
                <a:ea typeface="Lora"/>
                <a:cs typeface="Lora"/>
                <a:sym typeface="Lora"/>
              </a:rPr>
              <a:t>THE MECHANISM, WHAT TEACHERS DO</a:t>
            </a:r>
            <a:endParaRPr lang="en-US" sz="1100"/>
          </a:p>
        </p:txBody>
      </p:sp>
      <p:sp>
        <p:nvSpPr>
          <p:cNvPr name="AutoShape 7" id="7"/>
          <p:cNvSpPr/>
          <p:nvPr/>
        </p:nvSpPr>
        <p:spPr>
          <a:xfrm rot="0" flipH="false" flipV="false">
            <a:off x="1143000" y="3149600"/>
            <a:ext cx="4572000" cy="254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9166"/>
              </a:lnSpc>
              <a:defRPr/>
            </a:pPr>
            <a:r>
              <a:rPr lang="en-US" b="false" i="false" strike="noStrike" u="none" sz="1400">
                <a:solidFill>
                  <a:srgbClr val="4A4842"/>
                </a:solidFill>
                <a:latin typeface="Lora"/>
                <a:ea typeface="Lora"/>
                <a:cs typeface="Lora"/>
                <a:sym typeface="Lora"/>
              </a:rPr>
              <a:t>The process through which teachers reinterpret and reshape published materials once they reach the classroom.</a:t>
            </a:r>
            <a:endParaRPr lang="en-US" sz="1100"/>
          </a:p>
          <a:p>
            <a:pPr algn="l" marL="0" indent="0">
              <a:lnSpc>
                <a:spcPct val="129166"/>
              </a:lnSpc>
            </a:pPr>
            <a:r>
              <a:rPr lang="en-US" b="false" i="false" strike="noStrike" u="none" sz="1400">
                <a:solidFill>
                  <a:srgbClr val="2A2A28"/>
                </a:solidFill>
                <a:latin typeface="Lora"/>
                <a:ea typeface="Lora"/>
                <a:cs typeface="Lora"/>
                <a:sym typeface="Lora"/>
              </a:rPr>
              <a:t>Visible moves:</a:t>
            </a:r>
            <a:r>
              <a:rPr lang="en-US" b="false" i="false" strike="noStrike" u="none" sz="1400">
                <a:solidFill>
                  <a:srgbClr val="4A4842"/>
                </a:solidFill>
                <a:latin typeface="Lora"/>
                <a:ea typeface="Lora"/>
                <a:cs typeface="Lora"/>
                <a:sym typeface="Lora"/>
              </a:rPr>
              <a:t> translation, added explanation, cutting, substitution, reordering.</a:t>
            </a:r>
          </a:p>
          <a:p>
            <a:pPr algn="l" marL="0" indent="0">
              <a:lnSpc>
                <a:spcPct val="129166"/>
              </a:lnSpc>
            </a:pPr>
            <a:r>
              <a:rPr lang="en-US" b="false" i="false" strike="noStrike" u="none" sz="1400">
                <a:solidFill>
                  <a:srgbClr val="2A2A28"/>
                </a:solidFill>
                <a:latin typeface="Lora"/>
                <a:ea typeface="Lora"/>
                <a:cs typeface="Lora"/>
                <a:sym typeface="Lora"/>
              </a:rPr>
              <a:t>Quieter shifts:</a:t>
            </a:r>
            <a:r>
              <a:rPr lang="en-US" b="false" i="false" strike="noStrike" u="none" sz="1400">
                <a:solidFill>
                  <a:srgbClr val="4A4842"/>
                </a:solidFill>
                <a:latin typeface="Lora"/>
                <a:ea typeface="Lora"/>
                <a:cs typeface="Lora"/>
                <a:sym typeface="Lora"/>
              </a:rPr>
              <a:t> changes in emphasis, purpose, and how much room students get to participate.</a:t>
            </a:r>
          </a:p>
        </p:txBody>
      </p:sp>
      <p:cxnSp>
        <p:nvCxnSpPr>
          <p:cNvPr name="Connector 8" id="8"/>
          <p:cNvCxnSpPr/>
          <p:nvPr/>
        </p:nvCxnSpPr>
        <p:spPr>
          <a:xfrm rot="5386777" flipH="false" flipV="false">
            <a:off x="4445000" y="3930662"/>
            <a:ext cx="3302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9" id="9"/>
          <p:cNvSpPr/>
          <p:nvPr/>
        </p:nvSpPr>
        <p:spPr>
          <a:xfrm rot="0" flipH="false" flipV="false">
            <a:off x="6477000" y="2235200"/>
            <a:ext cx="457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2A2A28"/>
                </a:solidFill>
                <a:latin typeface="Lora"/>
                <a:ea typeface="Lora"/>
                <a:cs typeface="Lora"/>
                <a:sym typeface="Lora"/>
              </a:rPr>
              <a:t>Localization</a:t>
            </a:r>
            <a:endParaRPr lang="en-US" sz="1100"/>
          </a:p>
        </p:txBody>
      </p:sp>
      <p:sp>
        <p:nvSpPr>
          <p:cNvPr name="AutoShape 10" id="10"/>
          <p:cNvSpPr/>
          <p:nvPr/>
        </p:nvSpPr>
        <p:spPr>
          <a:xfrm rot="0" flipH="false" flipV="false">
            <a:off x="6477000" y="2717800"/>
            <a:ext cx="4572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A8578"/>
                </a:solidFill>
                <a:latin typeface="Lora"/>
                <a:ea typeface="Lora"/>
                <a:cs typeface="Lora"/>
                <a:sym typeface="Lora"/>
              </a:rPr>
              <a:t>ONE POSSIBLE OUTCOME</a:t>
            </a:r>
            <a:endParaRPr lang="en-US" sz="1100"/>
          </a:p>
        </p:txBody>
      </p:sp>
      <p:sp>
        <p:nvSpPr>
          <p:cNvPr name="AutoShape 11" id="11"/>
          <p:cNvSpPr/>
          <p:nvPr/>
        </p:nvSpPr>
        <p:spPr>
          <a:xfrm rot="0" flipH="false" flipV="false">
            <a:off x="6477000" y="3149600"/>
            <a:ext cx="4572000" cy="254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9166"/>
              </a:lnSpc>
              <a:defRPr/>
            </a:pPr>
            <a:r>
              <a:rPr lang="en-US" b="false" i="false" strike="noStrike" u="none" sz="1400">
                <a:solidFill>
                  <a:srgbClr val="4A4842"/>
                </a:solidFill>
                <a:latin typeface="Lora"/>
                <a:ea typeface="Lora"/>
                <a:cs typeface="Lora"/>
                <a:sym typeface="Lora"/>
              </a:rPr>
              <a:t>The name the Pakistan conversation already uses. It applies when recontextualization happens to orient the materials toward Pakistani learners and their context.</a:t>
            </a:r>
            <a:endParaRPr lang="en-US" sz="1100"/>
          </a:p>
          <a:p>
            <a:pPr algn="l" marL="0" indent="0">
              <a:lnSpc>
                <a:spcPct val="129166"/>
              </a:lnSpc>
            </a:pPr>
            <a:r>
              <a:rPr lang="en-US" b="false" i="false" strike="noStrike" u="none" sz="1400">
                <a:solidFill>
                  <a:srgbClr val="2A2A28"/>
                </a:solidFill>
                <a:latin typeface="Lora"/>
                <a:ea typeface="Lora"/>
                <a:cs typeface="Lora"/>
                <a:sym typeface="Lora"/>
              </a:rPr>
              <a:t>Not a third theory, not a pre-set goal, not a test of whether a lesson was "better".</a:t>
            </a:r>
          </a:p>
        </p:txBody>
      </p:sp>
      <p:cxnSp>
        <p:nvCxnSpPr>
          <p:cNvPr name="Connector 12" id="12"/>
          <p:cNvCxnSpPr/>
          <p:nvPr/>
        </p:nvCxnSpPr>
        <p:spPr>
          <a:xfrm rot="-4407" flipH="false" flipV="false">
            <a:off x="1143004" y="5911850"/>
            <a:ext cx="9906000" cy="12700"/>
          </a:xfrm>
          <a:prstGeom prst="straightConnector1">
            <a:avLst/>
          </a:prstGeom>
          <a:solidFill>
            <a:srgbClr val="DEE0E3">
              <a:alpha val="100000"/>
            </a:srgbClr>
          </a:solidFill>
          <a:ln w="12700" cmpd="sng" cap="flat">
            <a:solidFill>
              <a:srgbClr val="8C4A34">
                <a:alpha val="100000"/>
              </a:srgbClr>
            </a:solidFill>
            <a:prstDash val="solid"/>
            <a:round/>
            <a:headEnd type="none" w="med" len="med"/>
            <a:tailEnd type="none" w="med" len="med"/>
          </a:ln>
        </p:spPr>
      </p:cxnSp>
      <p:sp>
        <p:nvSpPr>
          <p:cNvPr name="AutoShape 13" id="13"/>
          <p:cNvSpPr/>
          <p:nvPr/>
        </p:nvSpPr>
        <p:spPr>
          <a:xfrm rot="0" flipH="false" flipV="false">
            <a:off x="1143000" y="6070600"/>
            <a:ext cx="990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true" strike="noStrike" u="none" sz="1400">
                <a:solidFill>
                  <a:srgbClr val="2A2A28"/>
                </a:solidFill>
                <a:latin typeface="Lora"/>
                <a:ea typeface="Lora"/>
                <a:cs typeface="Lora"/>
                <a:sym typeface="Lora"/>
              </a:rPr>
              <a:t>They are related but not identical. A teacher may recontextualize only to finish a syllabus on time. Localization names the process or outcome when that work orients materials toward a Pakistani classroom.</a:t>
            </a:r>
            <a:r>
              <a:rPr lang="en-US" b="true" i="true" strike="noStrike" u="none" sz="1400">
                <a:solidFill>
                  <a:srgbClr val="2A2A28"/>
                </a:solidFill>
                <a:latin typeface="Lora"/>
                <a:ea typeface="Lora"/>
                <a:cs typeface="Lora"/>
                <a:sym typeface="Lora"/>
              </a:rPr>
              <a:t/>
            </a:r>
            <a:r>
              <a:rPr lang="en-US" b="false" i="true" strike="noStrike" u="none" sz="1400">
                <a:solidFill>
                  <a:srgbClr val="2A2A28"/>
                </a:solidFill>
                <a:latin typeface="Lora"/>
                <a:ea typeface="Lora"/>
                <a:cs typeface="Lora"/>
                <a:sym typeface="Lora"/>
              </a:rPr>
              <a:t/>
            </a:r>
            <a:endParaRPr lang="en-US" sz="1100"/>
          </a:p>
        </p:txBody>
      </p:sp>
    </p:spTree>
  </p:cSld>
  <p:clrMapOvr>
    <a:masterClrMapping/>
  </p:clrMapOvr>
</p:sld>
</file>

<file path=ppt/slides/slide6.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03 · LITERATURE &amp; GAP</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What each conversation can and cannot show</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graphicFrame>
        <p:nvGraphicFramePr>
          <p:cNvPr name="Table 5" id="5"/>
          <p:cNvGraphicFramePr>
            <a:graphicFrameLocks noGrp="true"/>
          </p:cNvGraphicFramePr>
          <p:nvPr/>
        </p:nvGraphicFramePr>
        <p:xfrm>
          <a:off x="1143000" y="2133600"/>
          <a:ext cx="9906000" cy="4013200"/>
        </p:xfrm>
        <a:graphic>
          <a:graphicData uri="http://schemas.openxmlformats.org/drawingml/2006/table">
            <a:tbl>
              <a:tblPr>
                <a:effectLst/>
              </a:tblPr>
              <a:tblGrid>
                <a:gridCol w="2286000"/>
                <a:gridCol w="3810000"/>
                <a:gridCol w="3810000"/>
              </a:tblGrid>
              <a:tr h="482600">
                <a:tc>
                  <a:txBody>
                    <a:bodyPr anchor="t" rtlCol="false"/>
                    <a:lstStyle/>
                    <a:p>
                      <a:pPr algn="l" marL="0" indent="0">
                        <a:lnSpc>
                          <a:spcPct val="100000"/>
                        </a:lnSpc>
                        <a:defRPr/>
                      </a:pPr>
                      <a:r>
                        <a:rPr lang="en-US" b="true" i="false" strike="noStrike" u="none" sz="1200">
                          <a:solidFill>
                            <a:srgbClr val="F4EFE4"/>
                          </a:solidFill>
                          <a:latin typeface="Noto Sans SC"/>
                          <a:ea typeface="Noto Sans SC"/>
                          <a:cs typeface="Noto Sans SC"/>
                          <a:sym typeface="Noto Sans SC"/>
                        </a:rPr>
                        <a:t>Conversation</a:t>
                      </a:r>
                      <a:endParaRPr lang="en-US" sz="1100"/>
                    </a:p>
                  </a:txBody>
                  <a:tcPr anchor="ctr" anchorCtr="false" marL="101600" marR="101600" marT="101600" marB="101600">
                    <a:lnL>
                      <a:noFill/>
                    </a:lnL>
                    <a:lnR>
                      <a:noFill/>
                    </a:lnR>
                    <a:lnT>
                      <a:noFill/>
                    </a:lnT>
                    <a:lnB>
                      <a:noFill/>
                    </a:lnB>
                    <a:solidFill>
                      <a:srgbClr val="2A2A28">
                        <a:alpha val="100000"/>
                      </a:srgbClr>
                    </a:solidFill>
                  </a:tcPr>
                </a:tc>
                <a:tc>
                  <a:txBody>
                    <a:bodyPr anchor="t" rtlCol="false"/>
                    <a:lstStyle/>
                    <a:p>
                      <a:pPr algn="l" marL="0" indent="0">
                        <a:lnSpc>
                          <a:spcPct val="100000"/>
                        </a:lnSpc>
                        <a:defRPr/>
                      </a:pPr>
                      <a:r>
                        <a:rPr lang="en-US" b="true" i="false" strike="noStrike" u="none" sz="1200">
                          <a:solidFill>
                            <a:srgbClr val="F4EFE4"/>
                          </a:solidFill>
                          <a:latin typeface="Noto Sans SC"/>
                          <a:ea typeface="Noto Sans SC"/>
                          <a:cs typeface="Noto Sans SC"/>
                          <a:sym typeface="Noto Sans SC"/>
                        </a:rPr>
                        <a:t>What it can show</a:t>
                      </a:r>
                      <a:endParaRPr lang="en-US" sz="1100"/>
                    </a:p>
                  </a:txBody>
                  <a:tcPr anchor="ctr" anchorCtr="false" marL="101600" marR="101600" marT="101600" marB="101600">
                    <a:lnL>
                      <a:noFill/>
                    </a:lnL>
                    <a:lnR>
                      <a:noFill/>
                    </a:lnR>
                    <a:lnT>
                      <a:noFill/>
                    </a:lnT>
                    <a:lnB>
                      <a:noFill/>
                    </a:lnB>
                    <a:solidFill>
                      <a:srgbClr val="2A2A28">
                        <a:alpha val="100000"/>
                      </a:srgbClr>
                    </a:solidFill>
                  </a:tcPr>
                </a:tc>
                <a:tc>
                  <a:txBody>
                    <a:bodyPr anchor="t" rtlCol="false"/>
                    <a:lstStyle/>
                    <a:p>
                      <a:pPr algn="l" marL="0" indent="0">
                        <a:lnSpc>
                          <a:spcPct val="100000"/>
                        </a:lnSpc>
                        <a:defRPr/>
                      </a:pPr>
                      <a:r>
                        <a:rPr lang="en-US" b="true" i="false" strike="noStrike" u="none" sz="1200">
                          <a:solidFill>
                            <a:srgbClr val="F4EFE4"/>
                          </a:solidFill>
                          <a:latin typeface="Noto Sans SC"/>
                          <a:ea typeface="Noto Sans SC"/>
                          <a:cs typeface="Noto Sans SC"/>
                          <a:sym typeface="Noto Sans SC"/>
                        </a:rPr>
                        <a:t>What it cannot show here</a:t>
                      </a:r>
                      <a:endParaRPr lang="en-US" sz="1100"/>
                    </a:p>
                  </a:txBody>
                  <a:tcPr anchor="ctr" anchorCtr="false" marL="101600" marR="101600" marT="101600" marB="101600">
                    <a:lnL>
                      <a:noFill/>
                    </a:lnL>
                    <a:lnR>
                      <a:noFill/>
                    </a:lnR>
                    <a:lnT>
                      <a:noFill/>
                    </a:lnT>
                    <a:lnB>
                      <a:noFill/>
                    </a:lnB>
                    <a:solidFill>
                      <a:srgbClr val="2A2A28">
                        <a:alpha val="100000"/>
                      </a:srgbClr>
                    </a:solidFill>
                  </a:tcPr>
                </a:tc>
              </a:tr>
              <a:tr h="711200">
                <a:tc>
                  <a:txBody>
                    <a:bodyPr anchor="t" rtlCol="false"/>
                    <a:lstStyle/>
                    <a:p>
                      <a:pPr algn="l" marL="0" indent="0">
                        <a:lnSpc>
                          <a:spcPct val="100000"/>
                        </a:lnSpc>
                        <a:defRPr/>
                      </a:pPr>
                      <a:r>
                        <a:rPr lang="en-US" b="true" i="false" strike="noStrike" u="none" sz="1150">
                          <a:solidFill>
                            <a:srgbClr val="2A2A28"/>
                          </a:solidFill>
                          <a:latin typeface="Noto Sans SC"/>
                          <a:ea typeface="Noto Sans SC"/>
                          <a:cs typeface="Noto Sans SC"/>
                          <a:sym typeface="Noto Sans SC"/>
                        </a:rPr>
                        <a:t>Materials-in-use</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The coursebook as the de facto curriculum, organizing turns and topics</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Pakistani teachers of Chinese with the materials actually in use</a:t>
                      </a:r>
                      <a:endParaRPr lang="en-US" sz="1100"/>
                    </a:p>
                  </a:txBody>
                  <a:tcPr anchor="ctr" anchorCtr="false" marL="101600" marR="101600" marT="101600" marB="101600">
                    <a:lnL>
                      <a:noFill/>
                    </a:lnL>
                    <a:lnR>
                      <a:noFill/>
                    </a:lnR>
                    <a:lnT>
                      <a:noFill/>
                    </a:lnT>
                    <a:lnB>
                      <a:noFill/>
                    </a:lnB>
                    <a:noFill/>
                  </a:tcPr>
                </a:tc>
              </a:tr>
              <a:tr h="711200">
                <a:tc>
                  <a:txBody>
                    <a:bodyPr anchor="t" rtlCol="false"/>
                    <a:lstStyle/>
                    <a:p>
                      <a:pPr algn="l" marL="0" indent="0">
                        <a:lnSpc>
                          <a:spcPct val="100000"/>
                        </a:lnSpc>
                        <a:defRPr/>
                      </a:pPr>
                      <a:r>
                        <a:rPr lang="en-US" b="true" i="false" strike="noStrike" u="none" sz="1150">
                          <a:solidFill>
                            <a:srgbClr val="2A2A28"/>
                          </a:solidFill>
                          <a:latin typeface="Noto Sans SC"/>
                          <a:ea typeface="Noto Sans SC"/>
                          <a:cs typeface="Noto Sans SC"/>
                          <a:sym typeface="Noto Sans SC"/>
                        </a:rPr>
                        <a:t>Materials adaptation</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Moves, workload, and coursebook-led use under constraint</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Whether a busy move-count actually transformed the knowledge taught</a:t>
                      </a:r>
                      <a:endParaRPr lang="en-US" sz="1100"/>
                    </a:p>
                  </a:txBody>
                  <a:tcPr anchor="ctr" anchorCtr="false" marL="101600" marR="101600" marT="101600" marB="101600">
                    <a:lnL>
                      <a:noFill/>
                    </a:lnL>
                    <a:lnR>
                      <a:noFill/>
                    </a:lnR>
                    <a:lnT>
                      <a:noFill/>
                    </a:lnT>
                    <a:lnB>
                      <a:noFill/>
                    </a:lnB>
                    <a:noFill/>
                  </a:tcPr>
                </a:tc>
              </a:tr>
              <a:tr h="711200">
                <a:tc>
                  <a:txBody>
                    <a:bodyPr anchor="t" rtlCol="false"/>
                    <a:lstStyle/>
                    <a:p>
                      <a:pPr algn="l" marL="0" indent="0">
                        <a:lnSpc>
                          <a:spcPct val="100000"/>
                        </a:lnSpc>
                        <a:defRPr/>
                      </a:pPr>
                      <a:r>
                        <a:rPr lang="en-US" b="true" i="false" strike="noStrike" u="none" sz="1150">
                          <a:solidFill>
                            <a:srgbClr val="2A2A28"/>
                          </a:solidFill>
                          <a:latin typeface="Noto Sans SC"/>
                          <a:ea typeface="Noto Sans SC"/>
                          <a:cs typeface="Noto Sans SC"/>
                          <a:sym typeface="Noto Sans SC"/>
                        </a:rPr>
                        <a:t>CFL product studies</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Official selection already inscribed in global textbooks (e.g. Sri Lanka)</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What was actually taught in a given Pakistani classroom</a:t>
                      </a:r>
                      <a:endParaRPr lang="en-US" sz="1100"/>
                    </a:p>
                  </a:txBody>
                  <a:tcPr anchor="ctr" anchorCtr="false" marL="101600" marR="101600" marT="101600" marB="101600">
                    <a:lnL>
                      <a:noFill/>
                    </a:lnL>
                    <a:lnR>
                      <a:noFill/>
                    </a:lnR>
                    <a:lnT>
                      <a:noFill/>
                    </a:lnT>
                    <a:lnB>
                      <a:noFill/>
                    </a:lnB>
                    <a:noFill/>
                  </a:tcPr>
                </a:tc>
              </a:tr>
              <a:tr h="711200">
                <a:tc>
                  <a:txBody>
                    <a:bodyPr anchor="t" rtlCol="false"/>
                    <a:lstStyle/>
                    <a:p>
                      <a:pPr algn="l" marL="0" indent="0">
                        <a:lnSpc>
                          <a:spcPct val="100000"/>
                        </a:lnSpc>
                        <a:defRPr/>
                      </a:pPr>
                      <a:r>
                        <a:rPr lang="en-US" b="true" i="false" strike="noStrike" u="none" sz="1150">
                          <a:solidFill>
                            <a:srgbClr val="2A2A28"/>
                          </a:solidFill>
                          <a:latin typeface="Noto Sans SC"/>
                          <a:ea typeface="Noto Sans SC"/>
                          <a:cs typeface="Noto Sans SC"/>
                          <a:sym typeface="Noto Sans SC"/>
                        </a:rPr>
                        <a:t>Ecological agency</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Restricted, addition-only and compliant forms (EFL in China, Vietnam; Belarus CFL)</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This population and this materials object, studied together</a:t>
                      </a:r>
                      <a:endParaRPr lang="en-US" sz="1100"/>
                    </a:p>
                  </a:txBody>
                  <a:tcPr anchor="ctr" anchorCtr="false" marL="101600" marR="101600" marT="101600" marB="101600">
                    <a:lnL>
                      <a:noFill/>
                    </a:lnL>
                    <a:lnR>
                      <a:noFill/>
                    </a:lnR>
                    <a:lnT>
                      <a:noFill/>
                    </a:lnT>
                    <a:lnB>
                      <a:noFill/>
                    </a:lnB>
                    <a:noFill/>
                  </a:tcPr>
                </a:tc>
              </a:tr>
              <a:tr h="685800">
                <a:tc>
                  <a:txBody>
                    <a:bodyPr anchor="t" rtlCol="false"/>
                    <a:lstStyle/>
                    <a:p>
                      <a:pPr algn="l" marL="0" indent="0">
                        <a:lnSpc>
                          <a:spcPct val="100000"/>
                        </a:lnSpc>
                        <a:defRPr/>
                      </a:pPr>
                      <a:r>
                        <a:rPr lang="en-US" b="true" i="false" strike="noStrike" u="none" sz="1150">
                          <a:solidFill>
                            <a:srgbClr val="8C4A34"/>
                          </a:solidFill>
                          <a:latin typeface="Noto Sans SC"/>
                          <a:ea typeface="Noto Sans SC"/>
                          <a:cs typeface="Noto Sans SC"/>
                          <a:sym typeface="Noto Sans SC"/>
                        </a:rPr>
                        <a:t>Pakistan CFL</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4A4842"/>
                          </a:solidFill>
                          <a:latin typeface="Noto Sans SC"/>
                          <a:ea typeface="Noto Sans SC"/>
                          <a:cs typeface="Noto Sans SC"/>
                          <a:sym typeface="Noto Sans SC"/>
                        </a:rPr>
                        <a:t>Programme expansion, perceived misfit; HSK Standard Course widely used</a:t>
                      </a:r>
                      <a:endParaRPr lang="en-US" sz="1100"/>
                    </a:p>
                  </a:txBody>
                  <a:tcPr anchor="ctr" anchorCtr="false" marL="101600" marR="101600" marT="101600" marB="101600">
                    <a:lnL>
                      <a:noFill/>
                    </a:lnL>
                    <a:lnR>
                      <a:noFill/>
                    </a:lnR>
                    <a:lnT>
                      <a:noFill/>
                    </a:lnT>
                    <a:lnB>
                      <a:noFill/>
                    </a:lnB>
                    <a:noFill/>
                  </a:tcPr>
                </a:tc>
                <a:tc>
                  <a:txBody>
                    <a:bodyPr anchor="t" rtlCol="false"/>
                    <a:lstStyle/>
                    <a:p>
                      <a:pPr algn="l" marL="0" indent="0">
                        <a:lnSpc>
                          <a:spcPct val="100000"/>
                        </a:lnSpc>
                        <a:defRPr/>
                      </a:pPr>
                      <a:r>
                        <a:rPr lang="en-US" b="false" i="false" strike="noStrike" u="none" sz="1150">
                          <a:solidFill>
                            <a:srgbClr val="8C4A34"/>
                          </a:solidFill>
                          <a:latin typeface="Noto Sans SC"/>
                          <a:ea typeface="Noto Sans SC"/>
                          <a:cs typeface="Noto Sans SC"/>
                          <a:sym typeface="Noto Sans SC"/>
                        </a:rPr>
                        <a:t>Observation plus a comparison of the prescribed page with what was taught</a:t>
                      </a:r>
                      <a:endParaRPr lang="en-US" sz="1100"/>
                    </a:p>
                  </a:txBody>
                  <a:tcPr anchor="ctr" anchorCtr="false" marL="101600" marR="101600" marT="101600" marB="101600">
                    <a:lnL>
                      <a:noFill/>
                    </a:lnL>
                    <a:lnR>
                      <a:noFill/>
                    </a:lnR>
                    <a:lnT>
                      <a:noFill/>
                    </a:lnT>
                    <a:lnB>
                      <a:noFill/>
                    </a:lnB>
                    <a:noFill/>
                  </a:tcPr>
                </a:tc>
              </a:tr>
            </a:tbl>
          </a:graphicData>
        </a:graphic>
      </p:graphicFrame>
      <p:sp>
        <p:nvSpPr>
          <p:cNvPr name="AutoShape 6" id="6"/>
          <p:cNvSpPr/>
          <p:nvPr/>
        </p:nvSpPr>
        <p:spPr>
          <a:xfrm rot="0" flipH="false" flipV="false">
            <a:off x="1143000" y="6299200"/>
            <a:ext cx="9906000" cy="431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Interview-reported willingness is not enacted practice (Criado, 2023; Neupane, 2025), a Pakistan survey of beliefs would reproduce that gap as if it were the finding.</a:t>
            </a:r>
            <a:endParaRPr lang="en-US" sz="1100"/>
          </a:p>
        </p:txBody>
      </p:sp>
    </p:spTree>
  </p:cSld>
  <p:clrMapOvr>
    <a:masterClrMapping/>
  </p:clrMapOvr>
</p:sld>
</file>

<file path=ppt/slides/slide7.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04 · RESEARCH QUESTIONS</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900">
                <a:solidFill>
                  <a:srgbClr val="2A2A28"/>
                </a:solidFill>
                <a:latin typeface="Lora"/>
                <a:ea typeface="Lora"/>
                <a:cs typeface="Lora"/>
                <a:sym typeface="Lora"/>
              </a:rPr>
              <a:t>One core question, three supporting questions</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cxnSp>
        <p:nvCxnSpPr>
          <p:cNvPr name="Connector 5" id="5"/>
          <p:cNvCxnSpPr/>
          <p:nvPr/>
        </p:nvCxnSpPr>
        <p:spPr>
          <a:xfrm rot="5372276" flipH="false" flipV="false">
            <a:off x="355600" y="2965476"/>
            <a:ext cx="1574800" cy="12700"/>
          </a:xfrm>
          <a:prstGeom prst="straightConnector1">
            <a:avLst/>
          </a:prstGeom>
          <a:solidFill>
            <a:srgbClr val="DEE0E3">
              <a:alpha val="100000"/>
            </a:srgbClr>
          </a:solidFill>
          <a:ln w="38100" cmpd="sng" cap="flat">
            <a:solidFill>
              <a:srgbClr val="8C4A34">
                <a:alpha val="100000"/>
              </a:srgbClr>
            </a:solidFill>
            <a:prstDash val="solid"/>
            <a:round/>
            <a:headEnd type="none" w="lg" len="lg"/>
            <a:tailEnd type="none" w="lg" len="lg"/>
          </a:ln>
        </p:spPr>
      </p:cxnSp>
      <p:sp>
        <p:nvSpPr>
          <p:cNvPr name="AutoShape 6" id="6"/>
          <p:cNvSpPr/>
          <p:nvPr/>
        </p:nvSpPr>
        <p:spPr>
          <a:xfrm rot="0" flipH="false" flipV="false">
            <a:off x="1447800" y="2184400"/>
            <a:ext cx="96012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CORE QUESTION</a:t>
            </a:r>
            <a:endParaRPr lang="en-US" sz="1100"/>
          </a:p>
        </p:txBody>
      </p:sp>
      <p:sp>
        <p:nvSpPr>
          <p:cNvPr name="AutoShape 7" id="7"/>
          <p:cNvSpPr/>
          <p:nvPr/>
        </p:nvSpPr>
        <p:spPr>
          <a:xfrm rot="0" flipH="false" flipV="false">
            <a:off x="1447800" y="2514600"/>
            <a:ext cx="96012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800">
                <a:solidFill>
                  <a:srgbClr val="2A2A28"/>
                </a:solidFill>
                <a:latin typeface="Lora"/>
                <a:ea typeface="Lora"/>
                <a:cs typeface="Lora"/>
                <a:sym typeface="Lora"/>
              </a:rPr>
              <a:t>How do Pakistani teachers of Chinese recontextualize Chinese-language teaching materials in classroom practice, and how is their agency achieved or constrained within the ecological conditions of their work?</a:t>
            </a:r>
            <a:endParaRPr lang="en-US" sz="1100"/>
          </a:p>
        </p:txBody>
      </p:sp>
      <p:sp>
        <p:nvSpPr>
          <p:cNvPr name="AutoShape 8" id="8"/>
          <p:cNvSpPr/>
          <p:nvPr/>
        </p:nvSpPr>
        <p:spPr>
          <a:xfrm rot="0" flipH="false" flipV="false">
            <a:off x="1143000" y="4165600"/>
            <a:ext cx="3048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8C4A34"/>
                </a:solidFill>
                <a:latin typeface="Lora"/>
                <a:ea typeface="Lora"/>
                <a:cs typeface="Lora"/>
                <a:sym typeface="Lora"/>
              </a:rPr>
              <a:t>RQ1 · What do teachers do</a:t>
            </a:r>
            <a:endParaRPr lang="en-US" sz="1100"/>
          </a:p>
        </p:txBody>
      </p:sp>
      <p:sp>
        <p:nvSpPr>
          <p:cNvPr name="AutoShape 9" id="9"/>
          <p:cNvSpPr/>
          <p:nvPr/>
        </p:nvSpPr>
        <p:spPr>
          <a:xfrm rot="0" flipH="false" flipV="false">
            <a:off x="1143000" y="4597400"/>
            <a:ext cx="3048000" cy="190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0833"/>
              </a:lnSpc>
              <a:defRPr/>
            </a:pPr>
            <a:r>
              <a:rPr lang="en-US" b="false" i="false" strike="noStrike" u="none" sz="1300">
                <a:solidFill>
                  <a:srgbClr val="4A4842"/>
                </a:solidFill>
                <a:latin typeface="Lora"/>
                <a:ea typeface="Lora"/>
                <a:cs typeface="Lora"/>
                <a:sym typeface="Lora"/>
              </a:rPr>
              <a:t>Which recontextualization practices are enacted, addition, omission, substitution, reordering, translanguaging, cultural filtering, or faithful transmission?</a:t>
            </a:r>
            <a:endParaRPr lang="en-US" sz="1100"/>
          </a:p>
        </p:txBody>
      </p:sp>
      <p:cxnSp>
        <p:nvCxnSpPr>
          <p:cNvPr name="Connector 10" id="10"/>
          <p:cNvCxnSpPr/>
          <p:nvPr/>
        </p:nvCxnSpPr>
        <p:spPr>
          <a:xfrm rot="5379537" flipH="false" flipV="false">
            <a:off x="3314700" y="5276869"/>
            <a:ext cx="21336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1" id="11"/>
          <p:cNvSpPr/>
          <p:nvPr/>
        </p:nvSpPr>
        <p:spPr>
          <a:xfrm rot="0" flipH="false" flipV="false">
            <a:off x="4673600" y="4165600"/>
            <a:ext cx="3048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8C4A34"/>
                </a:solidFill>
                <a:latin typeface="Lora"/>
                <a:ea typeface="Lora"/>
                <a:cs typeface="Lora"/>
                <a:sym typeface="Lora"/>
              </a:rPr>
              <a:t>RQ2 · Why do they do it</a:t>
            </a:r>
            <a:endParaRPr lang="en-US" sz="1100"/>
          </a:p>
        </p:txBody>
      </p:sp>
      <p:sp>
        <p:nvSpPr>
          <p:cNvPr name="AutoShape 12" id="12"/>
          <p:cNvSpPr/>
          <p:nvPr/>
        </p:nvSpPr>
        <p:spPr>
          <a:xfrm rot="0" flipH="false" flipV="false">
            <a:off x="4673600" y="4597400"/>
            <a:ext cx="3048000" cy="190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0833"/>
              </a:lnSpc>
              <a:defRPr/>
            </a:pPr>
            <a:r>
              <a:rPr lang="en-US" b="false" i="false" strike="noStrike" u="none" sz="1300">
                <a:solidFill>
                  <a:srgbClr val="4A4842"/>
                </a:solidFill>
                <a:latin typeface="Lora"/>
                <a:ea typeface="Lora"/>
                <a:cs typeface="Lora"/>
                <a:sym typeface="Lora"/>
              </a:rPr>
              <a:t>How do teachers justify decisions in relation to learners, pedagogy, culture, language resources (Chinese / Urdu / English), assessment, time and professional identity?</a:t>
            </a:r>
            <a:endParaRPr lang="en-US" sz="1100"/>
          </a:p>
        </p:txBody>
      </p:sp>
      <p:cxnSp>
        <p:nvCxnSpPr>
          <p:cNvPr name="Connector 13" id="13"/>
          <p:cNvCxnSpPr/>
          <p:nvPr/>
        </p:nvCxnSpPr>
        <p:spPr>
          <a:xfrm rot="5379537" flipH="false" flipV="false">
            <a:off x="6845300" y="5276869"/>
            <a:ext cx="21336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4" id="14"/>
          <p:cNvSpPr/>
          <p:nvPr/>
        </p:nvSpPr>
        <p:spPr>
          <a:xfrm rot="0" flipH="false" flipV="false">
            <a:off x="8204200" y="4165600"/>
            <a:ext cx="28448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8C4A34"/>
                </a:solidFill>
                <a:latin typeface="Lora"/>
                <a:ea typeface="Lora"/>
                <a:cs typeface="Lora"/>
                <a:sym typeface="Lora"/>
              </a:rPr>
              <a:t>RQ3 · What enables / blocks</a:t>
            </a:r>
            <a:endParaRPr lang="en-US" sz="1100"/>
          </a:p>
        </p:txBody>
      </p:sp>
      <p:sp>
        <p:nvSpPr>
          <p:cNvPr name="AutoShape 15" id="15"/>
          <p:cNvSpPr/>
          <p:nvPr/>
        </p:nvSpPr>
        <p:spPr>
          <a:xfrm rot="0" flipH="false" flipV="false">
            <a:off x="8204200" y="4597400"/>
            <a:ext cx="2844800" cy="190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0833"/>
              </a:lnSpc>
              <a:defRPr/>
            </a:pPr>
            <a:r>
              <a:rPr lang="en-US" b="false" i="false" strike="noStrike" u="none" sz="1300">
                <a:solidFill>
                  <a:srgbClr val="4A4842"/>
                </a:solidFill>
                <a:latin typeface="Lora"/>
                <a:ea typeface="Lora"/>
                <a:cs typeface="Lora"/>
                <a:sym typeface="Lora"/>
              </a:rPr>
              <a:t>How is agency achieved, restricted or redirected, and which nested conditions, classroom, institution, HSK policy, profession, society, open or close room to manoeuvre?</a:t>
            </a:r>
            <a:endParaRPr lang="en-US" sz="1100"/>
          </a:p>
        </p:txBody>
      </p:sp>
    </p:spTree>
  </p:cSld>
  <p:clrMapOvr>
    <a:masterClrMapping/>
  </p:clrMapOvr>
</p:sld>
</file>

<file path=ppt/slides/slide8.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02 · THEORETICAL LENS</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Recontextualization meets ecological agency</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133600"/>
            <a:ext cx="9906000" cy="838200"/>
          </a:xfrm>
          <a:prstGeom prst="roundRect">
            <a:avLst>
              <a:gd name="adj" fmla="val 0"/>
            </a:avLst>
          </a:prstGeom>
          <a:solidFill>
            <a:srgbClr val="8C4A34">
              <a:alpha val="1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1397000" y="2235200"/>
            <a:ext cx="9398000" cy="6604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400">
                <a:solidFill>
                  <a:srgbClr val="2A2A28"/>
                </a:solidFill>
                <a:latin typeface="Lora"/>
                <a:ea typeface="Lora"/>
                <a:cs typeface="Lora"/>
                <a:sym typeface="Lora"/>
              </a:rPr>
              <a:t>Recontextualization, the mechanism.</a:t>
            </a:r>
            <a:r>
              <a:rPr lang="en-US" b="false" i="false" strike="noStrike" u="none" sz="1400">
                <a:solidFill>
                  <a:srgbClr val="2A2A28"/>
                </a:solidFill>
                <a:latin typeface="Lora"/>
                <a:ea typeface="Lora"/>
                <a:cs typeface="Lora"/>
                <a:sym typeface="Lora"/>
              </a:rPr>
              <a:t> Knowledge is selectively appropriated and refocused as it moves from production sites to the classroom (Bernstein, 2000; Guerrettaz &amp; Johnston, 2013). The classroom is a further site, not the first one.</a:t>
            </a:r>
            <a:endParaRPr lang="en-US" sz="1100"/>
          </a:p>
        </p:txBody>
      </p:sp>
      <p:cxnSp>
        <p:nvCxnSpPr>
          <p:cNvPr name="Connector 7" id="7"/>
          <p:cNvCxnSpPr/>
          <p:nvPr/>
        </p:nvCxnSpPr>
        <p:spPr>
          <a:xfrm rot="5209210" flipH="false" flipV="false">
            <a:off x="5981700" y="3105326"/>
            <a:ext cx="2286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8" id="8"/>
          <p:cNvSpPr/>
          <p:nvPr/>
        </p:nvSpPr>
        <p:spPr>
          <a:xfrm rot="0" flipH="false" flipV="false">
            <a:off x="1143000" y="3251200"/>
            <a:ext cx="9906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ECOLOGICAL AGENCY, AN ACHIEVEMENT IN CONTEXT (Biesta &amp; Tedder, 2007; Priestley et al., 2015)</a:t>
            </a:r>
            <a:endParaRPr lang="en-US" sz="1100"/>
          </a:p>
        </p:txBody>
      </p:sp>
      <p:sp>
        <p:nvSpPr>
          <p:cNvPr name="AutoShape 9" id="9"/>
          <p:cNvSpPr/>
          <p:nvPr/>
        </p:nvSpPr>
        <p:spPr>
          <a:xfrm rot="0" flipH="false" flipV="false">
            <a:off x="1143000" y="3581400"/>
            <a:ext cx="3175000" cy="1219200"/>
          </a:xfrm>
          <a:prstGeom prst="roundRect">
            <a:avLst>
              <a:gd name="adj" fmla="val 0"/>
            </a:avLst>
          </a:prstGeom>
          <a:solidFill>
            <a:srgbClr val="FFFFFF">
              <a:alpha val="60000"/>
            </a:srgbClr>
          </a:solidFill>
          <a:ln w="12700" cmpd="sng" cap="flat">
            <a:solidFill>
              <a:srgbClr val="C9BFAE">
                <a:alpha val="100000"/>
              </a:srgbClr>
            </a:solidFill>
            <a:prstDash val="solid"/>
            <a:round/>
          </a:ln>
        </p:spPr>
        <p:txBody>
          <a:bodyPr anchor="ctr" rtlCol="false" vert="horz" wrap="square" lIns="63500" rIns="63500" tIns="63500" bIns="63500"/>
          <a:lstStyle/>
          <a:p>
            <a:pPr algn="ctr">
              <a:defRPr/>
            </a:pPr>
            <a:endParaRPr/>
          </a:p>
        </p:txBody>
      </p:sp>
      <p:sp>
        <p:nvSpPr>
          <p:cNvPr name="AutoShape 10" id="10"/>
          <p:cNvSpPr/>
          <p:nvPr/>
        </p:nvSpPr>
        <p:spPr>
          <a:xfrm rot="0" flipH="false" flipV="false">
            <a:off x="1346200" y="3708400"/>
            <a:ext cx="27686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300">
                <a:solidFill>
                  <a:srgbClr val="8C4A34"/>
                </a:solidFill>
                <a:latin typeface="Lora"/>
                <a:ea typeface="Lora"/>
                <a:cs typeface="Lora"/>
                <a:sym typeface="Lora"/>
              </a:rPr>
              <a:t>Iterational</a:t>
            </a:r>
            <a:r>
              <a:rPr lang="en-US" b="false" i="false" strike="noStrike" u="none" sz="1300">
                <a:solidFill>
                  <a:srgbClr val="4A4842"/>
                </a:solidFill>
                <a:latin typeface="Lora"/>
                <a:ea typeface="Lora"/>
                <a:cs typeface="Lora"/>
                <a:sym typeface="Lora"/>
              </a:rPr>
              <a:t/>
            </a:r>
            <a:endParaRPr lang="en-US" sz="1100"/>
          </a:p>
          <a:p>
            <a:pPr algn="l" marL="0" indent="0">
              <a:lnSpc>
                <a:spcPct val="112500"/>
              </a:lnSpc>
            </a:pPr>
            <a:r>
              <a:rPr lang="en-US" b="false" i="false" strike="noStrike" u="none" sz="1300">
                <a:solidFill>
                  <a:srgbClr val="4A4842"/>
                </a:solidFill>
                <a:latin typeface="Lora"/>
                <a:ea typeface="Lora"/>
                <a:cs typeface="Lora"/>
                <a:sym typeface="Lora"/>
              </a:rPr>
              <a:t>Past experience, training, professional history the teacher draws on</a:t>
            </a:r>
          </a:p>
        </p:txBody>
      </p:sp>
      <p:sp>
        <p:nvSpPr>
          <p:cNvPr name="AutoShape 11" id="11"/>
          <p:cNvSpPr/>
          <p:nvPr/>
        </p:nvSpPr>
        <p:spPr>
          <a:xfrm rot="0" flipH="false" flipV="false">
            <a:off x="4508500" y="3581400"/>
            <a:ext cx="3175000" cy="1219200"/>
          </a:xfrm>
          <a:prstGeom prst="roundRect">
            <a:avLst>
              <a:gd name="adj" fmla="val 0"/>
            </a:avLst>
          </a:prstGeom>
          <a:solidFill>
            <a:srgbClr val="FFFFFF">
              <a:alpha val="60000"/>
            </a:srgbClr>
          </a:solidFill>
          <a:ln w="12700" cmpd="sng" cap="flat">
            <a:solidFill>
              <a:srgbClr val="C9BFAE">
                <a:alpha val="100000"/>
              </a:srgbClr>
            </a:solidFill>
            <a:prstDash val="solid"/>
            <a:round/>
          </a:ln>
        </p:spPr>
        <p:txBody>
          <a:bodyPr anchor="ctr" rtlCol="false" vert="horz" wrap="square" lIns="63500" rIns="63500" tIns="63500" bIns="63500"/>
          <a:lstStyle/>
          <a:p>
            <a:pPr algn="ctr">
              <a:defRPr/>
            </a:pPr>
            <a:endParaRPr/>
          </a:p>
        </p:txBody>
      </p:sp>
      <p:sp>
        <p:nvSpPr>
          <p:cNvPr name="AutoShape 12" id="12"/>
          <p:cNvSpPr/>
          <p:nvPr/>
        </p:nvSpPr>
        <p:spPr>
          <a:xfrm rot="0" flipH="false" flipV="false">
            <a:off x="4711700" y="3708400"/>
            <a:ext cx="27686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300">
                <a:solidFill>
                  <a:srgbClr val="8C4A34"/>
                </a:solidFill>
                <a:latin typeface="Lora"/>
                <a:ea typeface="Lora"/>
                <a:cs typeface="Lora"/>
                <a:sym typeface="Lora"/>
              </a:rPr>
              <a:t>Projective</a:t>
            </a:r>
            <a:r>
              <a:rPr lang="en-US" b="false" i="false" strike="noStrike" u="none" sz="1300">
                <a:solidFill>
                  <a:srgbClr val="4A4842"/>
                </a:solidFill>
                <a:latin typeface="Lora"/>
                <a:ea typeface="Lora"/>
                <a:cs typeface="Lora"/>
                <a:sym typeface="Lora"/>
              </a:rPr>
              <a:t/>
            </a:r>
            <a:endParaRPr lang="en-US" sz="1100"/>
          </a:p>
          <a:p>
            <a:pPr algn="l" marL="0" indent="0">
              <a:lnSpc>
                <a:spcPct val="112500"/>
              </a:lnSpc>
            </a:pPr>
            <a:r>
              <a:rPr lang="en-US" b="false" i="false" strike="noStrike" u="none" sz="1300">
                <a:solidFill>
                  <a:srgbClr val="4A4842"/>
                </a:solidFill>
                <a:latin typeface="Lora"/>
                <a:ea typeface="Lora"/>
                <a:cs typeface="Lora"/>
                <a:sym typeface="Lora"/>
              </a:rPr>
              <a:t>Future goals for learners, the exam, and professional identity</a:t>
            </a:r>
          </a:p>
        </p:txBody>
      </p:sp>
      <p:sp>
        <p:nvSpPr>
          <p:cNvPr name="AutoShape 13" id="13"/>
          <p:cNvSpPr/>
          <p:nvPr/>
        </p:nvSpPr>
        <p:spPr>
          <a:xfrm rot="0" flipH="false" flipV="false">
            <a:off x="7874000" y="3581400"/>
            <a:ext cx="3175000" cy="1219200"/>
          </a:xfrm>
          <a:prstGeom prst="roundRect">
            <a:avLst>
              <a:gd name="adj" fmla="val 0"/>
            </a:avLst>
          </a:prstGeom>
          <a:solidFill>
            <a:srgbClr val="FFFFFF">
              <a:alpha val="60000"/>
            </a:srgbClr>
          </a:solidFill>
          <a:ln w="12700" cmpd="sng" cap="flat">
            <a:solidFill>
              <a:srgbClr val="C9BFAE">
                <a:alpha val="100000"/>
              </a:srgbClr>
            </a:solidFill>
            <a:prstDash val="solid"/>
            <a:round/>
          </a:ln>
        </p:spPr>
        <p:txBody>
          <a:bodyPr anchor="ctr" rtlCol="false" vert="horz" wrap="square" lIns="63500" rIns="63500" tIns="63500" bIns="63500"/>
          <a:lstStyle/>
          <a:p>
            <a:pPr algn="ctr">
              <a:defRPr/>
            </a:pPr>
            <a:endParaRPr/>
          </a:p>
        </p:txBody>
      </p:sp>
      <p:sp>
        <p:nvSpPr>
          <p:cNvPr name="AutoShape 14" id="14"/>
          <p:cNvSpPr/>
          <p:nvPr/>
        </p:nvSpPr>
        <p:spPr>
          <a:xfrm rot="0" flipH="false" flipV="false">
            <a:off x="8077200" y="3708400"/>
            <a:ext cx="27686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300">
                <a:solidFill>
                  <a:srgbClr val="8C4A34"/>
                </a:solidFill>
                <a:latin typeface="Lora"/>
                <a:ea typeface="Lora"/>
                <a:cs typeface="Lora"/>
                <a:sym typeface="Lora"/>
              </a:rPr>
              <a:t>Practical-evaluative</a:t>
            </a:r>
            <a:r>
              <a:rPr lang="en-US" b="false" i="false" strike="noStrike" u="none" sz="1300">
                <a:solidFill>
                  <a:srgbClr val="4A4842"/>
                </a:solidFill>
                <a:latin typeface="Lora"/>
                <a:ea typeface="Lora"/>
                <a:cs typeface="Lora"/>
                <a:sym typeface="Lora"/>
              </a:rPr>
              <a:t/>
            </a:r>
            <a:endParaRPr lang="en-US" sz="1100"/>
          </a:p>
          <a:p>
            <a:pPr algn="l" marL="0" indent="0">
              <a:lnSpc>
                <a:spcPct val="112500"/>
              </a:lnSpc>
            </a:pPr>
            <a:r>
              <a:rPr lang="en-US" b="false" i="false" strike="noStrike" u="none" sz="1300">
                <a:solidFill>
                  <a:srgbClr val="4A4842"/>
                </a:solidFill>
                <a:latin typeface="Lora"/>
                <a:ea typeface="Lora"/>
                <a:cs typeface="Lora"/>
                <a:sym typeface="Lora"/>
              </a:rPr>
              <a:t>Judgement made in the present lesson, under real constraints</a:t>
            </a:r>
          </a:p>
        </p:txBody>
      </p:sp>
      <p:cxnSp>
        <p:nvCxnSpPr>
          <p:cNvPr name="Connector 15" id="15"/>
          <p:cNvCxnSpPr/>
          <p:nvPr/>
        </p:nvCxnSpPr>
        <p:spPr>
          <a:xfrm rot="5256843" flipH="false" flipV="false">
            <a:off x="5943600" y="4946782"/>
            <a:ext cx="3048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16" id="16"/>
          <p:cNvSpPr/>
          <p:nvPr/>
        </p:nvSpPr>
        <p:spPr>
          <a:xfrm rot="0" flipH="false" flipV="false">
            <a:off x="1143000" y="5181600"/>
            <a:ext cx="9906000" cy="990600"/>
          </a:xfrm>
          <a:prstGeom prst="roundRect">
            <a:avLst>
              <a:gd name="adj" fmla="val 0"/>
            </a:avLst>
          </a:prstGeom>
          <a:solidFill>
            <a:srgbClr val="2A2A28">
              <a:alpha val="6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1397000" y="5283200"/>
            <a:ext cx="9398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NESTED CONDITIONS THAT OPEN OR CLOSE ROOM TO MANOEUVRE</a:t>
            </a:r>
            <a:endParaRPr lang="en-US" sz="1100"/>
          </a:p>
        </p:txBody>
      </p:sp>
      <p:sp>
        <p:nvSpPr>
          <p:cNvPr name="AutoShape 18" id="18"/>
          <p:cNvSpPr/>
          <p:nvPr/>
        </p:nvSpPr>
        <p:spPr>
          <a:xfrm rot="0" flipH="false" flipV="false">
            <a:off x="1397000" y="5613400"/>
            <a:ext cx="9398000" cy="4572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1400">
                <a:solidFill>
                  <a:srgbClr val="2A2A28"/>
                </a:solidFill>
                <a:latin typeface="Lora"/>
                <a:ea typeface="Lora"/>
                <a:cs typeface="Lora"/>
                <a:sym typeface="Lora"/>
              </a:rPr>
              <a:t>Classroom &amp; materials · Collegial &amp; institutional · Assessment &amp; HSK policy · Professional community · Sociocultural setting</a:t>
            </a:r>
            <a:endParaRPr lang="en-US" sz="1100"/>
          </a:p>
        </p:txBody>
      </p:sp>
    </p:spTree>
  </p:cSld>
  <p:clrMapOvr>
    <a:masterClrMapping/>
  </p:clrMapOvr>
</p:sld>
</file>

<file path=ppt/slides/slide9.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05 · METHODOLOGY</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Why a qualitative, multiple-case study</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235200"/>
            <a:ext cx="4826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What the design IS</a:t>
            </a:r>
            <a:endParaRPr lang="en-US" sz="1100"/>
          </a:p>
        </p:txBody>
      </p:sp>
      <p:sp>
        <p:nvSpPr>
          <p:cNvPr name="AutoShape 6" id="6"/>
          <p:cNvSpPr/>
          <p:nvPr/>
        </p:nvSpPr>
        <p:spPr>
          <a:xfrm rot="0" flipH="false" flipV="false">
            <a:off x="1143000" y="2717800"/>
            <a:ext cx="4826000" cy="304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false" i="false" strike="noStrike" u="none" sz="1400">
                <a:solidFill>
                  <a:srgbClr val="4A4842"/>
                </a:solidFill>
                <a:latin typeface="Lora"/>
                <a:ea typeface="Lora"/>
                <a:cs typeface="Lora"/>
                <a:sym typeface="Lora"/>
              </a:rPr>
              <a:t>An interpretive qualitative study of </a:t>
            </a:r>
            <a:r>
              <a:rPr lang="en-US" b="true" i="false" strike="noStrike" u="none" sz="1400">
                <a:solidFill>
                  <a:srgbClr val="4A4842"/>
                </a:solidFill>
                <a:latin typeface="Lora"/>
                <a:ea typeface="Lora"/>
                <a:cs typeface="Lora"/>
                <a:sym typeface="Lora"/>
              </a:rPr>
              <a:t>multiple teachers</a:t>
            </a:r>
            <a:r>
              <a:rPr lang="en-US" b="false" i="false" strike="noStrike" u="none" sz="1400">
                <a:solidFill>
                  <a:srgbClr val="4A4842"/>
                </a:solidFill>
                <a:latin typeface="Lora"/>
                <a:ea typeface="Lora"/>
                <a:cs typeface="Lora"/>
                <a:sym typeface="Lora"/>
              </a:rPr>
              <a:t>, each studied within their own institution.</a:t>
            </a:r>
            <a:endParaRPr lang="en-US" sz="1100"/>
          </a:p>
          <a:p>
            <a:pPr algn="l" marL="0" indent="0">
              <a:lnSpc>
                <a:spcPct val="133333"/>
              </a:lnSpc>
            </a:pPr>
            <a:r>
              <a:rPr lang="en-US" b="false" i="false" strike="noStrike" u="none" sz="1400">
                <a:solidFill>
                  <a:srgbClr val="4A4842"/>
                </a:solidFill>
                <a:latin typeface="Lora"/>
                <a:ea typeface="Lora"/>
                <a:cs typeface="Lora"/>
                <a:sym typeface="Lora"/>
              </a:rPr>
              <a:t>about 6 to 8 Pakistani teachers, observed across 2 to 3 lessons each (revised after the pilot).</a:t>
            </a:r>
          </a:p>
          <a:p>
            <a:pPr algn="l" marL="0" indent="0">
              <a:lnSpc>
                <a:spcPct val="133333"/>
              </a:lnSpc>
            </a:pPr>
            <a:r>
              <a:rPr lang="en-US" b="false" i="false" strike="noStrike" u="none" sz="1400">
                <a:solidFill>
                  <a:srgbClr val="4A4842"/>
                </a:solidFill>
                <a:latin typeface="Lora"/>
                <a:ea typeface="Lora"/>
                <a:cs typeface="Lora"/>
                <a:sym typeface="Lora"/>
              </a:rPr>
              <a:t>Depth of observation, paired with materials comparison, matters more than counting more teachers.</a:t>
            </a:r>
          </a:p>
          <a:p>
            <a:pPr algn="l" marL="0" indent="0">
              <a:lnSpc>
                <a:spcPct val="133333"/>
              </a:lnSpc>
            </a:pPr>
            <a:r>
              <a:rPr lang="en-US" b="false" i="false" strike="noStrike" u="none" sz="1400">
                <a:solidFill>
                  <a:srgbClr val="8A8578"/>
                </a:solidFill>
                <a:latin typeface="Lora"/>
                <a:ea typeface="Lora"/>
                <a:cs typeface="Lora"/>
                <a:sym typeface="Lora"/>
              </a:rPr>
              <a:t>Precedent: Priestley et al. (2015); Guerrettaz &amp; Johnston (2013); Dao et al. (2025).</a:t>
            </a:r>
          </a:p>
        </p:txBody>
      </p:sp>
      <p:cxnSp>
        <p:nvCxnSpPr>
          <p:cNvPr name="Connector 7" id="7"/>
          <p:cNvCxnSpPr/>
          <p:nvPr/>
        </p:nvCxnSpPr>
        <p:spPr>
          <a:xfrm rot="5387267" flipH="false" flipV="false">
            <a:off x="4381500" y="3994162"/>
            <a:ext cx="3429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8" id="8"/>
          <p:cNvSpPr/>
          <p:nvPr/>
        </p:nvSpPr>
        <p:spPr>
          <a:xfrm rot="0" flipH="false" flipV="false">
            <a:off x="6477000" y="2235200"/>
            <a:ext cx="4572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2A2A28"/>
                </a:solidFill>
                <a:latin typeface="Lora"/>
                <a:ea typeface="Lora"/>
                <a:cs typeface="Lora"/>
                <a:sym typeface="Lora"/>
              </a:rPr>
              <a:t>What it deliberately IS NOT</a:t>
            </a:r>
            <a:endParaRPr lang="en-US" sz="1100"/>
          </a:p>
        </p:txBody>
      </p:sp>
      <p:sp>
        <p:nvSpPr>
          <p:cNvPr name="AutoShape 9" id="9"/>
          <p:cNvSpPr/>
          <p:nvPr/>
        </p:nvSpPr>
        <p:spPr>
          <a:xfrm rot="0" flipH="false" flipV="false">
            <a:off x="6477000" y="2717800"/>
            <a:ext cx="4572000" cy="304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false" i="false" strike="noStrike" u="none" sz="1400">
                <a:solidFill>
                  <a:srgbClr val="4A4842"/>
                </a:solidFill>
                <a:latin typeface="Lora"/>
                <a:ea typeface="Lora"/>
                <a:cs typeface="Lora"/>
                <a:sym typeface="Lora"/>
              </a:rPr>
              <a:t>Not a survey of attitudes toward localization, that design already exists in Pakistan (Lu et al., 2024; Naheed, 2026).</a:t>
            </a:r>
            <a:endParaRPr lang="en-US" sz="1100"/>
          </a:p>
          <a:p>
            <a:pPr algn="l" marL="0" indent="0">
              <a:lnSpc>
                <a:spcPct val="133333"/>
              </a:lnSpc>
            </a:pPr>
            <a:r>
              <a:rPr lang="en-US" b="false" i="false" strike="noStrike" u="none" sz="1400">
                <a:solidFill>
                  <a:srgbClr val="4A4842"/>
                </a:solidFill>
                <a:latin typeface="Lora"/>
                <a:ea typeface="Lora"/>
                <a:cs typeface="Lora"/>
                <a:sym typeface="Lora"/>
              </a:rPr>
              <a:t>Not an evaluation score of the HSK series as a product.</a:t>
            </a:r>
          </a:p>
          <a:p>
            <a:pPr algn="l" marL="0" indent="0">
              <a:lnSpc>
                <a:spcPct val="133333"/>
              </a:lnSpc>
            </a:pPr>
            <a:r>
              <a:rPr lang="en-US" b="false" i="false" strike="noStrike" u="none" sz="1400">
                <a:solidFill>
                  <a:srgbClr val="4A4842"/>
                </a:solidFill>
                <a:latin typeface="Lora"/>
                <a:ea typeface="Lora"/>
                <a:cs typeface="Lora"/>
                <a:sym typeface="Lora"/>
              </a:rPr>
              <a:t>Not needs analysis, cognitive-load testing, or a new textbook as output.</a:t>
            </a:r>
          </a:p>
          <a:p>
            <a:pPr algn="l" marL="0" indent="0">
              <a:lnSpc>
                <a:spcPct val="133333"/>
              </a:lnSpc>
            </a:pPr>
            <a:r>
              <a:rPr lang="en-US" b="false" i="false" strike="noStrike" u="none" sz="1400">
                <a:solidFill>
                  <a:srgbClr val="8A8578"/>
                </a:solidFill>
                <a:latin typeface="Lora"/>
                <a:ea typeface="Lora"/>
                <a:cs typeface="Lora"/>
                <a:sym typeface="Lora"/>
              </a:rPr>
              <a:t>Reason: Criado (2023) and Neupane (2025) already show reported change outpaces actual change.</a:t>
            </a:r>
          </a:p>
        </p:txBody>
      </p:sp>
      <p:cxnSp>
        <p:nvCxnSpPr>
          <p:cNvPr name="Connector 10" id="10"/>
          <p:cNvCxnSpPr/>
          <p:nvPr/>
        </p:nvCxnSpPr>
        <p:spPr>
          <a:xfrm rot="-4407" flipH="false" flipV="false">
            <a:off x="1143004" y="60642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1" id="11"/>
          <p:cNvSpPr/>
          <p:nvPr/>
        </p:nvSpPr>
        <p:spPr>
          <a:xfrm rot="0" flipH="false" flipV="false">
            <a:off x="1143000" y="6172200"/>
            <a:ext cx="990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true" strike="noStrike" u="none" sz="1300">
                <a:solidFill>
                  <a:srgbClr val="2A2A28"/>
                </a:solidFill>
                <a:latin typeface="Lora"/>
                <a:ea typeface="Lora"/>
                <a:cs typeface="Lora"/>
                <a:sym typeface="Lora"/>
              </a:rPr>
              <a:t>The missing evidence is what happens inside the classroom under real conditions, reached by observing it directly, not by asking about it in the abstract.</a:t>
            </a:r>
            <a:endParaRPr lang="en-US" sz="1100"/>
          </a:p>
        </p:txBody>
      </p:sp>
    </p:spTree>
  </p:cSld>
  <p:clrMapOvr>
    <a:masterClrMapping/>
  </p:clrMapOvr>
</p:sld>
</file>

<file path=ppt/slides/slide10.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05 · DATA SOURCES</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Five sources, because each is limited on its own</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184400"/>
            <a:ext cx="26416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Materials comparison</a:t>
            </a:r>
            <a:endParaRPr lang="en-US" sz="1100"/>
          </a:p>
        </p:txBody>
      </p:sp>
      <p:sp>
        <p:nvSpPr>
          <p:cNvPr name="AutoShape 6" id="6"/>
          <p:cNvSpPr/>
          <p:nvPr/>
        </p:nvSpPr>
        <p:spPr>
          <a:xfrm rot="0" flipH="false" flipV="false">
            <a:off x="3937000" y="2184400"/>
            <a:ext cx="56515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false" i="false" strike="noStrike" u="none" sz="1300">
                <a:solidFill>
                  <a:srgbClr val="4A4842"/>
                </a:solidFill>
                <a:latin typeface="Lora"/>
                <a:ea typeface="Lora"/>
                <a:cs typeface="Lora"/>
                <a:sym typeface="Lora"/>
              </a:rPr>
              <a:t>The prescribed page vs. slides, worksheets and tests the teacher actually made or used, traces of what was added, cut, substituted or reordered.</a:t>
            </a:r>
            <a:endParaRPr lang="en-US" sz="1100"/>
          </a:p>
        </p:txBody>
      </p:sp>
      <p:sp>
        <p:nvSpPr>
          <p:cNvPr name="AutoShape 7" id="7"/>
          <p:cNvSpPr/>
          <p:nvPr/>
        </p:nvSpPr>
        <p:spPr>
          <a:xfrm rot="0" flipH="false" flipV="false">
            <a:off x="9906000" y="2184400"/>
            <a:ext cx="1143000" cy="304800"/>
          </a:xfrm>
          <a:prstGeom prst="rect">
            <a:avLst/>
          </a:prstGeom>
          <a:noFill/>
          <a:ln w="12700" cmpd="sng" cap="flat">
            <a:noFill/>
            <a:prstDash val="solid"/>
            <a:round/>
          </a:ln>
        </p:spPr>
        <p:txBody>
          <a:bodyPr anchor="ctr" rtlCol="false" anchorCtr="false" vert="horz" wrap="square" lIns="0" rIns="0" tIns="0" bIns="0"/>
          <a:lstStyle/>
          <a:p>
            <a:pPr algn="r" marL="0" indent="0">
              <a:lnSpc>
                <a:spcPct val="125000"/>
              </a:lnSpc>
              <a:defRPr/>
            </a:pPr>
            <a:r>
              <a:rPr lang="en-US" b="true" i="false" strike="noStrike" u="none" sz="1100">
                <a:solidFill>
                  <a:srgbClr val="8C4A34"/>
                </a:solidFill>
                <a:latin typeface="Lora"/>
                <a:ea typeface="Lora"/>
                <a:cs typeface="Lora"/>
                <a:sym typeface="Lora"/>
              </a:rPr>
              <a:t>RQ1</a:t>
            </a:r>
            <a:endParaRPr lang="en-US" sz="1100"/>
          </a:p>
        </p:txBody>
      </p:sp>
      <p:cxnSp>
        <p:nvCxnSpPr>
          <p:cNvPr name="Connector 8" id="8"/>
          <p:cNvCxnSpPr/>
          <p:nvPr/>
        </p:nvCxnSpPr>
        <p:spPr>
          <a:xfrm rot="-4407" flipH="false" flipV="false">
            <a:off x="1143004" y="28384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9" id="9"/>
          <p:cNvSpPr/>
          <p:nvPr/>
        </p:nvSpPr>
        <p:spPr>
          <a:xfrm rot="0" flipH="false" flipV="false">
            <a:off x="1143000" y="2971800"/>
            <a:ext cx="26416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Lesson observation</a:t>
            </a:r>
            <a:endParaRPr lang="en-US" sz="1100"/>
          </a:p>
        </p:txBody>
      </p:sp>
      <p:sp>
        <p:nvSpPr>
          <p:cNvPr name="AutoShape 10" id="10"/>
          <p:cNvSpPr/>
          <p:nvPr/>
        </p:nvSpPr>
        <p:spPr>
          <a:xfrm rot="0" flipH="false" flipV="false">
            <a:off x="3937000" y="2971800"/>
            <a:ext cx="56515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false" i="false" strike="noStrike" u="none" sz="1300">
                <a:solidFill>
                  <a:srgbClr val="4A4842"/>
                </a:solidFill>
                <a:latin typeface="Lora"/>
                <a:ea typeface="Lora"/>
                <a:cs typeface="Lora"/>
                <a:sym typeface="Lora"/>
              </a:rPr>
              <a:t>Recontextualization as it happens, including the moments a teacher simply follows the book closely.</a:t>
            </a:r>
            <a:endParaRPr lang="en-US" sz="1100"/>
          </a:p>
        </p:txBody>
      </p:sp>
      <p:sp>
        <p:nvSpPr>
          <p:cNvPr name="AutoShape 11" id="11"/>
          <p:cNvSpPr/>
          <p:nvPr/>
        </p:nvSpPr>
        <p:spPr>
          <a:xfrm rot="0" flipH="false" flipV="false">
            <a:off x="9906000" y="2971800"/>
            <a:ext cx="1143000" cy="304800"/>
          </a:xfrm>
          <a:prstGeom prst="rect">
            <a:avLst/>
          </a:prstGeom>
          <a:noFill/>
          <a:ln w="12700" cmpd="sng" cap="flat">
            <a:noFill/>
            <a:prstDash val="solid"/>
            <a:round/>
          </a:ln>
        </p:spPr>
        <p:txBody>
          <a:bodyPr anchor="ctr" rtlCol="false" anchorCtr="false" vert="horz" wrap="square" lIns="0" rIns="0" tIns="0" bIns="0"/>
          <a:lstStyle/>
          <a:p>
            <a:pPr algn="r" marL="0" indent="0">
              <a:lnSpc>
                <a:spcPct val="125000"/>
              </a:lnSpc>
              <a:defRPr/>
            </a:pPr>
            <a:r>
              <a:rPr lang="en-US" b="true" i="false" strike="noStrike" u="none" sz="1100">
                <a:solidFill>
                  <a:srgbClr val="8C4A34"/>
                </a:solidFill>
                <a:latin typeface="Lora"/>
                <a:ea typeface="Lora"/>
                <a:cs typeface="Lora"/>
                <a:sym typeface="Lora"/>
              </a:rPr>
              <a:t>RQ1, RQ3</a:t>
            </a:r>
            <a:endParaRPr lang="en-US" sz="1100"/>
          </a:p>
        </p:txBody>
      </p:sp>
      <p:cxnSp>
        <p:nvCxnSpPr>
          <p:cNvPr name="Connector 12" id="12"/>
          <p:cNvCxnSpPr/>
          <p:nvPr/>
        </p:nvCxnSpPr>
        <p:spPr>
          <a:xfrm rot="-4407" flipH="false" flipV="false">
            <a:off x="1143004" y="3625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3" id="13"/>
          <p:cNvSpPr/>
          <p:nvPr/>
        </p:nvSpPr>
        <p:spPr>
          <a:xfrm rot="0" flipH="false" flipV="false">
            <a:off x="1143000" y="3759200"/>
            <a:ext cx="26416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Semi-structured interview</a:t>
            </a:r>
            <a:endParaRPr lang="en-US" sz="1100"/>
          </a:p>
        </p:txBody>
      </p:sp>
      <p:sp>
        <p:nvSpPr>
          <p:cNvPr name="AutoShape 14" id="14"/>
          <p:cNvSpPr/>
          <p:nvPr/>
        </p:nvSpPr>
        <p:spPr>
          <a:xfrm rot="0" flipH="false" flipV="false">
            <a:off x="3937000" y="3759200"/>
            <a:ext cx="56515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false" i="false" strike="noStrike" u="none" sz="1300">
                <a:solidFill>
                  <a:srgbClr val="4A4842"/>
                </a:solidFill>
                <a:latin typeface="Lora"/>
                <a:ea typeface="Lora"/>
                <a:cs typeface="Lora"/>
                <a:sym typeface="Lora"/>
              </a:rPr>
              <a:t>Tied to the specific lesson observed: past resources, future goals, and stated reasons for the choices made.</a:t>
            </a:r>
            <a:endParaRPr lang="en-US" sz="1100"/>
          </a:p>
        </p:txBody>
      </p:sp>
      <p:sp>
        <p:nvSpPr>
          <p:cNvPr name="AutoShape 15" id="15"/>
          <p:cNvSpPr/>
          <p:nvPr/>
        </p:nvSpPr>
        <p:spPr>
          <a:xfrm rot="0" flipH="false" flipV="false">
            <a:off x="9906000" y="3759200"/>
            <a:ext cx="1143000" cy="304800"/>
          </a:xfrm>
          <a:prstGeom prst="rect">
            <a:avLst/>
          </a:prstGeom>
          <a:noFill/>
          <a:ln w="12700" cmpd="sng" cap="flat">
            <a:noFill/>
            <a:prstDash val="solid"/>
            <a:round/>
          </a:ln>
        </p:spPr>
        <p:txBody>
          <a:bodyPr anchor="ctr" rtlCol="false" anchorCtr="false" vert="horz" wrap="square" lIns="0" rIns="0" tIns="0" bIns="0"/>
          <a:lstStyle/>
          <a:p>
            <a:pPr algn="r" marL="0" indent="0">
              <a:lnSpc>
                <a:spcPct val="125000"/>
              </a:lnSpc>
              <a:defRPr/>
            </a:pPr>
            <a:r>
              <a:rPr lang="en-US" b="true" i="false" strike="noStrike" u="none" sz="1100">
                <a:solidFill>
                  <a:srgbClr val="8C4A34"/>
                </a:solidFill>
                <a:latin typeface="Lora"/>
                <a:ea typeface="Lora"/>
                <a:cs typeface="Lora"/>
                <a:sym typeface="Lora"/>
              </a:rPr>
              <a:t>RQ2, RQ3</a:t>
            </a:r>
            <a:endParaRPr lang="en-US" sz="1100"/>
          </a:p>
        </p:txBody>
      </p:sp>
      <p:cxnSp>
        <p:nvCxnSpPr>
          <p:cNvPr name="Connector 16" id="16"/>
          <p:cNvCxnSpPr/>
          <p:nvPr/>
        </p:nvCxnSpPr>
        <p:spPr>
          <a:xfrm rot="-4407" flipH="false" flipV="false">
            <a:off x="1143004" y="44132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7" id="17"/>
          <p:cNvSpPr/>
          <p:nvPr/>
        </p:nvSpPr>
        <p:spPr>
          <a:xfrm rot="0" flipH="false" flipV="false">
            <a:off x="1143000" y="4546600"/>
            <a:ext cx="26416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Stimulated recall</a:t>
            </a:r>
            <a:endParaRPr lang="en-US" sz="1100"/>
          </a:p>
        </p:txBody>
      </p:sp>
      <p:sp>
        <p:nvSpPr>
          <p:cNvPr name="AutoShape 18" id="18"/>
          <p:cNvSpPr/>
          <p:nvPr/>
        </p:nvSpPr>
        <p:spPr>
          <a:xfrm rot="0" flipH="false" flipV="false">
            <a:off x="3937000" y="4546600"/>
            <a:ext cx="56515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false" i="false" strike="noStrike" u="none" sz="1300">
                <a:solidFill>
                  <a:srgbClr val="4A4842"/>
                </a:solidFill>
                <a:latin typeface="Lora"/>
                <a:ea typeface="Lora"/>
                <a:cs typeface="Lora"/>
                <a:sym typeface="Lora"/>
              </a:rPr>
              <a:t>Held right after the lesson, where agreed, capturing the judgement behind a specific choice while it is still fresh.</a:t>
            </a:r>
            <a:endParaRPr lang="en-US" sz="1100"/>
          </a:p>
        </p:txBody>
      </p:sp>
      <p:sp>
        <p:nvSpPr>
          <p:cNvPr name="AutoShape 19" id="19"/>
          <p:cNvSpPr/>
          <p:nvPr/>
        </p:nvSpPr>
        <p:spPr>
          <a:xfrm rot="0" flipH="false" flipV="false">
            <a:off x="9906000" y="4546600"/>
            <a:ext cx="1143000" cy="304800"/>
          </a:xfrm>
          <a:prstGeom prst="rect">
            <a:avLst/>
          </a:prstGeom>
          <a:noFill/>
          <a:ln w="12700" cmpd="sng" cap="flat">
            <a:noFill/>
            <a:prstDash val="solid"/>
            <a:round/>
          </a:ln>
        </p:spPr>
        <p:txBody>
          <a:bodyPr anchor="ctr" rtlCol="false" anchorCtr="false" vert="horz" wrap="square" lIns="0" rIns="0" tIns="0" bIns="0"/>
          <a:lstStyle/>
          <a:p>
            <a:pPr algn="r" marL="0" indent="0">
              <a:lnSpc>
                <a:spcPct val="125000"/>
              </a:lnSpc>
              <a:defRPr/>
            </a:pPr>
            <a:r>
              <a:rPr lang="en-US" b="true" i="false" strike="noStrike" u="none" sz="1100">
                <a:solidFill>
                  <a:srgbClr val="8C4A34"/>
                </a:solidFill>
                <a:latin typeface="Lora"/>
                <a:ea typeface="Lora"/>
                <a:cs typeface="Lora"/>
                <a:sym typeface="Lora"/>
              </a:rPr>
              <a:t>RQ2, RQ3</a:t>
            </a:r>
            <a:endParaRPr lang="en-US" sz="1100"/>
          </a:p>
        </p:txBody>
      </p:sp>
      <p:cxnSp>
        <p:nvCxnSpPr>
          <p:cNvPr name="Connector 20" id="20"/>
          <p:cNvCxnSpPr/>
          <p:nvPr/>
        </p:nvCxnSpPr>
        <p:spPr>
          <a:xfrm rot="-4407" flipH="false" flipV="false">
            <a:off x="1143004" y="52006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21" id="21"/>
          <p:cNvSpPr/>
          <p:nvPr/>
        </p:nvSpPr>
        <p:spPr>
          <a:xfrm rot="0" flipH="false" flipV="false">
            <a:off x="1143000" y="5334000"/>
            <a:ext cx="26416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Institutional field notes</a:t>
            </a:r>
            <a:endParaRPr lang="en-US" sz="1100"/>
          </a:p>
        </p:txBody>
      </p:sp>
      <p:sp>
        <p:nvSpPr>
          <p:cNvPr name="AutoShape 22" id="22"/>
          <p:cNvSpPr/>
          <p:nvPr/>
        </p:nvSpPr>
        <p:spPr>
          <a:xfrm rot="0" flipH="false" flipV="false">
            <a:off x="3937000" y="5334000"/>
            <a:ext cx="56515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false" i="false" strike="noStrike" u="none" sz="1300">
                <a:solidFill>
                  <a:srgbClr val="4A4842"/>
                </a:solidFill>
                <a:latin typeface="Lora"/>
                <a:ea typeface="Lora"/>
                <a:cs typeface="Lora"/>
                <a:sym typeface="Lora"/>
              </a:rPr>
              <a:t>Who chooses the textbook, exam pressure, class size, medium of instruction, time with colleagues, part of the achievement, not background.</a:t>
            </a:r>
            <a:endParaRPr lang="en-US" sz="1100"/>
          </a:p>
        </p:txBody>
      </p:sp>
      <p:sp>
        <p:nvSpPr>
          <p:cNvPr name="AutoShape 23" id="23"/>
          <p:cNvSpPr/>
          <p:nvPr/>
        </p:nvSpPr>
        <p:spPr>
          <a:xfrm rot="0" flipH="false" flipV="false">
            <a:off x="9906000" y="5334000"/>
            <a:ext cx="1143000" cy="304800"/>
          </a:xfrm>
          <a:prstGeom prst="rect">
            <a:avLst/>
          </a:prstGeom>
          <a:noFill/>
          <a:ln w="12700" cmpd="sng" cap="flat">
            <a:noFill/>
            <a:prstDash val="solid"/>
            <a:round/>
          </a:ln>
        </p:spPr>
        <p:txBody>
          <a:bodyPr anchor="ctr" rtlCol="false" anchorCtr="false" vert="horz" wrap="square" lIns="0" rIns="0" tIns="0" bIns="0"/>
          <a:lstStyle/>
          <a:p>
            <a:pPr algn="r" marL="0" indent="0">
              <a:lnSpc>
                <a:spcPct val="125000"/>
              </a:lnSpc>
              <a:defRPr/>
            </a:pPr>
            <a:r>
              <a:rPr lang="en-US" b="true" i="false" strike="noStrike" u="none" sz="1100">
                <a:solidFill>
                  <a:srgbClr val="8C4A34"/>
                </a:solidFill>
                <a:latin typeface="Lora"/>
                <a:ea typeface="Lora"/>
                <a:cs typeface="Lora"/>
                <a:sym typeface="Lora"/>
              </a:rPr>
              <a:t>RQ3</a:t>
            </a:r>
            <a:endParaRPr lang="en-US" sz="1100"/>
          </a:p>
        </p:txBody>
      </p:sp>
      <p:sp>
        <p:nvSpPr>
          <p:cNvPr name="AutoShape 24" id="24"/>
          <p:cNvSpPr/>
          <p:nvPr/>
        </p:nvSpPr>
        <p:spPr>
          <a:xfrm rot="0" flipH="false" flipV="false">
            <a:off x="1143000" y="6223000"/>
            <a:ext cx="9906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Content analysis of the materials plays a supporting role only, it shows what was available, not what was taught.</a:t>
            </a:r>
            <a:endParaRPr lang="en-US" sz="1100"/>
          </a:p>
        </p:txBody>
      </p:sp>
    </p:spTree>
  </p:cSld>
  <p:clrMapOvr>
    <a:masterClrMapping/>
  </p:clrMapOvr>
</p:sld>
</file>

<file path=ppt/slides/slide11.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05 · ANALYSIS</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500">
                <a:solidFill>
                  <a:srgbClr val="2A2A28"/>
                </a:solidFill>
                <a:latin typeface="Lora"/>
                <a:ea typeface="Lora"/>
                <a:cs typeface="Lora"/>
                <a:sym typeface="Lora"/>
              </a:rPr>
              <a:t>Three analytic passes, before any cross-case comparison</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184400"/>
            <a:ext cx="762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000">
                <a:solidFill>
                  <a:srgbClr val="8C4A34"/>
                </a:solidFill>
                <a:latin typeface="Lora"/>
                <a:ea typeface="Lora"/>
                <a:cs typeface="Lora"/>
                <a:sym typeface="Lora"/>
              </a:rPr>
              <a:t>1</a:t>
            </a:r>
            <a:endParaRPr lang="en-US" sz="1100"/>
          </a:p>
        </p:txBody>
      </p:sp>
      <p:sp>
        <p:nvSpPr>
          <p:cNvPr name="AutoShape 6" id="6"/>
          <p:cNvSpPr/>
          <p:nvPr/>
        </p:nvSpPr>
        <p:spPr>
          <a:xfrm rot="0" flipH="false" flipV="false">
            <a:off x="1905000" y="2209800"/>
            <a:ext cx="9144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2A2A28"/>
                </a:solidFill>
                <a:latin typeface="Lora"/>
                <a:ea typeface="Lora"/>
                <a:cs typeface="Lora"/>
                <a:sym typeface="Lora"/>
              </a:rPr>
              <a:t>Code the moves, against the actual page used that lesson</a:t>
            </a:r>
            <a:endParaRPr lang="en-US" sz="1100"/>
          </a:p>
        </p:txBody>
      </p:sp>
      <p:sp>
        <p:nvSpPr>
          <p:cNvPr name="AutoShape 7" id="7"/>
          <p:cNvSpPr/>
          <p:nvPr/>
        </p:nvSpPr>
        <p:spPr>
          <a:xfrm rot="0" flipH="false" flipV="false">
            <a:off x="1905000" y="2565400"/>
            <a:ext cx="9144000" cy="6604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A4842"/>
                </a:solidFill>
                <a:latin typeface="Lora"/>
                <a:ea typeface="Lora"/>
                <a:cs typeface="Lora"/>
                <a:sym typeface="Lora"/>
              </a:rPr>
              <a:t>Addition, omission, substitution, modification, reordering, supplementation, translanguaging, cultural filtering, faithful transmission, categories from Rathert &amp; Cabaroğlu (2022) and Hanifa &amp; Yusra (2023) as a starting point, not a fixed checklist.</a:t>
            </a:r>
            <a:endParaRPr lang="en-US" sz="1100"/>
          </a:p>
        </p:txBody>
      </p:sp>
      <p:cxnSp>
        <p:nvCxnSpPr>
          <p:cNvPr name="Connector 8" id="8"/>
          <p:cNvCxnSpPr/>
          <p:nvPr/>
        </p:nvCxnSpPr>
        <p:spPr>
          <a:xfrm rot="-4407" flipH="false" flipV="false">
            <a:off x="1143004" y="32702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9" id="9"/>
          <p:cNvSpPr/>
          <p:nvPr/>
        </p:nvSpPr>
        <p:spPr>
          <a:xfrm rot="0" flipH="false" flipV="false">
            <a:off x="1143000" y="3403600"/>
            <a:ext cx="762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000">
                <a:solidFill>
                  <a:srgbClr val="8C4A34"/>
                </a:solidFill>
                <a:latin typeface="Lora"/>
                <a:ea typeface="Lora"/>
                <a:cs typeface="Lora"/>
                <a:sym typeface="Lora"/>
              </a:rPr>
              <a:t>2</a:t>
            </a:r>
            <a:endParaRPr lang="en-US" sz="1100"/>
          </a:p>
        </p:txBody>
      </p:sp>
      <p:sp>
        <p:nvSpPr>
          <p:cNvPr name="AutoShape 10" id="10"/>
          <p:cNvSpPr/>
          <p:nvPr/>
        </p:nvSpPr>
        <p:spPr>
          <a:xfrm rot="0" flipH="false" flipV="false">
            <a:off x="1905000" y="3429000"/>
            <a:ext cx="9144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2A2A28"/>
                </a:solidFill>
                <a:latin typeface="Lora"/>
                <a:ea typeface="Lora"/>
                <a:cs typeface="Lora"/>
                <a:sym typeface="Lora"/>
              </a:rPr>
              <a:t>Code the reasons, as judgements tied to that lesson</a:t>
            </a:r>
            <a:endParaRPr lang="en-US" sz="1100"/>
          </a:p>
        </p:txBody>
      </p:sp>
      <p:sp>
        <p:nvSpPr>
          <p:cNvPr name="AutoShape 11" id="11"/>
          <p:cNvSpPr/>
          <p:nvPr/>
        </p:nvSpPr>
        <p:spPr>
          <a:xfrm rot="0" flipH="false" flipV="false">
            <a:off x="1905000" y="3784600"/>
            <a:ext cx="9144000" cy="6604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A4842"/>
                </a:solidFill>
                <a:latin typeface="Lora"/>
                <a:ea typeface="Lora"/>
                <a:cs typeface="Lora"/>
                <a:sym typeface="Lora"/>
              </a:rPr>
              <a:t>Learners, time, exams, language resources (Chinese / Urdu / English), identity. A reason that appears only in talk and never in an observed lesson is recorded as </a:t>
            </a:r>
            <a:r>
              <a:rPr lang="en-US" b="false" i="false" strike="noStrike" u="none" sz="1300">
                <a:solidFill>
                  <a:srgbClr val="8C4A34"/>
                </a:solidFill>
                <a:latin typeface="Lora"/>
                <a:ea typeface="Lora"/>
                <a:cs typeface="Lora"/>
                <a:sym typeface="Lora"/>
              </a:rPr>
              <a:t>talk, not practice</a:t>
            </a:r>
            <a:r>
              <a:rPr lang="en-US" b="false" i="false" strike="noStrike" u="none" sz="1300">
                <a:solidFill>
                  <a:srgbClr val="4A4842"/>
                </a:solidFill>
                <a:latin typeface="Lora"/>
                <a:ea typeface="Lora"/>
                <a:cs typeface="Lora"/>
                <a:sym typeface="Lora"/>
              </a:rPr>
              <a:t>.</a:t>
            </a:r>
            <a:endParaRPr lang="en-US" sz="1100"/>
          </a:p>
        </p:txBody>
      </p:sp>
      <p:cxnSp>
        <p:nvCxnSpPr>
          <p:cNvPr name="Connector 12" id="12"/>
          <p:cNvCxnSpPr/>
          <p:nvPr/>
        </p:nvCxnSpPr>
        <p:spPr>
          <a:xfrm rot="-4407" flipH="false" flipV="false">
            <a:off x="1143004" y="44894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3" id="13"/>
          <p:cNvSpPr/>
          <p:nvPr/>
        </p:nvSpPr>
        <p:spPr>
          <a:xfrm rot="0" flipH="false" flipV="false">
            <a:off x="1143000" y="4622800"/>
            <a:ext cx="762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000">
                <a:solidFill>
                  <a:srgbClr val="8C4A34"/>
                </a:solidFill>
                <a:latin typeface="Lora"/>
                <a:ea typeface="Lora"/>
                <a:cs typeface="Lora"/>
                <a:sym typeface="Lora"/>
              </a:rPr>
              <a:t>3</a:t>
            </a:r>
            <a:endParaRPr lang="en-US" sz="1100"/>
          </a:p>
        </p:txBody>
      </p:sp>
      <p:sp>
        <p:nvSpPr>
          <p:cNvPr name="AutoShape 14" id="14"/>
          <p:cNvSpPr/>
          <p:nvPr/>
        </p:nvSpPr>
        <p:spPr>
          <a:xfrm rot="0" flipH="false" flipV="false">
            <a:off x="1905000" y="4648200"/>
            <a:ext cx="9144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2A2A28"/>
                </a:solidFill>
                <a:latin typeface="Lora"/>
                <a:ea typeface="Lora"/>
                <a:cs typeface="Lora"/>
                <a:sym typeface="Lora"/>
              </a:rPr>
              <a:t>Read agency across the triad and its conditions</a:t>
            </a:r>
            <a:endParaRPr lang="en-US" sz="1100"/>
          </a:p>
        </p:txBody>
      </p:sp>
      <p:sp>
        <p:nvSpPr>
          <p:cNvPr name="AutoShape 15" id="15"/>
          <p:cNvSpPr/>
          <p:nvPr/>
        </p:nvSpPr>
        <p:spPr>
          <a:xfrm rot="0" flipH="false" flipV="false">
            <a:off x="1905000" y="5003800"/>
            <a:ext cx="9144000" cy="6604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A4842"/>
                </a:solidFill>
                <a:latin typeface="Lora"/>
                <a:ea typeface="Lora"/>
                <a:cs typeface="Lora"/>
                <a:sym typeface="Lora"/>
              </a:rPr>
              <a:t>Past experience, future purpose and present judgement read together. Labels such as restricted, addition-only or persistent are used only where the data support them, they describe a form of agency, not a ranking of teacher quality.</a:t>
            </a:r>
            <a:endParaRPr lang="en-US" sz="1100"/>
          </a:p>
        </p:txBody>
      </p:sp>
      <p:sp>
        <p:nvSpPr>
          <p:cNvPr name="AutoShape 16" id="16"/>
          <p:cNvSpPr/>
          <p:nvPr/>
        </p:nvSpPr>
        <p:spPr>
          <a:xfrm rot="0" flipH="false" flipV="false">
            <a:off x="1143000" y="5867400"/>
            <a:ext cx="9906000" cy="533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true" strike="noStrike" u="none" sz="1400">
                <a:solidFill>
                  <a:srgbClr val="2A2A28"/>
                </a:solidFill>
                <a:latin typeface="Lora"/>
                <a:ea typeface="Lora"/>
                <a:cs typeface="Lora"/>
                <a:sym typeface="Lora"/>
              </a:rPr>
              <a:t>Each case is analysed on its own terms first; cases are compared against each other only afterwards. The unit is the individual teacher within their institution.</a:t>
            </a:r>
            <a:endParaRPr lang="en-US" sz="1100"/>
          </a:p>
        </p:txBody>
      </p:sp>
    </p:spTree>
  </p:cSld>
  <p:clrMapOvr>
    <a:masterClrMapping/>
  </p:clrMapOvr>
</p:sld>
</file>

<file path=ppt/slides/slide12.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06 · PROCEDURE</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Six stages, each depending on the last</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184400"/>
            <a:ext cx="3048000" cy="1524000"/>
          </a:xfrm>
          <a:prstGeom prst="roundRect">
            <a:avLst>
              <a:gd name="adj" fmla="val 0"/>
            </a:avLst>
          </a:prstGeom>
          <a:solidFill>
            <a:srgbClr val="FFFFFF">
              <a:alpha val="55000"/>
            </a:srgbClr>
          </a:solidFill>
          <a:ln w="12700" cmpd="sng" cap="flat">
            <a:solidFill>
              <a:srgbClr val="C9BFAE">
                <a:alpha val="100000"/>
              </a:srgbClr>
            </a:solid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1346200" y="2311400"/>
            <a:ext cx="26416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500">
                <a:solidFill>
                  <a:srgbClr val="8C4A34"/>
                </a:solidFill>
                <a:latin typeface="Lora"/>
                <a:ea typeface="Lora"/>
                <a:cs typeface="Lora"/>
                <a:sym typeface="Lora"/>
              </a:rPr>
              <a:t>1</a:t>
            </a:r>
            <a:r>
              <a:rPr lang="en-US" b="true" i="false" strike="noStrike" u="none" sz="1250">
                <a:solidFill>
                  <a:srgbClr val="4A4842"/>
                </a:solidFill>
                <a:latin typeface="Lora"/>
                <a:ea typeface="Lora"/>
                <a:cs typeface="Lora"/>
                <a:sym typeface="Lora"/>
              </a:rPr>
              <a:t> Literature &amp; gap</a:t>
            </a:r>
            <a:r>
              <a:rPr lang="en-US" b="false" i="false" strike="noStrike" u="none" sz="1250">
                <a:solidFill>
                  <a:srgbClr val="4A4842"/>
                </a:solidFill>
                <a:latin typeface="Lora"/>
                <a:ea typeface="Lora"/>
                <a:cs typeface="Lora"/>
                <a:sym typeface="Lora"/>
              </a:rPr>
              <a:t/>
            </a:r>
            <a:endParaRPr lang="en-US" sz="1100"/>
          </a:p>
          <a:p>
            <a:pPr algn="l" marL="0" indent="0">
              <a:lnSpc>
                <a:spcPct val="112500"/>
              </a:lnSpc>
            </a:pPr>
            <a:r>
              <a:rPr lang="en-US" b="false" i="false" strike="noStrike" u="none" sz="1250">
                <a:solidFill>
                  <a:srgbClr val="4A4842"/>
                </a:solidFill>
                <a:latin typeface="Lora"/>
                <a:ea typeface="Lora"/>
                <a:cs typeface="Lora"/>
                <a:sym typeface="Lora"/>
              </a:rPr>
              <a:t>Lock the object; organize the four strands; show the join is missing for this population.</a:t>
            </a:r>
          </a:p>
        </p:txBody>
      </p:sp>
      <p:cxnSp>
        <p:nvCxnSpPr>
          <p:cNvPr name="Connector 7" id="7"/>
          <p:cNvCxnSpPr/>
          <p:nvPr/>
        </p:nvCxnSpPr>
        <p:spPr>
          <a:xfrm rot="-190789" flipH="false" flipV="false">
            <a:off x="4216576" y="2940050"/>
            <a:ext cx="2286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8" id="8"/>
          <p:cNvSpPr/>
          <p:nvPr/>
        </p:nvSpPr>
        <p:spPr>
          <a:xfrm rot="0" flipH="false" flipV="false">
            <a:off x="4521200" y="2184400"/>
            <a:ext cx="3048000" cy="1524000"/>
          </a:xfrm>
          <a:prstGeom prst="roundRect">
            <a:avLst>
              <a:gd name="adj" fmla="val 0"/>
            </a:avLst>
          </a:prstGeom>
          <a:solidFill>
            <a:srgbClr val="FFFFFF">
              <a:alpha val="55000"/>
            </a:srgbClr>
          </a:solidFill>
          <a:ln w="12700" cmpd="sng" cap="flat">
            <a:solidFill>
              <a:srgbClr val="C9BFAE">
                <a:alpha val="100000"/>
              </a:srgbClr>
            </a:solid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4724400" y="2311400"/>
            <a:ext cx="26416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500">
                <a:solidFill>
                  <a:srgbClr val="8C4A34"/>
                </a:solidFill>
                <a:latin typeface="Lora"/>
                <a:ea typeface="Lora"/>
                <a:cs typeface="Lora"/>
                <a:sym typeface="Lora"/>
              </a:rPr>
              <a:t>2</a:t>
            </a:r>
            <a:r>
              <a:rPr lang="en-US" b="true" i="false" strike="noStrike" u="none" sz="1250">
                <a:solidFill>
                  <a:srgbClr val="4A4842"/>
                </a:solidFill>
                <a:latin typeface="Lora"/>
                <a:ea typeface="Lora"/>
                <a:cs typeface="Lora"/>
                <a:sym typeface="Lora"/>
              </a:rPr>
              <a:t> Framework &amp; design</a:t>
            </a:r>
            <a:r>
              <a:rPr lang="en-US" b="false" i="false" strike="noStrike" u="none" sz="1250">
                <a:solidFill>
                  <a:srgbClr val="4A4842"/>
                </a:solidFill>
                <a:latin typeface="Lora"/>
                <a:ea typeface="Lora"/>
                <a:cs typeface="Lora"/>
                <a:sym typeface="Lora"/>
              </a:rPr>
              <a:t/>
            </a:r>
            <a:endParaRPr lang="en-US" sz="1100"/>
          </a:p>
          <a:p>
            <a:pPr algn="l" marL="0" indent="0">
              <a:lnSpc>
                <a:spcPct val="112500"/>
              </a:lnSpc>
            </a:pPr>
            <a:r>
              <a:rPr lang="en-US" b="false" i="false" strike="noStrike" u="none" sz="1250">
                <a:solidFill>
                  <a:srgbClr val="4A4842"/>
                </a:solidFill>
                <a:latin typeface="Lora"/>
                <a:ea typeface="Lora"/>
                <a:cs typeface="Lora"/>
                <a:sym typeface="Lora"/>
              </a:rPr>
              <a:t>Operationalize recontextualization + ecological agency; write the case-study protocol and instruments.</a:t>
            </a:r>
          </a:p>
        </p:txBody>
      </p:sp>
      <p:cxnSp>
        <p:nvCxnSpPr>
          <p:cNvPr name="Connector 10" id="10"/>
          <p:cNvCxnSpPr/>
          <p:nvPr/>
        </p:nvCxnSpPr>
        <p:spPr>
          <a:xfrm rot="-190789" flipH="false" flipV="false">
            <a:off x="7594776" y="2940050"/>
            <a:ext cx="2286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11" id="11"/>
          <p:cNvSpPr/>
          <p:nvPr/>
        </p:nvSpPr>
        <p:spPr>
          <a:xfrm rot="0" flipH="false" flipV="false">
            <a:off x="7924800" y="2184400"/>
            <a:ext cx="3048000" cy="1524000"/>
          </a:xfrm>
          <a:prstGeom prst="roundRect">
            <a:avLst>
              <a:gd name="adj" fmla="val 0"/>
            </a:avLst>
          </a:prstGeom>
          <a:solidFill>
            <a:srgbClr val="FFFFFF">
              <a:alpha val="55000"/>
            </a:srgbClr>
          </a:solidFill>
          <a:ln w="12700" cmpd="sng" cap="flat">
            <a:solidFill>
              <a:srgbClr val="C9BFAE">
                <a:alpha val="100000"/>
              </a:srgbClr>
            </a:solidFill>
            <a:prstDash val="solid"/>
            <a:round/>
          </a:ln>
        </p:spPr>
        <p:txBody>
          <a:bodyPr anchor="ctr" rtlCol="false" vert="horz" wrap="square" lIns="63500" rIns="63500" tIns="63500" bIns="63500"/>
          <a:lstStyle/>
          <a:p>
            <a:pPr algn="ctr">
              <a:defRPr/>
            </a:pPr>
            <a:endParaRPr/>
          </a:p>
        </p:txBody>
      </p:sp>
      <p:sp>
        <p:nvSpPr>
          <p:cNvPr name="AutoShape 12" id="12"/>
          <p:cNvSpPr/>
          <p:nvPr/>
        </p:nvSpPr>
        <p:spPr>
          <a:xfrm rot="0" flipH="false" flipV="false">
            <a:off x="8128000" y="2311400"/>
            <a:ext cx="26416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500">
                <a:solidFill>
                  <a:srgbClr val="8C4A34"/>
                </a:solidFill>
                <a:latin typeface="Lora"/>
                <a:ea typeface="Lora"/>
                <a:cs typeface="Lora"/>
                <a:sym typeface="Lora"/>
              </a:rPr>
              <a:t>3</a:t>
            </a:r>
            <a:r>
              <a:rPr lang="en-US" b="true" i="false" strike="noStrike" u="none" sz="1250">
                <a:solidFill>
                  <a:srgbClr val="4A4842"/>
                </a:solidFill>
                <a:latin typeface="Lora"/>
                <a:ea typeface="Lora"/>
                <a:cs typeface="Lora"/>
                <a:sym typeface="Lora"/>
              </a:rPr>
              <a:t> Ethics, access &amp; pilot</a:t>
            </a:r>
            <a:r>
              <a:rPr lang="en-US" b="false" i="false" strike="noStrike" u="none" sz="1250">
                <a:solidFill>
                  <a:srgbClr val="4A4842"/>
                </a:solidFill>
                <a:latin typeface="Lora"/>
                <a:ea typeface="Lora"/>
                <a:cs typeface="Lora"/>
                <a:sym typeface="Lora"/>
              </a:rPr>
              <a:t/>
            </a:r>
            <a:endParaRPr lang="en-US" sz="1100"/>
          </a:p>
          <a:p>
            <a:pPr algn="l" marL="0" indent="0">
              <a:lnSpc>
                <a:spcPct val="112500"/>
              </a:lnSpc>
            </a:pPr>
            <a:r>
              <a:rPr lang="en-US" b="false" i="false" strike="noStrike" u="none" sz="1250">
                <a:solidFill>
                  <a:srgbClr val="4A4842"/>
                </a:solidFill>
                <a:latin typeface="Lora"/>
                <a:ea typeface="Lora"/>
                <a:cs typeface="Lora"/>
                <a:sym typeface="Lora"/>
              </a:rPr>
              <a:t>Approval, purposive recruitment, a 1 to 2 teacher pilot; revise instruments before fieldwork.</a:t>
            </a:r>
          </a:p>
        </p:txBody>
      </p:sp>
      <p:cxnSp>
        <p:nvCxnSpPr>
          <p:cNvPr name="Connector 13" id="13"/>
          <p:cNvCxnSpPr/>
          <p:nvPr/>
        </p:nvCxnSpPr>
        <p:spPr>
          <a:xfrm rot="5256843" flipH="false" flipV="false">
            <a:off x="9296400" y="3854582"/>
            <a:ext cx="3048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none" w="lg" len="lg"/>
          </a:ln>
        </p:spPr>
      </p:cxnSp>
      <p:cxnSp>
        <p:nvCxnSpPr>
          <p:cNvPr name="Connector 14" id="14"/>
          <p:cNvCxnSpPr/>
          <p:nvPr/>
        </p:nvCxnSpPr>
        <p:spPr>
          <a:xfrm rot="10793562" flipH="false" flipV="false">
            <a:off x="2666994" y="4006850"/>
            <a:ext cx="67818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none" w="lg" len="lg"/>
          </a:ln>
        </p:spPr>
      </p:cxnSp>
      <p:cxnSp>
        <p:nvCxnSpPr>
          <p:cNvPr name="Connector 15" id="15"/>
          <p:cNvCxnSpPr/>
          <p:nvPr/>
        </p:nvCxnSpPr>
        <p:spPr>
          <a:xfrm rot="5209210" flipH="false" flipV="false">
            <a:off x="2552700" y="4121326"/>
            <a:ext cx="2286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16" id="16"/>
          <p:cNvSpPr/>
          <p:nvPr/>
        </p:nvSpPr>
        <p:spPr>
          <a:xfrm rot="0" flipH="false" flipV="false">
            <a:off x="1143000" y="4318000"/>
            <a:ext cx="3048000" cy="1524000"/>
          </a:xfrm>
          <a:prstGeom prst="roundRect">
            <a:avLst>
              <a:gd name="adj" fmla="val 0"/>
            </a:avLst>
          </a:prstGeom>
          <a:solidFill>
            <a:srgbClr val="8C4A34">
              <a:alpha val="10000"/>
            </a:srgbClr>
          </a:solidFill>
          <a:ln w="12700" cmpd="sng" cap="flat">
            <a:solidFill>
              <a:srgbClr val="8C4A34">
                <a:alpha val="100000"/>
              </a:srgbClr>
            </a:solid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1346200" y="4445000"/>
            <a:ext cx="26416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500">
                <a:solidFill>
                  <a:srgbClr val="8C4A34"/>
                </a:solidFill>
                <a:latin typeface="Lora"/>
                <a:ea typeface="Lora"/>
                <a:cs typeface="Lora"/>
                <a:sym typeface="Lora"/>
              </a:rPr>
              <a:t>4</a:t>
            </a:r>
            <a:r>
              <a:rPr lang="en-US" b="true" i="false" strike="noStrike" u="none" sz="1250">
                <a:solidFill>
                  <a:srgbClr val="4A4842"/>
                </a:solidFill>
                <a:latin typeface="Lora"/>
                <a:ea typeface="Lora"/>
                <a:cs typeface="Lora"/>
                <a:sym typeface="Lora"/>
              </a:rPr>
              <a:t> Fieldwork</a:t>
            </a:r>
            <a:r>
              <a:rPr lang="en-US" b="false" i="false" strike="noStrike" u="none" sz="1250">
                <a:solidFill>
                  <a:srgbClr val="4A4842"/>
                </a:solidFill>
                <a:latin typeface="Lora"/>
                <a:ea typeface="Lora"/>
                <a:cs typeface="Lora"/>
                <a:sym typeface="Lora"/>
              </a:rPr>
              <a:t/>
            </a:r>
            <a:endParaRPr lang="en-US" sz="1100"/>
          </a:p>
          <a:p>
            <a:pPr algn="l" marL="0" indent="0">
              <a:lnSpc>
                <a:spcPct val="112500"/>
              </a:lnSpc>
            </a:pPr>
            <a:r>
              <a:rPr lang="en-US" b="false" i="false" strike="noStrike" u="none" sz="1250">
                <a:solidFill>
                  <a:srgbClr val="4A4842"/>
                </a:solidFill>
                <a:latin typeface="Lora"/>
                <a:ea typeface="Lora"/>
                <a:cs typeface="Lora"/>
                <a:sym typeface="Lora"/>
              </a:rPr>
              <a:t>Teacher by teacher: collect materials, observe lessons, interview, stimulated recall, field notes.</a:t>
            </a:r>
          </a:p>
        </p:txBody>
      </p:sp>
      <p:cxnSp>
        <p:nvCxnSpPr>
          <p:cNvPr name="Connector 18" id="18"/>
          <p:cNvCxnSpPr/>
          <p:nvPr/>
        </p:nvCxnSpPr>
        <p:spPr>
          <a:xfrm rot="-190789" flipH="false" flipV="false">
            <a:off x="4216576" y="5073650"/>
            <a:ext cx="2286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19" id="19"/>
          <p:cNvSpPr/>
          <p:nvPr/>
        </p:nvSpPr>
        <p:spPr>
          <a:xfrm rot="0" flipH="false" flipV="false">
            <a:off x="4521200" y="4318000"/>
            <a:ext cx="3048000" cy="1524000"/>
          </a:xfrm>
          <a:prstGeom prst="roundRect">
            <a:avLst>
              <a:gd name="adj" fmla="val 0"/>
            </a:avLst>
          </a:prstGeom>
          <a:solidFill>
            <a:srgbClr val="8C4A34">
              <a:alpha val="10000"/>
            </a:srgbClr>
          </a:solidFill>
          <a:ln w="12700" cmpd="sng" cap="flat">
            <a:solidFill>
              <a:srgbClr val="8C4A34">
                <a:alpha val="100000"/>
              </a:srgbClr>
            </a:solidFill>
            <a:prstDash val="solid"/>
            <a:round/>
          </a:ln>
        </p:spPr>
        <p:txBody>
          <a:bodyPr anchor="ctr" rtlCol="false" vert="horz" wrap="square" lIns="63500" rIns="63500" tIns="63500" bIns="63500"/>
          <a:lstStyle/>
          <a:p>
            <a:pPr algn="ctr">
              <a:defRPr/>
            </a:pPr>
            <a:endParaRPr/>
          </a:p>
        </p:txBody>
      </p:sp>
      <p:sp>
        <p:nvSpPr>
          <p:cNvPr name="AutoShape 20" id="20"/>
          <p:cNvSpPr/>
          <p:nvPr/>
        </p:nvSpPr>
        <p:spPr>
          <a:xfrm rot="0" flipH="false" flipV="false">
            <a:off x="4724400" y="4445000"/>
            <a:ext cx="26416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500">
                <a:solidFill>
                  <a:srgbClr val="8C4A34"/>
                </a:solidFill>
                <a:latin typeface="Lora"/>
                <a:ea typeface="Lora"/>
                <a:cs typeface="Lora"/>
                <a:sym typeface="Lora"/>
              </a:rPr>
              <a:t>5</a:t>
            </a:r>
            <a:r>
              <a:rPr lang="en-US" b="true" i="false" strike="noStrike" u="none" sz="1250">
                <a:solidFill>
                  <a:srgbClr val="4A4842"/>
                </a:solidFill>
                <a:latin typeface="Lora"/>
                <a:ea typeface="Lora"/>
                <a:cs typeface="Lora"/>
                <a:sym typeface="Lora"/>
              </a:rPr>
              <a:t> Analysis</a:t>
            </a:r>
            <a:r>
              <a:rPr lang="en-US" b="false" i="false" strike="noStrike" u="none" sz="1250">
                <a:solidFill>
                  <a:srgbClr val="4A4842"/>
                </a:solidFill>
                <a:latin typeface="Lora"/>
                <a:ea typeface="Lora"/>
                <a:cs typeface="Lora"/>
                <a:sym typeface="Lora"/>
              </a:rPr>
              <a:t/>
            </a:r>
            <a:endParaRPr lang="en-US" sz="1100"/>
          </a:p>
          <a:p>
            <a:pPr algn="l" marL="0" indent="0">
              <a:lnSpc>
                <a:spcPct val="112500"/>
              </a:lnSpc>
            </a:pPr>
            <a:r>
              <a:rPr lang="en-US" b="false" i="false" strike="noStrike" u="none" sz="1250">
                <a:solidFill>
                  <a:srgbClr val="4A4842"/>
                </a:solidFill>
                <a:latin typeface="Lora"/>
                <a:ea typeface="Lora"/>
                <a:cs typeface="Lora"/>
                <a:sym typeface="Lora"/>
              </a:rPr>
              <a:t>Three within-case passes, then cross-case comparison; labels follow the data, not the frame.</a:t>
            </a:r>
          </a:p>
        </p:txBody>
      </p:sp>
      <p:cxnSp>
        <p:nvCxnSpPr>
          <p:cNvPr name="Connector 21" id="21"/>
          <p:cNvCxnSpPr/>
          <p:nvPr/>
        </p:nvCxnSpPr>
        <p:spPr>
          <a:xfrm rot="-190789" flipH="false" flipV="false">
            <a:off x="7594776" y="5073650"/>
            <a:ext cx="2286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22" id="22"/>
          <p:cNvSpPr/>
          <p:nvPr/>
        </p:nvSpPr>
        <p:spPr>
          <a:xfrm rot="0" flipH="false" flipV="false">
            <a:off x="7924800" y="4318000"/>
            <a:ext cx="3048000" cy="1524000"/>
          </a:xfrm>
          <a:prstGeom prst="roundRect">
            <a:avLst>
              <a:gd name="adj" fmla="val 0"/>
            </a:avLst>
          </a:prstGeom>
          <a:solidFill>
            <a:srgbClr val="8C4A34">
              <a:alpha val="10000"/>
            </a:srgbClr>
          </a:solidFill>
          <a:ln w="12700" cmpd="sng" cap="flat">
            <a:solidFill>
              <a:srgbClr val="8C4A34">
                <a:alpha val="100000"/>
              </a:srgbClr>
            </a:solidFill>
            <a:prstDash val="solid"/>
            <a:round/>
          </a:ln>
        </p:spPr>
        <p:txBody>
          <a:bodyPr anchor="ctr" rtlCol="false" vert="horz" wrap="square" lIns="63500" rIns="63500" tIns="63500" bIns="63500"/>
          <a:lstStyle/>
          <a:p>
            <a:pPr algn="ctr">
              <a:defRPr/>
            </a:pPr>
            <a:endParaRPr/>
          </a:p>
        </p:txBody>
      </p:sp>
      <p:sp>
        <p:nvSpPr>
          <p:cNvPr name="AutoShape 23" id="23"/>
          <p:cNvSpPr/>
          <p:nvPr/>
        </p:nvSpPr>
        <p:spPr>
          <a:xfrm rot="0" flipH="false" flipV="false">
            <a:off x="8128000" y="4445000"/>
            <a:ext cx="26416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2500"/>
              </a:lnSpc>
              <a:defRPr/>
            </a:pPr>
            <a:r>
              <a:rPr lang="en-US" b="true" i="false" strike="noStrike" u="none" sz="1500">
                <a:solidFill>
                  <a:srgbClr val="8C4A34"/>
                </a:solidFill>
                <a:latin typeface="Lora"/>
                <a:ea typeface="Lora"/>
                <a:cs typeface="Lora"/>
                <a:sym typeface="Lora"/>
              </a:rPr>
              <a:t>6</a:t>
            </a:r>
            <a:r>
              <a:rPr lang="en-US" b="true" i="false" strike="noStrike" u="none" sz="1250">
                <a:solidFill>
                  <a:srgbClr val="4A4842"/>
                </a:solidFill>
                <a:latin typeface="Lora"/>
                <a:ea typeface="Lora"/>
                <a:cs typeface="Lora"/>
                <a:sym typeface="Lora"/>
              </a:rPr>
              <a:t> Writing &amp; defence</a:t>
            </a:r>
            <a:r>
              <a:rPr lang="en-US" b="false" i="false" strike="noStrike" u="none" sz="1250">
                <a:solidFill>
                  <a:srgbClr val="4A4842"/>
                </a:solidFill>
                <a:latin typeface="Lora"/>
                <a:ea typeface="Lora"/>
                <a:cs typeface="Lora"/>
                <a:sym typeface="Lora"/>
              </a:rPr>
              <a:t/>
            </a:r>
            <a:endParaRPr lang="en-US" sz="1100"/>
          </a:p>
          <a:p>
            <a:pPr algn="l" marL="0" indent="0">
              <a:lnSpc>
                <a:spcPct val="112500"/>
              </a:lnSpc>
            </a:pPr>
            <a:r>
              <a:rPr lang="en-US" b="false" i="false" strike="noStrike" u="none" sz="1250">
                <a:solidFill>
                  <a:srgbClr val="4A4842"/>
                </a:solidFill>
                <a:latin typeface="Lora"/>
                <a:ea typeface="Lora"/>
                <a:cs typeface="Lora"/>
                <a:sym typeface="Lora"/>
              </a:rPr>
              <a:t>Findings, discussion, limits. The close does not become a proposal for a new textbook.</a:t>
            </a:r>
          </a:p>
        </p:txBody>
      </p:sp>
      <p:sp>
        <p:nvSpPr>
          <p:cNvPr name="AutoShape 24" id="24"/>
          <p:cNvSpPr/>
          <p:nvPr/>
        </p:nvSpPr>
        <p:spPr>
          <a:xfrm rot="0" flipH="false" flipV="false">
            <a:off x="1143000" y="6172200"/>
            <a:ext cx="9906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Pilot data are not reported as findings. If a site refuses observation, the case is dropped or limited, it is not recoded as perception research.</a:t>
            </a:r>
            <a:endParaRPr lang="en-US" sz="1100"/>
          </a:p>
        </p:txBody>
      </p:sp>
    </p:spTree>
  </p:cSld>
  <p:clrMapOvr>
    <a:masterClrMapping/>
  </p:clrMapOvr>
</p:sld>
</file>

<file path=ppt/slides/slide13.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06 · THESIS STRUCTURE</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Seven chapters, two kept deliberately apart</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133600"/>
            <a:ext cx="76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1</a:t>
            </a:r>
            <a:endParaRPr lang="en-US" sz="1100"/>
          </a:p>
        </p:txBody>
      </p:sp>
      <p:sp>
        <p:nvSpPr>
          <p:cNvPr name="AutoShape 6" id="6"/>
          <p:cNvSpPr/>
          <p:nvPr/>
        </p:nvSpPr>
        <p:spPr>
          <a:xfrm rot="0" flipH="false" flipV="false">
            <a:off x="1651000" y="2133600"/>
            <a:ext cx="9398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Introduction</a:t>
            </a:r>
            <a:r>
              <a:rPr lang="en-US" b="false" i="false" strike="noStrike" u="none" sz="1400">
                <a:solidFill>
                  <a:srgbClr val="2A2A28"/>
                </a:solidFill>
                <a:latin typeface="Lora"/>
                <a:ea typeface="Lora"/>
                <a:cs typeface="Lora"/>
                <a:sym typeface="Lora"/>
              </a:rPr>
              <a:t>, problem, aim, research questions, object and delimitations, key terms.</a:t>
            </a:r>
            <a:endParaRPr lang="en-US" sz="1100"/>
          </a:p>
        </p:txBody>
      </p:sp>
      <p:cxnSp>
        <p:nvCxnSpPr>
          <p:cNvPr name="Connector 7" id="7"/>
          <p:cNvCxnSpPr/>
          <p:nvPr/>
        </p:nvCxnSpPr>
        <p:spPr>
          <a:xfrm rot="-4407" flipH="false" flipV="false">
            <a:off x="1143004" y="25336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8" id="8"/>
          <p:cNvSpPr/>
          <p:nvPr/>
        </p:nvSpPr>
        <p:spPr>
          <a:xfrm rot="0" flipH="false" flipV="false">
            <a:off x="1143000" y="2667000"/>
            <a:ext cx="76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2</a:t>
            </a:r>
            <a:endParaRPr lang="en-US" sz="1100"/>
          </a:p>
        </p:txBody>
      </p:sp>
      <p:sp>
        <p:nvSpPr>
          <p:cNvPr name="AutoShape 9" id="9"/>
          <p:cNvSpPr/>
          <p:nvPr/>
        </p:nvSpPr>
        <p:spPr>
          <a:xfrm rot="0" flipH="false" flipV="false">
            <a:off x="1651000" y="2667000"/>
            <a:ext cx="9398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Literature Review</a:t>
            </a:r>
            <a:r>
              <a:rPr lang="en-US" b="false" i="false" strike="noStrike" u="none" sz="1400">
                <a:solidFill>
                  <a:srgbClr val="2A2A28"/>
                </a:solidFill>
                <a:latin typeface="Lora"/>
                <a:ea typeface="Lora"/>
                <a:cs typeface="Lora"/>
                <a:sym typeface="Lora"/>
              </a:rPr>
              <a:t>, four strands; what each can and cannot show; the gap.</a:t>
            </a:r>
            <a:endParaRPr lang="en-US" sz="1100"/>
          </a:p>
        </p:txBody>
      </p:sp>
      <p:cxnSp>
        <p:nvCxnSpPr>
          <p:cNvPr name="Connector 10" id="10"/>
          <p:cNvCxnSpPr/>
          <p:nvPr/>
        </p:nvCxnSpPr>
        <p:spPr>
          <a:xfrm rot="-4407" flipH="false" flipV="false">
            <a:off x="1143004" y="30670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11" id="11"/>
          <p:cNvSpPr/>
          <p:nvPr/>
        </p:nvSpPr>
        <p:spPr>
          <a:xfrm rot="0" flipH="false" flipV="false">
            <a:off x="1143000" y="3200400"/>
            <a:ext cx="76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3</a:t>
            </a:r>
            <a:endParaRPr lang="en-US" sz="1100"/>
          </a:p>
        </p:txBody>
      </p:sp>
      <p:sp>
        <p:nvSpPr>
          <p:cNvPr name="AutoShape 12" id="12"/>
          <p:cNvSpPr/>
          <p:nvPr/>
        </p:nvSpPr>
        <p:spPr>
          <a:xfrm rot="0" flipH="false" flipV="false">
            <a:off x="1651000" y="3200400"/>
            <a:ext cx="9398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Theoretical Framework</a:t>
            </a:r>
            <a:r>
              <a:rPr lang="en-US" b="false" i="false" strike="noStrike" u="none" sz="1400">
                <a:solidFill>
                  <a:srgbClr val="2A2A28"/>
                </a:solidFill>
                <a:latin typeface="Lora"/>
                <a:ea typeface="Lora"/>
                <a:cs typeface="Lora"/>
                <a:sym typeface="Lora"/>
              </a:rPr>
              <a:t>, recontextualization + ecological agency mapped onto the questions.</a:t>
            </a:r>
            <a:endParaRPr lang="en-US" sz="1100"/>
          </a:p>
        </p:txBody>
      </p:sp>
      <p:cxnSp>
        <p:nvCxnSpPr>
          <p:cNvPr name="Connector 13" id="13"/>
          <p:cNvCxnSpPr/>
          <p:nvPr/>
        </p:nvCxnSpPr>
        <p:spPr>
          <a:xfrm rot="-4407" flipH="false" flipV="false">
            <a:off x="1143004" y="36004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14" id="14"/>
          <p:cNvSpPr/>
          <p:nvPr/>
        </p:nvSpPr>
        <p:spPr>
          <a:xfrm rot="0" flipH="false" flipV="false">
            <a:off x="1143000" y="3733800"/>
            <a:ext cx="76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4</a:t>
            </a:r>
            <a:endParaRPr lang="en-US" sz="1100"/>
          </a:p>
        </p:txBody>
      </p:sp>
      <p:sp>
        <p:nvSpPr>
          <p:cNvPr name="AutoShape 15" id="15"/>
          <p:cNvSpPr/>
          <p:nvPr/>
        </p:nvSpPr>
        <p:spPr>
          <a:xfrm rot="0" flipH="false" flipV="false">
            <a:off x="1651000" y="3733800"/>
            <a:ext cx="9398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Research Design</a:t>
            </a:r>
            <a:r>
              <a:rPr lang="en-US" b="false" i="false" strike="noStrike" u="none" sz="1400">
                <a:solidFill>
                  <a:srgbClr val="2A2A28"/>
                </a:solidFill>
                <a:latin typeface="Lora"/>
                <a:ea typeface="Lora"/>
                <a:cs typeface="Lora"/>
                <a:sym typeface="Lora"/>
              </a:rPr>
              <a:t>, sampling, data generation, analysis, ethics, trustworthiness.</a:t>
            </a:r>
            <a:endParaRPr lang="en-US" sz="1100"/>
          </a:p>
        </p:txBody>
      </p:sp>
      <p:cxnSp>
        <p:nvCxnSpPr>
          <p:cNvPr name="Connector 16" id="16"/>
          <p:cNvCxnSpPr/>
          <p:nvPr/>
        </p:nvCxnSpPr>
        <p:spPr>
          <a:xfrm rot="-4407" flipH="false" flipV="false">
            <a:off x="1143004" y="41338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17" id="17"/>
          <p:cNvSpPr/>
          <p:nvPr/>
        </p:nvSpPr>
        <p:spPr>
          <a:xfrm rot="0" flipH="false" flipV="false">
            <a:off x="1143000" y="4267200"/>
            <a:ext cx="76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5</a:t>
            </a:r>
            <a:endParaRPr lang="en-US" sz="1100"/>
          </a:p>
        </p:txBody>
      </p:sp>
      <p:sp>
        <p:nvSpPr>
          <p:cNvPr name="AutoShape 18" id="18"/>
          <p:cNvSpPr/>
          <p:nvPr/>
        </p:nvSpPr>
        <p:spPr>
          <a:xfrm rot="0" flipH="false" flipV="false">
            <a:off x="1651000" y="4267200"/>
            <a:ext cx="9398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Findings I</a:t>
            </a:r>
            <a:r>
              <a:rPr lang="en-US" b="false" i="false" strike="noStrike" u="none" sz="1400">
                <a:solidFill>
                  <a:srgbClr val="2A2A28"/>
                </a:solidFill>
                <a:latin typeface="Lora"/>
                <a:ea typeface="Lora"/>
                <a:cs typeface="Lora"/>
                <a:sym typeface="Lora"/>
              </a:rPr>
              <a:t>, recontextualization practices observed in the classroom (RQ1).</a:t>
            </a:r>
            <a:endParaRPr lang="en-US" sz="1100"/>
          </a:p>
        </p:txBody>
      </p:sp>
      <p:cxnSp>
        <p:nvCxnSpPr>
          <p:cNvPr name="Connector 19" id="19"/>
          <p:cNvCxnSpPr/>
          <p:nvPr/>
        </p:nvCxnSpPr>
        <p:spPr>
          <a:xfrm rot="-4407" flipH="false" flipV="false">
            <a:off x="1143004" y="46672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20" id="20"/>
          <p:cNvSpPr/>
          <p:nvPr/>
        </p:nvSpPr>
        <p:spPr>
          <a:xfrm rot="0" flipH="false" flipV="false">
            <a:off x="1143000" y="4800600"/>
            <a:ext cx="76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6</a:t>
            </a:r>
            <a:endParaRPr lang="en-US" sz="1100"/>
          </a:p>
        </p:txBody>
      </p:sp>
      <p:sp>
        <p:nvSpPr>
          <p:cNvPr name="AutoShape 21" id="21"/>
          <p:cNvSpPr/>
          <p:nvPr/>
        </p:nvSpPr>
        <p:spPr>
          <a:xfrm rot="0" flipH="false" flipV="false">
            <a:off x="1651000" y="4800600"/>
            <a:ext cx="9398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Findings II</a:t>
            </a:r>
            <a:r>
              <a:rPr lang="en-US" b="false" i="false" strike="noStrike" u="none" sz="1400">
                <a:solidFill>
                  <a:srgbClr val="2A2A28"/>
                </a:solidFill>
                <a:latin typeface="Lora"/>
                <a:ea typeface="Lora"/>
                <a:cs typeface="Lora"/>
                <a:sym typeface="Lora"/>
              </a:rPr>
              <a:t>, justifications, the agency triad, and enabling / blocking conditions (RQ2 and RQ3).</a:t>
            </a:r>
            <a:endParaRPr lang="en-US" sz="1100"/>
          </a:p>
        </p:txBody>
      </p:sp>
      <p:cxnSp>
        <p:nvCxnSpPr>
          <p:cNvPr name="Connector 22" id="22"/>
          <p:cNvCxnSpPr/>
          <p:nvPr/>
        </p:nvCxnSpPr>
        <p:spPr>
          <a:xfrm rot="-4407" flipH="false" flipV="false">
            <a:off x="1143004" y="52006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23" id="23"/>
          <p:cNvSpPr/>
          <p:nvPr/>
        </p:nvSpPr>
        <p:spPr>
          <a:xfrm rot="0" flipH="false" flipV="false">
            <a:off x="1143000" y="5334000"/>
            <a:ext cx="76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7</a:t>
            </a:r>
            <a:endParaRPr lang="en-US" sz="1100"/>
          </a:p>
        </p:txBody>
      </p:sp>
      <p:sp>
        <p:nvSpPr>
          <p:cNvPr name="AutoShape 24" id="24"/>
          <p:cNvSpPr/>
          <p:nvPr/>
        </p:nvSpPr>
        <p:spPr>
          <a:xfrm rot="0" flipH="false" flipV="false">
            <a:off x="1651000" y="5334000"/>
            <a:ext cx="9398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Discussion &amp; Conclusion</a:t>
            </a:r>
            <a:r>
              <a:rPr lang="en-US" b="false" i="false" strike="noStrike" u="none" sz="1400">
                <a:solidFill>
                  <a:srgbClr val="2A2A28"/>
                </a:solidFill>
                <a:latin typeface="Lora"/>
                <a:ea typeface="Lora"/>
                <a:cs typeface="Lora"/>
                <a:sym typeface="Lora"/>
              </a:rPr>
              <a:t>, returning to the title; implications, limits, further research.</a:t>
            </a:r>
            <a:endParaRPr lang="en-US" sz="1100"/>
          </a:p>
        </p:txBody>
      </p:sp>
      <p:sp>
        <p:nvSpPr>
          <p:cNvPr name="AutoShape 25" id="25"/>
          <p:cNvSpPr/>
          <p:nvPr/>
        </p:nvSpPr>
        <p:spPr>
          <a:xfrm rot="0" flipH="false" flipV="false">
            <a:off x="1143000" y="6070600"/>
            <a:ext cx="990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true" strike="noStrike" u="none" sz="1300">
                <a:solidFill>
                  <a:srgbClr val="8A8578"/>
                </a:solidFill>
                <a:latin typeface="Lora"/>
                <a:ea typeface="Lora"/>
                <a:cs typeface="Lora"/>
                <a:sym typeface="Lora"/>
              </a:rPr>
              <a:t>Two findings chapters are kept separate because the title names two objects, materials, and agency, and localization is read from practice, not added as a third theory chapter.</a:t>
            </a:r>
            <a:endParaRPr lang="en-US" sz="1100"/>
          </a:p>
        </p:txBody>
      </p:sp>
    </p:spTree>
  </p:cSld>
  <p:clrMapOvr>
    <a:masterClrMapping/>
  </p:clrMapOvr>
</p:sld>
</file>

<file path=ppt/slides/slide14.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07 · FOCI &amp; INNOVATIONS</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What the study centres, and where it is new</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133600"/>
            <a:ext cx="4826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A8578"/>
                </a:solidFill>
                <a:latin typeface="Lora"/>
                <a:ea typeface="Lora"/>
                <a:cs typeface="Lora"/>
                <a:sym typeface="Lora"/>
              </a:rPr>
              <a:t>RESEARCH FOCI</a:t>
            </a:r>
            <a:endParaRPr lang="en-US" sz="1100"/>
          </a:p>
        </p:txBody>
      </p:sp>
      <p:sp>
        <p:nvSpPr>
          <p:cNvPr name="AutoShape 6" id="6"/>
          <p:cNvSpPr/>
          <p:nvPr/>
        </p:nvSpPr>
        <p:spPr>
          <a:xfrm rot="0" flipH="false" flipV="false">
            <a:off x="6350000" y="2133600"/>
            <a:ext cx="4699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INNOVATIONS</a:t>
            </a:r>
            <a:endParaRPr lang="en-US" sz="1100"/>
          </a:p>
        </p:txBody>
      </p:sp>
      <p:cxnSp>
        <p:nvCxnSpPr>
          <p:cNvPr name="Connector 7" id="7"/>
          <p:cNvCxnSpPr/>
          <p:nvPr/>
        </p:nvCxnSpPr>
        <p:spPr>
          <a:xfrm rot="5387267" flipH="false" flipV="false">
            <a:off x="4445000" y="4248162"/>
            <a:ext cx="3429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8" id="8"/>
          <p:cNvSpPr/>
          <p:nvPr/>
        </p:nvSpPr>
        <p:spPr>
          <a:xfrm rot="0" flipH="false" flipV="false">
            <a:off x="1143000" y="2616200"/>
            <a:ext cx="381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8C4A34"/>
                </a:solidFill>
                <a:latin typeface="Lora"/>
                <a:ea typeface="Lora"/>
                <a:cs typeface="Lora"/>
                <a:sym typeface="Lora"/>
              </a:rPr>
              <a:t>1</a:t>
            </a:r>
            <a:endParaRPr lang="en-US" sz="1100"/>
          </a:p>
        </p:txBody>
      </p:sp>
      <p:sp>
        <p:nvSpPr>
          <p:cNvPr name="AutoShape 9" id="9"/>
          <p:cNvSpPr/>
          <p:nvPr/>
        </p:nvSpPr>
        <p:spPr>
          <a:xfrm rot="0" flipH="false" flipV="false">
            <a:off x="1524000" y="2616200"/>
            <a:ext cx="4445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50">
                <a:solidFill>
                  <a:srgbClr val="4A4842"/>
                </a:solidFill>
                <a:latin typeface="Lora"/>
                <a:ea typeface="Lora"/>
                <a:cs typeface="Lora"/>
                <a:sym typeface="Lora"/>
              </a:rPr>
              <a:t>Classroom recontextualization of Chinese-language materials, the moves teachers actually make.</a:t>
            </a:r>
            <a:endParaRPr lang="en-US" sz="1100"/>
          </a:p>
        </p:txBody>
      </p:sp>
      <p:sp>
        <p:nvSpPr>
          <p:cNvPr name="AutoShape 10" id="10"/>
          <p:cNvSpPr/>
          <p:nvPr/>
        </p:nvSpPr>
        <p:spPr>
          <a:xfrm rot="0" flipH="false" flipV="false">
            <a:off x="6350000" y="2616200"/>
            <a:ext cx="381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8C4A34"/>
                </a:solidFill>
                <a:latin typeface="Lora"/>
                <a:ea typeface="Lora"/>
                <a:cs typeface="Lora"/>
                <a:sym typeface="Lora"/>
              </a:rPr>
              <a:t>1</a:t>
            </a:r>
            <a:endParaRPr lang="en-US" sz="1100"/>
          </a:p>
        </p:txBody>
      </p:sp>
      <p:sp>
        <p:nvSpPr>
          <p:cNvPr name="AutoShape 11" id="11"/>
          <p:cNvSpPr/>
          <p:nvPr/>
        </p:nvSpPr>
        <p:spPr>
          <a:xfrm rot="0" flipH="false" flipV="false">
            <a:off x="6731000" y="2616200"/>
            <a:ext cx="4318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350">
                <a:solidFill>
                  <a:srgbClr val="4A4842"/>
                </a:solidFill>
                <a:latin typeface="Lora"/>
                <a:ea typeface="Lora"/>
                <a:cs typeface="Lora"/>
                <a:sym typeface="Lora"/>
              </a:rPr>
              <a:t>Object:</a:t>
            </a:r>
            <a:r>
              <a:rPr lang="en-US" b="false" i="false" strike="noStrike" u="none" sz="1350">
                <a:solidFill>
                  <a:srgbClr val="4A4842"/>
                </a:solidFill>
                <a:latin typeface="Lora"/>
                <a:ea typeface="Lora"/>
                <a:cs typeface="Lora"/>
                <a:sym typeface="Lora"/>
              </a:rPr>
              <a:t> this population and this materials object, studied together in one design.</a:t>
            </a:r>
            <a:endParaRPr lang="en-US" sz="1100"/>
          </a:p>
        </p:txBody>
      </p:sp>
      <p:cxnSp>
        <p:nvCxnSpPr>
          <p:cNvPr name="Connector 12" id="12"/>
          <p:cNvCxnSpPr/>
          <p:nvPr/>
        </p:nvCxnSpPr>
        <p:spPr>
          <a:xfrm rot="-4407" flipH="false" flipV="false">
            <a:off x="1143004" y="36258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13" id="13"/>
          <p:cNvSpPr/>
          <p:nvPr/>
        </p:nvSpPr>
        <p:spPr>
          <a:xfrm rot="0" flipH="false" flipV="false">
            <a:off x="1143000" y="3759200"/>
            <a:ext cx="381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8C4A34"/>
                </a:solidFill>
                <a:latin typeface="Lora"/>
                <a:ea typeface="Lora"/>
                <a:cs typeface="Lora"/>
                <a:sym typeface="Lora"/>
              </a:rPr>
              <a:t>2</a:t>
            </a:r>
            <a:endParaRPr lang="en-US" sz="1100"/>
          </a:p>
        </p:txBody>
      </p:sp>
      <p:sp>
        <p:nvSpPr>
          <p:cNvPr name="AutoShape 14" id="14"/>
          <p:cNvSpPr/>
          <p:nvPr/>
        </p:nvSpPr>
        <p:spPr>
          <a:xfrm rot="0" flipH="false" flipV="false">
            <a:off x="1524000" y="3759200"/>
            <a:ext cx="4445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50">
                <a:solidFill>
                  <a:srgbClr val="4A4842"/>
                </a:solidFill>
                <a:latin typeface="Lora"/>
                <a:ea typeface="Lora"/>
                <a:cs typeface="Lora"/>
                <a:sym typeface="Lora"/>
              </a:rPr>
              <a:t>Ecological teacher agency, what is possible under the teachers' actual conditions.</a:t>
            </a:r>
            <a:endParaRPr lang="en-US" sz="1100"/>
          </a:p>
        </p:txBody>
      </p:sp>
      <p:sp>
        <p:nvSpPr>
          <p:cNvPr name="AutoShape 15" id="15"/>
          <p:cNvSpPr/>
          <p:nvPr/>
        </p:nvSpPr>
        <p:spPr>
          <a:xfrm rot="0" flipH="false" flipV="false">
            <a:off x="6350000" y="3759200"/>
            <a:ext cx="381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8C4A34"/>
                </a:solidFill>
                <a:latin typeface="Lora"/>
                <a:ea typeface="Lora"/>
                <a:cs typeface="Lora"/>
                <a:sym typeface="Lora"/>
              </a:rPr>
              <a:t>2</a:t>
            </a:r>
            <a:endParaRPr lang="en-US" sz="1100"/>
          </a:p>
        </p:txBody>
      </p:sp>
      <p:sp>
        <p:nvSpPr>
          <p:cNvPr name="AutoShape 16" id="16"/>
          <p:cNvSpPr/>
          <p:nvPr/>
        </p:nvSpPr>
        <p:spPr>
          <a:xfrm rot="0" flipH="false" flipV="false">
            <a:off x="6731000" y="3759200"/>
            <a:ext cx="4318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350">
                <a:solidFill>
                  <a:srgbClr val="4A4842"/>
                </a:solidFill>
                <a:latin typeface="Lora"/>
                <a:ea typeface="Lora"/>
                <a:cs typeface="Lora"/>
                <a:sym typeface="Lora"/>
              </a:rPr>
              <a:t>Method:</a:t>
            </a:r>
            <a:r>
              <a:rPr lang="en-US" b="false" i="false" strike="noStrike" u="none" sz="1350">
                <a:solidFill>
                  <a:srgbClr val="4A4842"/>
                </a:solidFill>
                <a:latin typeface="Lora"/>
                <a:ea typeface="Lora"/>
                <a:cs typeface="Lora"/>
                <a:sym typeface="Lora"/>
              </a:rPr>
              <a:t> lesson observation plus materials comparison, in a setting previously studied through perception.</a:t>
            </a:r>
            <a:endParaRPr lang="en-US" sz="1100"/>
          </a:p>
        </p:txBody>
      </p:sp>
      <p:cxnSp>
        <p:nvCxnSpPr>
          <p:cNvPr name="Connector 17" id="17"/>
          <p:cNvCxnSpPr/>
          <p:nvPr/>
        </p:nvCxnSpPr>
        <p:spPr>
          <a:xfrm rot="-4407" flipH="false" flipV="false">
            <a:off x="1143004" y="47688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18" id="18"/>
          <p:cNvSpPr/>
          <p:nvPr/>
        </p:nvSpPr>
        <p:spPr>
          <a:xfrm rot="0" flipH="false" flipV="false">
            <a:off x="1143000" y="4902200"/>
            <a:ext cx="381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8C4A34"/>
                </a:solidFill>
                <a:latin typeface="Lora"/>
                <a:ea typeface="Lora"/>
                <a:cs typeface="Lora"/>
                <a:sym typeface="Lora"/>
              </a:rPr>
              <a:t>3</a:t>
            </a:r>
            <a:endParaRPr lang="en-US" sz="1100"/>
          </a:p>
        </p:txBody>
      </p:sp>
      <p:sp>
        <p:nvSpPr>
          <p:cNvPr name="AutoShape 19" id="19"/>
          <p:cNvSpPr/>
          <p:nvPr/>
        </p:nvSpPr>
        <p:spPr>
          <a:xfrm rot="0" flipH="false" flipV="false">
            <a:off x="1524000" y="4902200"/>
            <a:ext cx="4445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50">
                <a:solidFill>
                  <a:srgbClr val="4A4842"/>
                </a:solidFill>
                <a:latin typeface="Lora"/>
                <a:ea typeface="Lora"/>
                <a:cs typeface="Lora"/>
                <a:sym typeface="Lora"/>
              </a:rPr>
              <a:t>Localization as a classroom process and outcome, not as a new book to be produced.</a:t>
            </a:r>
            <a:endParaRPr lang="en-US" sz="1100"/>
          </a:p>
        </p:txBody>
      </p:sp>
      <p:sp>
        <p:nvSpPr>
          <p:cNvPr name="AutoShape 20" id="20"/>
          <p:cNvSpPr/>
          <p:nvPr/>
        </p:nvSpPr>
        <p:spPr>
          <a:xfrm rot="0" flipH="false" flipV="false">
            <a:off x="6350000" y="4902200"/>
            <a:ext cx="381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8C4A34"/>
                </a:solidFill>
                <a:latin typeface="Lora"/>
                <a:ea typeface="Lora"/>
                <a:cs typeface="Lora"/>
                <a:sym typeface="Lora"/>
              </a:rPr>
              <a:t>3</a:t>
            </a:r>
            <a:endParaRPr lang="en-US" sz="1100"/>
          </a:p>
        </p:txBody>
      </p:sp>
      <p:sp>
        <p:nvSpPr>
          <p:cNvPr name="AutoShape 21" id="21"/>
          <p:cNvSpPr/>
          <p:nvPr/>
        </p:nvSpPr>
        <p:spPr>
          <a:xfrm rot="0" flipH="false" flipV="false">
            <a:off x="6731000" y="4902200"/>
            <a:ext cx="4318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350">
                <a:solidFill>
                  <a:srgbClr val="4A4842"/>
                </a:solidFill>
                <a:latin typeface="Lora"/>
                <a:ea typeface="Lora"/>
                <a:cs typeface="Lora"/>
                <a:sym typeface="Lora"/>
              </a:rPr>
              <a:t>Analytic cut:</a:t>
            </a:r>
            <a:r>
              <a:rPr lang="en-US" b="false" i="false" strike="noStrike" u="none" sz="1350">
                <a:solidFill>
                  <a:srgbClr val="4A4842"/>
                </a:solidFill>
                <a:latin typeface="Lora"/>
                <a:ea typeface="Lora"/>
                <a:cs typeface="Lora"/>
                <a:sym typeface="Lora"/>
              </a:rPr>
              <a:t> localization read from practice, with restricted and addition-only forms still counted as agency.</a:t>
            </a:r>
            <a:endParaRPr lang="en-US" sz="1100"/>
          </a:p>
        </p:txBody>
      </p:sp>
      <p:sp>
        <p:nvSpPr>
          <p:cNvPr name="AutoShape 22" id="22"/>
          <p:cNvSpPr/>
          <p:nvPr/>
        </p:nvSpPr>
        <p:spPr>
          <a:xfrm rot="0" flipH="false" flipV="false">
            <a:off x="1143000" y="6070600"/>
            <a:ext cx="9906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These are not new theories, they are a join, a method and an object the mapped literature has not yet combined for this population. A full CNKI search remains a limit, not a licence to claim a global first.</a:t>
            </a:r>
            <a:endParaRPr lang="en-US" sz="1100"/>
          </a:p>
        </p:txBody>
      </p:sp>
    </p:spTree>
  </p:cSld>
  <p:clrMapOvr>
    <a:masterClrMapping/>
  </p:clrMapOvr>
</p:sld>
</file>

<file path=ppt/slides/slide15.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07 · DIFFICULTIES &amp; SOLUTIONS</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Three difficulties, and how the design meets them</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159000"/>
            <a:ext cx="4826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1. Talk about materials is not evidence of use</a:t>
            </a:r>
            <a:endParaRPr lang="en-US" sz="1100"/>
          </a:p>
        </p:txBody>
      </p:sp>
      <p:sp>
        <p:nvSpPr>
          <p:cNvPr name="AutoShape 6" id="6"/>
          <p:cNvSpPr/>
          <p:nvPr/>
        </p:nvSpPr>
        <p:spPr>
          <a:xfrm rot="0" flipH="false" flipV="false">
            <a:off x="1143000" y="2514600"/>
            <a:ext cx="4826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A4842"/>
                </a:solidFill>
                <a:latin typeface="Lora"/>
                <a:ea typeface="Lora"/>
                <a:cs typeface="Lora"/>
                <a:sym typeface="Lora"/>
              </a:rPr>
              <a:t>Stated willingness to adapt often exceeds what is actually done (Neupane, 2025; Criado, 2023).</a:t>
            </a:r>
            <a:endParaRPr lang="en-US" sz="1100"/>
          </a:p>
        </p:txBody>
      </p:sp>
      <p:cxnSp>
        <p:nvCxnSpPr>
          <p:cNvPr name="Connector 7" id="7"/>
          <p:cNvCxnSpPr/>
          <p:nvPr/>
        </p:nvCxnSpPr>
        <p:spPr>
          <a:xfrm rot="-114549" flipH="false" flipV="false">
            <a:off x="6223106" y="2406650"/>
            <a:ext cx="3810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8" id="8"/>
          <p:cNvSpPr/>
          <p:nvPr/>
        </p:nvSpPr>
        <p:spPr>
          <a:xfrm rot="0" flipH="false" flipV="false">
            <a:off x="6794500" y="2159000"/>
            <a:ext cx="4254500" cy="1143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300">
                <a:solidFill>
                  <a:srgbClr val="8C4A34"/>
                </a:solidFill>
                <a:latin typeface="Lora"/>
                <a:ea typeface="Lora"/>
                <a:cs typeface="Lora"/>
                <a:sym typeface="Lora"/>
              </a:rPr>
              <a:t>Solution:</a:t>
            </a:r>
            <a:r>
              <a:rPr lang="en-US" b="false" i="false" strike="noStrike" u="none" sz="1300">
                <a:solidFill>
                  <a:srgbClr val="4A4842"/>
                </a:solidFill>
                <a:latin typeface="Lora"/>
                <a:ea typeface="Lora"/>
                <a:cs typeface="Lora"/>
                <a:sym typeface="Lora"/>
              </a:rPr>
              <a:t> observe lessons and compare the prescribed page with what was taught; add lesson-tied stimulated recall.</a:t>
            </a:r>
            <a:endParaRPr lang="en-US" sz="1100"/>
          </a:p>
        </p:txBody>
      </p:sp>
      <p:cxnSp>
        <p:nvCxnSpPr>
          <p:cNvPr name="Connector 9" id="9"/>
          <p:cNvCxnSpPr/>
          <p:nvPr/>
        </p:nvCxnSpPr>
        <p:spPr>
          <a:xfrm rot="-4407" flipH="false" flipV="false">
            <a:off x="1143004" y="33972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10" id="10"/>
          <p:cNvSpPr/>
          <p:nvPr/>
        </p:nvSpPr>
        <p:spPr>
          <a:xfrm rot="0" flipH="false" flipV="false">
            <a:off x="1143000" y="3556000"/>
            <a:ext cx="4826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2. Access, exam load and class conditions</a:t>
            </a:r>
            <a:endParaRPr lang="en-US" sz="1100"/>
          </a:p>
        </p:txBody>
      </p:sp>
      <p:sp>
        <p:nvSpPr>
          <p:cNvPr name="AutoShape 11" id="11"/>
          <p:cNvSpPr/>
          <p:nvPr/>
        </p:nvSpPr>
        <p:spPr>
          <a:xfrm rot="0" flipH="false" flipV="false">
            <a:off x="1143000" y="3911600"/>
            <a:ext cx="4826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A4842"/>
                </a:solidFill>
                <a:latin typeface="Lora"/>
                <a:ea typeface="Lora"/>
                <a:cs typeface="Lora"/>
                <a:sym typeface="Lora"/>
              </a:rPr>
              <a:t>Observation is slow to arrange, may be refused near exams, and video may not be permitted.</a:t>
            </a:r>
            <a:endParaRPr lang="en-US" sz="1100"/>
          </a:p>
        </p:txBody>
      </p:sp>
      <p:cxnSp>
        <p:nvCxnSpPr>
          <p:cNvPr name="Connector 12" id="12"/>
          <p:cNvCxnSpPr/>
          <p:nvPr/>
        </p:nvCxnSpPr>
        <p:spPr>
          <a:xfrm rot="-114549" flipH="false" flipV="false">
            <a:off x="6223106" y="3803650"/>
            <a:ext cx="3810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13" id="13"/>
          <p:cNvSpPr/>
          <p:nvPr/>
        </p:nvSpPr>
        <p:spPr>
          <a:xfrm rot="0" flipH="false" flipV="false">
            <a:off x="6794500" y="3556000"/>
            <a:ext cx="4254500" cy="1143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300">
                <a:solidFill>
                  <a:srgbClr val="8C4A34"/>
                </a:solidFill>
                <a:latin typeface="Lora"/>
                <a:ea typeface="Lora"/>
                <a:cs typeface="Lora"/>
                <a:sym typeface="Lora"/>
              </a:rPr>
              <a:t>Solution:</a:t>
            </a:r>
            <a:r>
              <a:rPr lang="en-US" b="false" i="false" strike="noStrike" u="none" sz="1300">
                <a:solidFill>
                  <a:srgbClr val="4A4842"/>
                </a:solidFill>
                <a:latin typeface="Lora"/>
                <a:ea typeface="Lora"/>
                <a:cs typeface="Lora"/>
                <a:sym typeface="Lora"/>
              </a:rPr>
              <a:t> ethics and access first; anonymize; use field notes / audio if video refused; about 6 to 8 teachers by case logic.</a:t>
            </a:r>
            <a:endParaRPr lang="en-US" sz="1100"/>
          </a:p>
        </p:txBody>
      </p:sp>
      <p:cxnSp>
        <p:nvCxnSpPr>
          <p:cNvPr name="Connector 14" id="14"/>
          <p:cNvCxnSpPr/>
          <p:nvPr/>
        </p:nvCxnSpPr>
        <p:spPr>
          <a:xfrm rot="-4407" flipH="false" flipV="false">
            <a:off x="1143004" y="4794250"/>
            <a:ext cx="9906000" cy="12700"/>
          </a:xfrm>
          <a:prstGeom prst="straightConnector1">
            <a:avLst/>
          </a:prstGeom>
          <a:solidFill>
            <a:srgbClr val="DEE0E3">
              <a:alpha val="100000"/>
            </a:srgbClr>
          </a:solidFill>
          <a:ln w="12700" cmpd="sng" cap="flat">
            <a:solidFill>
              <a:srgbClr val="E1DACB">
                <a:alpha val="100000"/>
              </a:srgbClr>
            </a:solidFill>
            <a:prstDash val="solid"/>
            <a:round/>
            <a:headEnd type="none" w="med" len="med"/>
            <a:tailEnd type="none" w="med" len="med"/>
          </a:ln>
        </p:spPr>
      </p:cxnSp>
      <p:sp>
        <p:nvSpPr>
          <p:cNvPr name="AutoShape 15" id="15"/>
          <p:cNvSpPr/>
          <p:nvPr/>
        </p:nvSpPr>
        <p:spPr>
          <a:xfrm rot="0" flipH="false" flipV="false">
            <a:off x="1143000" y="4953000"/>
            <a:ext cx="4826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2A2A28"/>
                </a:solidFill>
                <a:latin typeface="Lora"/>
                <a:ea typeface="Lora"/>
                <a:cs typeface="Lora"/>
                <a:sym typeface="Lora"/>
              </a:rPr>
              <a:t>3. Restricted practice can read as "no localization"</a:t>
            </a:r>
            <a:endParaRPr lang="en-US" sz="1100"/>
          </a:p>
        </p:txBody>
      </p:sp>
      <p:sp>
        <p:nvSpPr>
          <p:cNvPr name="AutoShape 16" id="16"/>
          <p:cNvSpPr/>
          <p:nvPr/>
        </p:nvSpPr>
        <p:spPr>
          <a:xfrm rot="0" flipH="false" flipV="false">
            <a:off x="1143000" y="5308600"/>
            <a:ext cx="4826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A4842"/>
                </a:solidFill>
                <a:latin typeface="Lora"/>
                <a:ea typeface="Lora"/>
                <a:cs typeface="Lora"/>
                <a:sym typeface="Lora"/>
              </a:rPr>
              <a:t>If classes stay close to an HSK sequence, a product-localization frame would call the study empty.</a:t>
            </a:r>
            <a:endParaRPr lang="en-US" sz="1100"/>
          </a:p>
        </p:txBody>
      </p:sp>
      <p:cxnSp>
        <p:nvCxnSpPr>
          <p:cNvPr name="Connector 17" id="17"/>
          <p:cNvCxnSpPr/>
          <p:nvPr/>
        </p:nvCxnSpPr>
        <p:spPr>
          <a:xfrm rot="-114549" flipH="false" flipV="false">
            <a:off x="6223106" y="5200650"/>
            <a:ext cx="3810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triangle" w="lg" len="lg"/>
          </a:ln>
        </p:spPr>
      </p:cxnSp>
      <p:sp>
        <p:nvSpPr>
          <p:cNvPr name="AutoShape 18" id="18"/>
          <p:cNvSpPr/>
          <p:nvPr/>
        </p:nvSpPr>
        <p:spPr>
          <a:xfrm rot="0" flipH="false" flipV="false">
            <a:off x="6794500" y="4953000"/>
            <a:ext cx="4254500" cy="1143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300">
                <a:solidFill>
                  <a:srgbClr val="8C4A34"/>
                </a:solidFill>
                <a:latin typeface="Lora"/>
                <a:ea typeface="Lora"/>
                <a:cs typeface="Lora"/>
                <a:sym typeface="Lora"/>
              </a:rPr>
              <a:t>Solution:</a:t>
            </a:r>
            <a:r>
              <a:rPr lang="en-US" b="false" i="false" strike="noStrike" u="none" sz="1300">
                <a:solidFill>
                  <a:srgbClr val="4A4842"/>
                </a:solidFill>
                <a:latin typeface="Lora"/>
                <a:ea typeface="Lora"/>
                <a:cs typeface="Lora"/>
                <a:sym typeface="Lora"/>
              </a:rPr>
              <a:t> code faithful transmission, addition-only work and strategic compliance as data; restricted agency still counts.</a:t>
            </a:r>
            <a:endParaRPr lang="en-US" sz="1100"/>
          </a:p>
        </p:txBody>
      </p:sp>
      <p:sp>
        <p:nvSpPr>
          <p:cNvPr name="AutoShape 19" id="19"/>
          <p:cNvSpPr/>
          <p:nvPr/>
        </p:nvSpPr>
        <p:spPr>
          <a:xfrm rot="0" flipH="false" flipV="false">
            <a:off x="1143000" y="6273800"/>
            <a:ext cx="9906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100">
                <a:solidFill>
                  <a:srgbClr val="8A8578"/>
                </a:solidFill>
                <a:latin typeface="Lora"/>
                <a:ea typeface="Lora"/>
                <a:cs typeface="Lora"/>
                <a:sym typeface="Lora"/>
              </a:rPr>
              <a:t>Access failure is reported as a limit, not repaired by inventing classroom data.</a:t>
            </a:r>
            <a:endParaRPr lang="en-US" sz="1100"/>
          </a:p>
        </p:txBody>
      </p:sp>
    </p:spTree>
  </p:cSld>
  <p:clrMapOvr>
    <a:masterClrMapping/>
  </p:clrMapOvr>
</p:sld>
</file>

<file path=ppt/slides/slide16.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112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08 · SIGNIFICANCE</a:t>
            </a:r>
            <a:endParaRPr lang="en-US" sz="1100"/>
          </a:p>
        </p:txBody>
      </p:sp>
      <p:sp>
        <p:nvSpPr>
          <p:cNvPr name="AutoShape 3" id="3"/>
          <p:cNvSpPr/>
          <p:nvPr/>
        </p:nvSpPr>
        <p:spPr>
          <a:xfrm rot="0" flipH="false" flipV="false">
            <a:off x="1143000" y="1016000"/>
            <a:ext cx="9906000" cy="558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800">
                <a:solidFill>
                  <a:srgbClr val="2A2A28"/>
                </a:solidFill>
                <a:latin typeface="Lora"/>
                <a:ea typeface="Lora"/>
                <a:cs typeface="Lora"/>
                <a:sym typeface="Lora"/>
              </a:rPr>
              <a:t>Why it matters, in theory and in practice</a:t>
            </a:r>
            <a:endParaRPr lang="en-US" sz="1100"/>
          </a:p>
        </p:txBody>
      </p:sp>
      <p:cxnSp>
        <p:nvCxnSpPr>
          <p:cNvPr name="Connector 4" id="4"/>
          <p:cNvCxnSpPr/>
          <p:nvPr/>
        </p:nvCxnSpPr>
        <p:spPr>
          <a:xfrm rot="-4407" flipH="false" flipV="false">
            <a:off x="1143004" y="18478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5" id="5"/>
          <p:cNvSpPr/>
          <p:nvPr/>
        </p:nvSpPr>
        <p:spPr>
          <a:xfrm rot="0" flipH="false" flipV="false">
            <a:off x="1143000" y="2235200"/>
            <a:ext cx="4826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8C4A34"/>
                </a:solidFill>
                <a:latin typeface="Lora"/>
                <a:ea typeface="Lora"/>
                <a:cs typeface="Lora"/>
                <a:sym typeface="Lora"/>
              </a:rPr>
              <a:t>Theoretical</a:t>
            </a:r>
            <a:endParaRPr lang="en-US" sz="1100"/>
          </a:p>
        </p:txBody>
      </p:sp>
      <p:sp>
        <p:nvSpPr>
          <p:cNvPr name="AutoShape 6" id="6"/>
          <p:cNvSpPr/>
          <p:nvPr/>
        </p:nvSpPr>
        <p:spPr>
          <a:xfrm rot="0" flipH="false" flipV="false">
            <a:off x="1143000" y="2717800"/>
            <a:ext cx="4826000" cy="330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false" i="false" strike="noStrike" u="none" sz="1400">
                <a:solidFill>
                  <a:srgbClr val="4A4842"/>
                </a:solidFill>
                <a:latin typeface="Lora"/>
                <a:ea typeface="Lora"/>
                <a:cs typeface="Lora"/>
                <a:sym typeface="Lora"/>
              </a:rPr>
              <a:t>· Brings the pedagogic work already happening in class into a localization literature that has centred textbook production.</a:t>
            </a:r>
            <a:endParaRPr lang="en-US" sz="1100"/>
          </a:p>
          <a:p>
            <a:pPr algn="l" marL="0" indent="0">
              <a:lnSpc>
                <a:spcPct val="133333"/>
              </a:lnSpc>
            </a:pPr>
            <a:r>
              <a:rPr lang="en-US" b="false" i="false" strike="noStrike" u="none" sz="1400">
                <a:solidFill>
                  <a:srgbClr val="4A4842"/>
                </a:solidFill>
                <a:latin typeface="Lora"/>
                <a:ea typeface="Lora"/>
                <a:cs typeface="Lora"/>
                <a:sym typeface="Lora"/>
              </a:rPr>
              <a:t>· Applies an ecological view: a teacher who reshapes a text and one who teaches the page as written are analyzed in the same terms.</a:t>
            </a:r>
          </a:p>
          <a:p>
            <a:pPr algn="l" marL="0" indent="0">
              <a:lnSpc>
                <a:spcPct val="133333"/>
              </a:lnSpc>
            </a:pPr>
            <a:r>
              <a:rPr lang="en-US" b="false" i="false" strike="noStrike" u="none" sz="1400">
                <a:solidFill>
                  <a:srgbClr val="4A4842"/>
                </a:solidFill>
                <a:latin typeface="Lora"/>
                <a:ea typeface="Lora"/>
                <a:cs typeface="Lora"/>
                <a:sym typeface="Lora"/>
              </a:rPr>
              <a:t>· Joins recontextualization and ecological agency in one empirical study of Pakistani teachers of Chinese.</a:t>
            </a:r>
          </a:p>
        </p:txBody>
      </p:sp>
      <p:cxnSp>
        <p:nvCxnSpPr>
          <p:cNvPr name="Connector 7" id="7"/>
          <p:cNvCxnSpPr/>
          <p:nvPr/>
        </p:nvCxnSpPr>
        <p:spPr>
          <a:xfrm rot="5387722" flipH="false" flipV="false">
            <a:off x="4381500" y="4057661"/>
            <a:ext cx="355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8" id="8"/>
          <p:cNvSpPr/>
          <p:nvPr/>
        </p:nvSpPr>
        <p:spPr>
          <a:xfrm rot="0" flipH="false" flipV="false">
            <a:off x="6350000" y="2235200"/>
            <a:ext cx="4699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2A2A28"/>
                </a:solidFill>
                <a:latin typeface="Lora"/>
                <a:ea typeface="Lora"/>
                <a:cs typeface="Lora"/>
                <a:sym typeface="Lora"/>
              </a:rPr>
              <a:t>Practical</a:t>
            </a:r>
            <a:endParaRPr lang="en-US" sz="1100"/>
          </a:p>
        </p:txBody>
      </p:sp>
      <p:sp>
        <p:nvSpPr>
          <p:cNvPr name="AutoShape 9" id="9"/>
          <p:cNvSpPr/>
          <p:nvPr/>
        </p:nvSpPr>
        <p:spPr>
          <a:xfrm rot="0" flipH="false" flipV="false">
            <a:off x="6350000" y="2717800"/>
            <a:ext cx="4699000" cy="330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33333"/>
              </a:lnSpc>
              <a:defRPr/>
            </a:pPr>
            <a:r>
              <a:rPr lang="en-US" b="false" i="false" strike="noStrike" u="none" sz="1400">
                <a:solidFill>
                  <a:srgbClr val="4A4842"/>
                </a:solidFill>
                <a:latin typeface="Lora"/>
                <a:ea typeface="Lora"/>
                <a:cs typeface="Lora"/>
                <a:sym typeface="Lora"/>
              </a:rPr>
              <a:t>· Teacher preparation can start from the decisions teachers already make, not only from methods or a set book.</a:t>
            </a:r>
            <a:endParaRPr lang="en-US" sz="1100"/>
          </a:p>
          <a:p>
            <a:pPr algn="l" marL="0" indent="0">
              <a:lnSpc>
                <a:spcPct val="133333"/>
              </a:lnSpc>
            </a:pPr>
            <a:r>
              <a:rPr lang="en-US" b="false" i="false" strike="noStrike" u="none" sz="1400">
                <a:solidFill>
                  <a:srgbClr val="4A4842"/>
                </a:solidFill>
                <a:latin typeface="Lora"/>
                <a:ea typeface="Lora"/>
                <a:cs typeface="Lora"/>
                <a:sym typeface="Lora"/>
              </a:rPr>
              <a:t>· Universities can see that time, exams and professional support are part of materials practice, not a backdrop.</a:t>
            </a:r>
          </a:p>
          <a:p>
            <a:pPr algn="l" marL="0" indent="0">
              <a:lnSpc>
                <a:spcPct val="133333"/>
              </a:lnSpc>
            </a:pPr>
            <a:r>
              <a:rPr lang="en-US" b="false" i="false" strike="noStrike" u="none" sz="1400">
                <a:solidFill>
                  <a:srgbClr val="4A4842"/>
                </a:solidFill>
                <a:latin typeface="Lora"/>
                <a:ea typeface="Lora"/>
                <a:cs typeface="Lora"/>
                <a:sym typeface="Lora"/>
              </a:rPr>
              <a:t>· CFL more widely can advise from classroom practice while a localized book is still being written.</a:t>
            </a:r>
          </a:p>
        </p:txBody>
      </p:sp>
      <p:cxnSp>
        <p:nvCxnSpPr>
          <p:cNvPr name="Connector 10" id="10"/>
          <p:cNvCxnSpPr/>
          <p:nvPr/>
        </p:nvCxnSpPr>
        <p:spPr>
          <a:xfrm rot="-4407" flipH="false" flipV="false">
            <a:off x="1143004" y="60642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11" id="11"/>
          <p:cNvSpPr/>
          <p:nvPr/>
        </p:nvSpPr>
        <p:spPr>
          <a:xfrm rot="0" flipH="false" flipV="false">
            <a:off x="1143000" y="6197600"/>
            <a:ext cx="9906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true" strike="noStrike" u="none" sz="1300">
                <a:solidFill>
                  <a:srgbClr val="2A2A28"/>
                </a:solidFill>
                <a:latin typeface="Lora"/>
                <a:ea typeface="Lora"/>
                <a:cs typeface="Lora"/>
                <a:sym typeface="Lora"/>
              </a:rPr>
              <a:t>The study does not recommend a new national textbook as the automatic solution.</a:t>
            </a:r>
            <a:endParaRPr lang="en-US" sz="1100"/>
          </a:p>
        </p:txBody>
      </p:sp>
    </p:spTree>
  </p:cSld>
  <p:clrMapOvr>
    <a:masterClrMapping/>
  </p:clrMapOvr>
</p:sld>
</file>

<file path=ppt/slides/slide17.xml><?xml version="1.0" encoding="utf-8"?>
<p:sld xmlns:p="http://schemas.openxmlformats.org/presentationml/2006/main" xmlns:a="http://schemas.openxmlformats.org/drawingml/2006/main">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762000"/>
            <a:ext cx="6350000" cy="25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200">
                <a:solidFill>
                  <a:srgbClr val="8C4A34"/>
                </a:solidFill>
                <a:latin typeface="Lora"/>
                <a:ea typeface="Lora"/>
                <a:cs typeface="Lora"/>
                <a:sym typeface="Lora"/>
              </a:rPr>
              <a:t>08 · CONTRIBUTION</a:t>
            </a:r>
            <a:endParaRPr lang="en-US" sz="1100"/>
          </a:p>
        </p:txBody>
      </p:sp>
      <p:cxnSp>
        <p:nvCxnSpPr>
          <p:cNvPr name="Connector 3" id="3"/>
          <p:cNvCxnSpPr/>
          <p:nvPr/>
        </p:nvCxnSpPr>
        <p:spPr>
          <a:xfrm rot="-4407" flipH="false" flipV="false">
            <a:off x="1143004" y="18986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4" id="4"/>
          <p:cNvSpPr/>
          <p:nvPr/>
        </p:nvSpPr>
        <p:spPr>
          <a:xfrm rot="0" flipH="false" flipV="false">
            <a:off x="1397000" y="2362200"/>
            <a:ext cx="9398000" cy="165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2700">
                <a:solidFill>
                  <a:srgbClr val="2A2A28"/>
                </a:solidFill>
                <a:latin typeface="Lora"/>
                <a:ea typeface="Lora"/>
                <a:cs typeface="Lora"/>
                <a:sym typeface="Lora"/>
              </a:rPr>
              <a:t>Localization is not a book to be written.</a:t>
            </a:r>
            <a:endParaRPr lang="en-US" sz="1100"/>
          </a:p>
          <a:p>
            <a:pPr algn="l" marL="0" indent="0">
              <a:lnSpc>
                <a:spcPct val="116666"/>
              </a:lnSpc>
            </a:pPr>
            <a:r>
              <a:rPr lang="en-US" b="true" i="false" strike="noStrike" u="none" sz="2700">
                <a:solidFill>
                  <a:srgbClr val="2A2A28"/>
                </a:solidFill>
                <a:latin typeface="Lora"/>
                <a:ea typeface="Lora"/>
                <a:cs typeface="Lora"/>
                <a:sym typeface="Lora"/>
              </a:rPr>
              <a:t>It is produced, or blocked, in the classroom,</a:t>
            </a:r>
            <a:r>
              <a:rPr lang="en-US" b="true" i="false" strike="noStrike" u="none" sz="2700">
                <a:solidFill>
                  <a:srgbClr val="8C4A34"/>
                </a:solidFill>
                <a:latin typeface="Lora"/>
                <a:ea typeface="Lora"/>
                <a:cs typeface="Lora"/>
                <a:sym typeface="Lora"/>
              </a:rPr>
              <a:t/>
            </a:r>
            <a:r>
              <a:rPr lang="en-US" b="true" i="false" strike="noStrike" u="none" sz="2700">
                <a:solidFill>
                  <a:srgbClr val="2A2A28"/>
                </a:solidFill>
                <a:latin typeface="Lora"/>
                <a:ea typeface="Lora"/>
                <a:cs typeface="Lora"/>
                <a:sym typeface="Lora"/>
              </a:rPr>
              <a:t/>
            </a:r>
          </a:p>
          <a:p>
            <a:pPr algn="l" marL="0" indent="0">
              <a:lnSpc>
                <a:spcPct val="116666"/>
              </a:lnSpc>
            </a:pPr>
            <a:r>
              <a:rPr lang="en-US" b="true" i="false" strike="noStrike" u="none" sz="2700">
                <a:solidFill>
                  <a:srgbClr val="2A2A28"/>
                </a:solidFill>
                <a:latin typeface="Lora"/>
                <a:ea typeface="Lora"/>
                <a:cs typeface="Lora"/>
                <a:sym typeface="Lora"/>
              </a:rPr>
              <a:t>under the conditions that shape teachers' work.</a:t>
            </a:r>
          </a:p>
        </p:txBody>
      </p:sp>
      <p:cxnSp>
        <p:nvCxnSpPr>
          <p:cNvPr name="Connector 5" id="5"/>
          <p:cNvCxnSpPr/>
          <p:nvPr/>
        </p:nvCxnSpPr>
        <p:spPr>
          <a:xfrm rot="-28647" flipH="false" flipV="false">
            <a:off x="1397026" y="4311650"/>
            <a:ext cx="15240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none" w="lg" len="lg"/>
          </a:ln>
        </p:spPr>
      </p:cxnSp>
      <p:sp>
        <p:nvSpPr>
          <p:cNvPr name="AutoShape 6" id="6"/>
          <p:cNvSpPr/>
          <p:nvPr/>
        </p:nvSpPr>
        <p:spPr>
          <a:xfrm rot="0" flipH="false" flipV="false">
            <a:off x="1397000" y="4572000"/>
            <a:ext cx="9398000" cy="177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41666"/>
              </a:lnSpc>
              <a:defRPr/>
            </a:pPr>
            <a:r>
              <a:rPr lang="en-US" b="false" i="false" strike="noStrike" u="none" sz="1500">
                <a:solidFill>
                  <a:srgbClr val="4A4842"/>
                </a:solidFill>
                <a:latin typeface="Lora"/>
                <a:ea typeface="Lora"/>
                <a:cs typeface="Lora"/>
                <a:sym typeface="Lora"/>
              </a:rPr>
              <a:t>The study will deliver, from observed classrooms:</a:t>
            </a:r>
            <a:endParaRPr lang="en-US" sz="1100"/>
          </a:p>
          <a:p>
            <a:pPr algn="l" marL="0" indent="0">
              <a:lnSpc>
                <a:spcPct val="141666"/>
              </a:lnSpc>
            </a:pPr>
            <a:r>
              <a:rPr lang="en-US" b="false" i="false" strike="noStrike" u="none" sz="1500">
                <a:solidFill>
                  <a:srgbClr val="4A4842"/>
                </a:solidFill>
                <a:latin typeface="Lora"/>
                <a:ea typeface="Lora"/>
                <a:cs typeface="Lora"/>
                <a:sym typeface="Lora"/>
              </a:rPr>
              <a:t>· an empirically grounded account of what Pakistani teachers of Chinese do with the materials actually in use;</a:t>
            </a:r>
          </a:p>
          <a:p>
            <a:pPr algn="l" marL="0" indent="0">
              <a:lnSpc>
                <a:spcPct val="141666"/>
              </a:lnSpc>
            </a:pPr>
            <a:r>
              <a:rPr lang="en-US" b="false" i="false" strike="noStrike" u="none" sz="1500">
                <a:solidFill>
                  <a:srgbClr val="4A4842"/>
                </a:solidFill>
                <a:latin typeface="Lora"/>
                <a:ea typeface="Lora"/>
                <a:cs typeface="Lora"/>
                <a:sym typeface="Lora"/>
              </a:rPr>
              <a:t>· an ecological account of how their agency is achieved, restricted, or redirected;</a:t>
            </a:r>
          </a:p>
          <a:p>
            <a:pPr algn="l" marL="0" indent="0">
              <a:lnSpc>
                <a:spcPct val="141666"/>
              </a:lnSpc>
            </a:pPr>
            <a:r>
              <a:rPr lang="en-US" b="false" i="false" strike="noStrike" u="none" sz="1500">
                <a:solidFill>
                  <a:srgbClr val="4A4842"/>
                </a:solidFill>
                <a:latin typeface="Lora"/>
                <a:ea typeface="Lora"/>
                <a:cs typeface="Lora"/>
                <a:sym typeface="Lora"/>
              </a:rPr>
              <a:t>· a way to see teacher-mediated localization as classroom production, or blockage.</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F4EFE4">
            <a:alpha val="100000"/>
          </a:srgbClr>
        </a:solidFill>
      </p:bgPr>
    </p:bg>
    <p:spTree>
      <p:nvGrpSpPr>
        <p:cNvPr id="1" name=""/>
        <p:cNvGrpSpPr/>
        <p:nvPr/>
      </p:nvGrpSpPr>
      <p:grpSpPr>
        <a:xfrm>
          <a:off x="0" y="0"/>
          <a:ext cx="0" cy="0"/>
          <a:chOff x="0" y="0"/>
          <a:chExt cx="0" cy="0"/>
        </a:xfrm>
      </p:grpSpPr>
      <p:sp>
        <p:nvSpPr>
          <p:cNvPr name="AutoShape 2" id="2"/>
          <p:cNvSpPr/>
          <p:nvPr/>
        </p:nvSpPr>
        <p:spPr>
          <a:xfrm rot="0" flipH="false" flipV="false">
            <a:off x="1143000" y="2159000"/>
            <a:ext cx="7620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300">
                <a:solidFill>
                  <a:srgbClr val="8C4A34"/>
                </a:solidFill>
                <a:latin typeface="Lora"/>
                <a:ea typeface="Lora"/>
                <a:cs typeface="Lora"/>
                <a:sym typeface="Lora"/>
              </a:rPr>
              <a:t>DISCUSSION</a:t>
            </a:r>
            <a:endParaRPr lang="en-US" sz="1100"/>
          </a:p>
        </p:txBody>
      </p:sp>
      <p:cxnSp>
        <p:nvCxnSpPr>
          <p:cNvPr name="Connector 3" id="3"/>
          <p:cNvCxnSpPr/>
          <p:nvPr/>
        </p:nvCxnSpPr>
        <p:spPr>
          <a:xfrm rot="-24554" flipH="false" flipV="false">
            <a:off x="1143023" y="2660650"/>
            <a:ext cx="1778000" cy="12700"/>
          </a:xfrm>
          <a:prstGeom prst="straightConnector1">
            <a:avLst/>
          </a:prstGeom>
          <a:solidFill>
            <a:srgbClr val="DEE0E3">
              <a:alpha val="100000"/>
            </a:srgbClr>
          </a:solidFill>
          <a:ln w="25400" cmpd="sng" cap="flat">
            <a:solidFill>
              <a:srgbClr val="8C4A34">
                <a:alpha val="100000"/>
              </a:srgbClr>
            </a:solidFill>
            <a:prstDash val="solid"/>
            <a:round/>
            <a:headEnd type="none" w="lg" len="lg"/>
            <a:tailEnd type="none" w="lg" len="lg"/>
          </a:ln>
        </p:spPr>
      </p:cxnSp>
      <p:sp>
        <p:nvSpPr>
          <p:cNvPr name="AutoShape 4" id="4"/>
          <p:cNvSpPr/>
          <p:nvPr/>
        </p:nvSpPr>
        <p:spPr>
          <a:xfrm rot="0" flipH="false" flipV="false">
            <a:off x="1143000" y="2971800"/>
            <a:ext cx="9906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4600">
                <a:solidFill>
                  <a:srgbClr val="2A2A28"/>
                </a:solidFill>
                <a:latin typeface="Lora"/>
                <a:ea typeface="Lora"/>
                <a:cs typeface="Lora"/>
                <a:sym typeface="Lora"/>
              </a:rPr>
              <a:t>Thank you</a:t>
            </a:r>
            <a:endParaRPr lang="en-US" sz="1100"/>
          </a:p>
        </p:txBody>
      </p:sp>
      <p:sp>
        <p:nvSpPr>
          <p:cNvPr name="AutoShape 5" id="5"/>
          <p:cNvSpPr/>
          <p:nvPr/>
        </p:nvSpPr>
        <p:spPr>
          <a:xfrm rot="0" flipH="false" flipV="false">
            <a:off x="1143000" y="4064000"/>
            <a:ext cx="9906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true" strike="noStrike" u="none" sz="1700">
                <a:solidFill>
                  <a:srgbClr val="4A4842"/>
                </a:solidFill>
                <a:latin typeface="Lora"/>
                <a:ea typeface="Lora"/>
                <a:cs typeface="Lora"/>
                <a:sym typeface="Lora"/>
              </a:rPr>
              <a:t>I welcome your questions and guidance on the framing, the case design, and the access plan.</a:t>
            </a:r>
            <a:endParaRPr lang="en-US" sz="1100"/>
          </a:p>
        </p:txBody>
      </p:sp>
      <p:cxnSp>
        <p:nvCxnSpPr>
          <p:cNvPr name="Connector 6" id="6"/>
          <p:cNvCxnSpPr/>
          <p:nvPr/>
        </p:nvCxnSpPr>
        <p:spPr>
          <a:xfrm rot="-4407" flipH="false" flipV="false">
            <a:off x="1143004" y="5454650"/>
            <a:ext cx="9906000" cy="12700"/>
          </a:xfrm>
          <a:prstGeom prst="straightConnector1">
            <a:avLst/>
          </a:prstGeom>
          <a:solidFill>
            <a:srgbClr val="DEE0E3">
              <a:alpha val="100000"/>
            </a:srgbClr>
          </a:solidFill>
          <a:ln w="12700" cmpd="sng" cap="flat">
            <a:solidFill>
              <a:srgbClr val="C9BFAE">
                <a:alpha val="100000"/>
              </a:srgbClr>
            </a:solidFill>
            <a:prstDash val="solid"/>
            <a:round/>
            <a:headEnd type="none" w="med" len="med"/>
            <a:tailEnd type="none" w="med" len="med"/>
          </a:ln>
        </p:spPr>
      </p:cxnSp>
      <p:sp>
        <p:nvSpPr>
          <p:cNvPr name="AutoShape 7" id="7"/>
          <p:cNvSpPr/>
          <p:nvPr/>
        </p:nvSpPr>
        <p:spPr>
          <a:xfrm rot="0" flipH="false" flipV="false">
            <a:off x="1143000" y="5638800"/>
            <a:ext cx="990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8A8578"/>
                </a:solidFill>
                <a:latin typeface="Lora"/>
                <a:ea typeface="Lora"/>
                <a:cs typeface="Lora"/>
                <a:sym typeface="Lora"/>
              </a:rPr>
              <a:t>Recontextualization of Chinese-Language Teaching Materials and Teacher Agency among Pakistani Teachers of Chinese</a:t>
            </a:r>
            <a:endParaRPr lang="en-US" sz="1100"/>
          </a:p>
        </p:txBody>
      </p:sp>
      <p:pic>
        <p:nvPicPr>
          <p:cNvPr name="Picture 8" id="8"/>
          <p:cNvPicPr>
            <a:picLocks noChangeAspect="true"/>
          </p:cNvPicPr>
          <p:nvPr/>
        </p:nvPicPr>
        <p:blipFill>
          <a:blip r:embed="rId3"/>
          <a:stretch>
            <a:fillRect/>
          </a:stretch>
        </p:blipFill>
        <p:spPr>
          <a:xfrm>
            <a:off x="10668000" y="6190112"/>
            <a:ext cx="1524000" cy="667888"/>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{"Label":"1","ContentProducer":"001191110102MACQD9K64010000","ProduceID":"7685771299608857557","ReservedCode1":"","ContentPropagator":"","PropagateID":"","ReservedCode2":""}</vt:lpwstr>
  </property>
</Properties>
</file>